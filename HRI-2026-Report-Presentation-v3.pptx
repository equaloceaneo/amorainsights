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24"/>
    <p:sldId id="279" r:id="rId25"/>
    <p:sldId id="280" r:id="rId26"/>
    <p:sldId id="281" r:id="rId27"/>
    <p:sldId id="282" r:id="rId28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86868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173736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260604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347472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4343400"/>
            <a:ext cx="9034272" cy="7315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731520"/>
            <a:ext cx="109728" cy="109728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188720"/>
            <a:ext cx="73152" cy="73152"/>
          </a:xfrm>
          <a:prstGeom prst="ellipse">
            <a:avLst/>
          </a:prstGeom>
          <a:solidFill>
            <a:srgbClr val="90E0EF">
              <a:alpha val="2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645920"/>
            <a:ext cx="137160" cy="137160"/>
          </a:xfrm>
          <a:prstGeom prst="ellipse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920240"/>
            <a:ext cx="54864" cy="54864"/>
          </a:xfrm>
          <a:prstGeom prst="ellipse">
            <a:avLst/>
          </a:prstGeom>
          <a:solidFill>
            <a:srgbClr val="C77DFF">
              <a:alpha val="25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286000"/>
            <a:ext cx="91440" cy="9144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457200"/>
            <a:ext cx="64008" cy="64008"/>
          </a:xfrm>
          <a:prstGeom prst="ellipse">
            <a:avLst/>
          </a:prstGeom>
          <a:solidFill>
            <a:srgbClr val="FF9F1C">
              <a:alpha val="3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594360"/>
            <a:ext cx="25603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594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INTELLIGENCE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1430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Humanoid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502920" y="19659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 Index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502920" y="3584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Actually Winning?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395020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Cross-Border Benchmarking of 25 Global Players Across the Full Value Chain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Report Framework — 5 Dimensions | 22 Slides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179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148132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技术先进性 — 世界模型 · 端到端控制 · 灵巧手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792224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92224"/>
            <a:ext cx="54864" cy="6217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18562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0432" y="215798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产业链生态位 — 供应链全景 · 卡脖子清单 · 中美对比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468880"/>
            <a:ext cx="54864" cy="6217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2532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70432" y="28346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商业化运营 — 四大场景 · 客户结构 · ROI分析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145536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145536"/>
            <a:ext cx="54864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236976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32095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70432" y="351129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市场容量 — 三情景预测 · 细分市场 · 全球化策略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822192"/>
            <a:ext cx="8138160" cy="621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822192"/>
            <a:ext cx="54864" cy="6217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913632"/>
            <a:ext cx="402336" cy="4023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70432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Assets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70432" y="418795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资本价值 — 财务对比 · 估值矩阵 · 投资建议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Findings  |  Industry Rating 7.2/10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530352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3 of 25 tracked companies have deployed 50+ units in real-world settings. The rest are still selling demos."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8138160" cy="8503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83080"/>
            <a:ext cx="54864" cy="8503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02536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18745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中国赢在制造密度，美国赢在算法深度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240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叙事已不完整：中国正快速补齐算法短板，美国制造护城河被供应链空心化侵蚀。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8138160" cy="8503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43200"/>
            <a:ext cx="54864" cy="8503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62656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83464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真正拉开差距的不是硬件参数，是数据闭环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2004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谁能更快积累真实场景运行数据，谁就掌握了训练下一代模型的主动权。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38160" cy="85039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703320"/>
            <a:ext cx="54864" cy="8503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22776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7947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关键变量：商业化复制成本，而非技术迭代速度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160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能否从1台原型机做到100台部署，是目前所有玩家面临的共同瓶颈。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追踪企业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0604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0604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5760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行业评分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6072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4617720"/>
            <a:ext cx="1920240" cy="43891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12280" y="4617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63840" y="46177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规模节点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 Advancement  世界模型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3D 场景表征 · Sim2Real Gap · 中美算力竞赛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840480" cy="358444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840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什么是世界模型？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566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世界模型（World Model）是机器人感知、推理与物理交互的基础层。它让机器人理解三维空间、物理规律和因果关系，从而在未见过的场景中做出合理决策。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场景重建：NeRF / Gaussian Splatting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物理仿真：NVIDIA Isaac Sim / Mujoco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数据引擎：Tesla Dojo / Figure AI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Sim2Real Gap：仿真与真实的泛化差距仍是最大挑战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115568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🇺🇸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Dojo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261872"/>
            <a:ext cx="54864" cy="25603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算力最强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26280" y="1691640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7647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🇺🇸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Isaac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837944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仿真平台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267712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🇺🇸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3408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414016"/>
            <a:ext cx="54864" cy="2560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3408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2843784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29169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🇨🇳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2916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Unitree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2990088"/>
            <a:ext cx="54864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916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快速追赶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3419856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17720" y="3493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🇨🇳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 Agibot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54864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强化学习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26280" y="3995928"/>
            <a:ext cx="4114800" cy="530352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17720" y="4069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🇨🇳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2064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Fourier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4142232"/>
            <a:ext cx="54864" cy="25603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医疗场景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 Advancement  端到端控制 &amp; 灵巧手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架构 · 触觉反馈 · 23 DOF 临界点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840480" cy="358444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840480" cy="640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端到端控制 VLA 架构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566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= Vision-Language-Action Model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视觉-语言-动作一体化，端到端输出关节控制信号，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无需人工设计控制层级。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代表进展：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Figure x OpenAI：Figure 01 展示多轮对话操控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Agility Robotics：Digit 仓库场景稳定部署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智元智元：强化学习控制精度提升 40%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Boston Dynamics：Atlas 电动版全面转向 AI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核心瓶颈：Sim2Real Gap 导致仿真中表现优异的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模型在真实场景泛化性能下降 30-50%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15568"/>
            <a:ext cx="4023360" cy="358444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15568"/>
            <a:ext cx="40233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25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灵巧手 20-23 DOF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374904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64208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64208"/>
            <a:ext cx="54864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719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Unitree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719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DOF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1993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| 成本最优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54864" cy="6400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432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DOF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01184" y="2706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| 触觉传感最深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90672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90672"/>
            <a:ext cx="54864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145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145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 DOF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01184" y="34198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| 刚度调节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803904"/>
            <a:ext cx="3657600" cy="6400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803904"/>
            <a:ext cx="54864" cy="6400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Fourier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858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 DOF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01184" y="4133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医疗级 | 医疗场景适配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553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触觉反馈仍是全行业最大短板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 Advancement  技术演进时间轴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关键里程碑 · 中美节点对比 · 2020-2030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680960" cy="2286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910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054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198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342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486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774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91856" y="378561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63240"/>
            <a:ext cx="914400" cy="365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11810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Atlas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2376" y="3749040"/>
            <a:ext cx="18288" cy="91440"/>
          </a:xfrm>
          <a:prstGeom prst="rect">
            <a:avLst/>
          </a:prstGeom>
          <a:solidFill>
            <a:srgbClr val="FF9F1C">
              <a:alpha val="5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88720" y="2971800"/>
            <a:ext cx="914400" cy="365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AI Day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公布 Optimus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36776" y="3657600"/>
            <a:ext cx="18288" cy="182880"/>
          </a:xfrm>
          <a:prstGeom prst="rect">
            <a:avLst/>
          </a:prstGeom>
          <a:solidFill>
            <a:srgbClr val="FF9F1C">
              <a:alpha val="5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17520" y="2971800"/>
            <a:ext cx="914400" cy="365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58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成立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65576" y="3657600"/>
            <a:ext cx="18288" cy="182880"/>
          </a:xfrm>
          <a:prstGeom prst="rect">
            <a:avLst/>
          </a:prstGeom>
          <a:solidFill>
            <a:srgbClr val="EF476F">
              <a:alpha val="5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306324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931920" y="3063240"/>
            <a:ext cx="914400" cy="365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311810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Figure-OpenAI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战略合作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79976" y="3749040"/>
            <a:ext cx="18288" cy="91440"/>
          </a:xfrm>
          <a:prstGeom prst="rect">
            <a:avLst/>
          </a:prstGeom>
          <a:solidFill>
            <a:srgbClr val="EF476F">
              <a:alpha val="5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971800"/>
            <a:ext cx="914400" cy="36576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IPO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(NASDAQ)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94376" y="3657600"/>
            <a:ext cx="18288" cy="182880"/>
          </a:xfrm>
          <a:prstGeom prst="rect">
            <a:avLst/>
          </a:prstGeom>
          <a:solidFill>
            <a:srgbClr val="C77DFF">
              <a:alpha val="5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2971800"/>
            <a:ext cx="9144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75120" y="2971800"/>
            <a:ext cx="914400" cy="36576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93408" y="3026664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级别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室内自主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23176" y="3657600"/>
            <a:ext cx="18288" cy="182880"/>
          </a:xfrm>
          <a:prstGeom prst="rect">
            <a:avLst/>
          </a:prstGeom>
          <a:solidFill>
            <a:srgbClr val="C77DFF">
              <a:alpha val="5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88720" y="420624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188720" y="4828032"/>
            <a:ext cx="914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07008" y="424281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宇树四足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批量出货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03120" y="411480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103120" y="4736592"/>
            <a:ext cx="9144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21408" y="415137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智元成立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(Agibot)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17520" y="420624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017520" y="4828032"/>
            <a:ext cx="91440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35808" y="424281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傅利叶成立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(Fourier)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31920" y="411480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931920" y="4736592"/>
            <a:ext cx="914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50208" y="415137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H1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人形首发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46320" y="420624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4828032"/>
            <a:ext cx="9144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64608" y="424281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宇树招股书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披露规模化数据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60720" y="4114800"/>
            <a:ext cx="914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760720" y="4736592"/>
            <a:ext cx="914400" cy="36576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79008" y="4151376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 VLA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密集突破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02920" y="1115568"/>
            <a:ext cx="182880" cy="1828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10972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美国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920240" y="1115568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48840" y="10972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中国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— Mapping  人形机器人产业链图谱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6层供应链结构 · 中美能力对比 · 卡脖子清单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594360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78992"/>
            <a:ext cx="73152" cy="60350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338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终端产品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 · Boston Dynamics Atlas · 宇树 H1 · 傅利叶 GR-1 · 智元智元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1225296"/>
            <a:ext cx="621792" cy="310896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22529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商业化早期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737360"/>
            <a:ext cx="594360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37360"/>
            <a:ext cx="73152" cy="60350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7922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核心零部件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0299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关节模组 · 灵巧手 · 传感器融合 · 线束集成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883664"/>
            <a:ext cx="621792" cy="310896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88366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国产替代中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395728"/>
            <a:ext cx="594360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95728"/>
            <a:ext cx="73152" cy="6035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4505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关键元器件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26883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无框力矩电机 · 谐波减速器 · 行星滚柱丝杠 · 轴承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2542032"/>
            <a:ext cx="621792" cy="310896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4203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卡脖子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054096"/>
            <a:ext cx="594360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054096"/>
            <a:ext cx="73152" cy="60350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108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传感器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33467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视觉(深度相机) · 力矩传感 · IMU · 触觉阵列 · 嗅觉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60720" y="3200400"/>
            <a:ext cx="621792" cy="310896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200400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快速追赶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3712464"/>
            <a:ext cx="594360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712464"/>
            <a:ext cx="73152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7673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AI &amp; 芯片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" y="40050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大模型 · NVIDIA Thor / Jetson · 特斯拉 FSD 芯片 · 华为昇腾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3858768"/>
            <a:ext cx="621792" cy="310896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8587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中美分化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4370832"/>
            <a:ext cx="5943600" cy="603504"/>
          </a:xfrm>
          <a:prstGeom prst="rect">
            <a:avLst/>
          </a:prstGeom>
          <a:solidFill>
            <a:srgbClr val="16213E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370832"/>
            <a:ext cx="73152" cy="60350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4256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基础层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" y="4663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云计算 · 仿真平台 · 开源框架 · 数据标注 · 算力基础设施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4517136"/>
            <a:ext cx="621792" cy="310896"/>
          </a:xfrm>
          <a:prstGeom prst="rect">
            <a:avLst/>
          </a:prstGeom>
          <a:solidFill>
            <a:srgbClr val="C77DFF">
              <a:alpha val="8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451713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全球化协作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675120" y="1078992"/>
            <a:ext cx="1965960" cy="4041648"/>
          </a:xfrm>
          <a:prstGeom prst="rect">
            <a:avLst/>
          </a:prstGeom>
          <a:solidFill>
            <a:srgbClr val="0A162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66560" y="115214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中美能力对比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1463040"/>
            <a:ext cx="178308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算力/AI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0" y="1719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★★★☆☆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635240" y="1719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★★★★★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66560" y="19751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制造/供应链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6560" y="2157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★★★★★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635240" y="21579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★★☆☆☆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66560" y="24140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传感器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66560" y="2596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★★★☆☆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635240" y="2596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★★★★☆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66560" y="2852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整机集成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0" y="3035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★★★★☆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635240" y="3035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★★★★☆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66560" y="3291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商业化落地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66560" y="3474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★★☆☆☆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35240" y="3474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★★★☆☆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6656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66560" y="3913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★★☆☆☆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635240" y="3913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★★★★★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" y="4617720"/>
            <a:ext cx="854964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4008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卡脖子环节：谐波减速器（哈默纳科/绿的谐波）、行星滚柱丝杠（瑞士 GSA/中国华茂）、触觉传感器（选代/敏芯微）、高端轴承（NSK/SKF）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— Mapping  卡脖子清单与国产替代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大核心瓶颈 · 国产化率 · 替代时间窗口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64008" cy="1691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谐波减速器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14630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日本哈默纳科(全球70%)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0936" y="16642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绿的谐波(国产替代)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0936" y="1865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~18%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" y="210312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绿的 RV + 来福谐波已量产，但精度寿命仍差 30%，高端系列依赖日韩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73552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115568"/>
            <a:ext cx="64008" cy="1691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207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行星滚柱丝杠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14630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瑞士 GSA / 德国 INA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01568" y="16642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中国华茂 / 南京工艺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01568" y="1865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~12%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210312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国产刚起步，精度保持性差，人形 1.5m/s 行走要求超出现有国产规格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44184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4184" y="1115568"/>
            <a:ext cx="64008" cy="1691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2070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触觉传感器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4630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美国 Tacter / 德国 Bio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166420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选代传感 / 敏芯微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1865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~25%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10312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柔性阵列触觉是真正卡点，单点精度达标但面阵集成能力差距大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898648"/>
            <a:ext cx="26791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2898648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无框力矩电机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" y="32461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美国科尔摩根 / 瑞士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936" y="344728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步科 / 汇川技术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0936" y="36484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~40%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" y="388620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国内步科、汇川已能覆盖中端需求，高转矩密度系列（&gt;20Nm/kg）依赖进口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73552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73552" y="289864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73552" y="2898648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深度视觉传感器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01568" y="32461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Intel RealSense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01568" y="344728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奥比中光 / 华为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01568" y="36484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~50%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01568" y="388620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消费级够用，工业级（防爆、抗强光）差距缩小，但算法生态差距明显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44184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44184" y="289864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184" y="2898648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芯片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72200" y="324612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NVIDIA Thor / Jetson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72200" y="3447288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华为昇腾 / 地平线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72200" y="36484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国产率 ~30%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72200" y="3886200"/>
            <a:ext cx="2496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昇腾 910B 单卡算力接近 A100，出口管制加速国产替代，但生态工具链差距仍在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— Operations  四大应用场景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工厂制造 · 仓储物流 · 医疗康复 · 家庭服务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057400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工业制造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45920"/>
            <a:ext cx="86868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试点阶段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/ 智元 / BMW 合作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 3D/危险岗位 · 解决用工荒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精度要求高 · 改造成本大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$50K-$150K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~15%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&lt;50台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5176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51760" y="1115568"/>
            <a:ext cx="20574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仓储物流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1645920"/>
            <a:ext cx="868680" cy="256032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早期商业化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 / 宇树 / 顺丰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替代搬运工 · 7×24h 运转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场景复杂度高 · ROI 争议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$30K-$80K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~20%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100-500台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115568"/>
            <a:ext cx="20574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医疗康复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9204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92040" y="1645920"/>
            <a:ext cx="868680" cy="25603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临床前/临床中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9204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/ Exiii / Sanctuary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9204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9204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老龄化刚需 · 溢价空间高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9204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监管周期长 · 技术成熟度低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$80K-$200K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9204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~12% (长期)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&lt;20台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49440" y="1115568"/>
            <a:ext cx="20574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49440" y="1115568"/>
            <a:ext cx="2057400" cy="640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家庭服务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40880" y="1572768"/>
            <a:ext cx="187452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40880" y="1645920"/>
            <a:ext cx="868680" cy="256032"/>
          </a:xfrm>
          <a:prstGeom prst="rect">
            <a:avLst/>
          </a:prstGeom>
          <a:solidFill>
            <a:srgbClr val="8DA9BD">
              <a:alpha val="80000"/>
            </a:srgbClr>
          </a:solidFill>
          <a:ln w="12700">
            <a:solidFill>
              <a:srgbClr val="8DA9B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愿景阶段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40880" y="19751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核心玩家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40880" y="2139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/ Figure / 小鹏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40880" y="25237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40880" y="26883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全球最大市场 · 技术成熟后爆发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40880" y="31638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40880" y="33284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安全性要求极高 · 量产成本难题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40880" y="38404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单价: 目标 $20K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040880" y="40416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不明确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40880" y="42428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部署量: 真实部署: 0台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— Operations  客户结构与 ROI 真相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宇树招股书数据揭示：73.6% 为科研教育，真正工业替代极少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594360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 2024 年客户结构（来自招股书）— 揭示行业真实阶段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 科研教育 + 9.0% 企业导览 + 6.7% 肢体外骨骼 + 4.6% 自动化巡检 + 6.1% 其他 — 真正工业替代客户极少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科研教育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011680"/>
            <a:ext cx="403799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6910" y="19202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73.6%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企业导览/展示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56032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560320"/>
            <a:ext cx="493776" cy="2926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24688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肢体外骨骼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10896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108960"/>
            <a:ext cx="367589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6509" y="301752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6.7%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5661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自动化巡检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365760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657600"/>
            <a:ext cx="252374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1294" y="35661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4.6%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其他/个人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0" y="4206240"/>
            <a:ext cx="5486400" cy="292608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4206240"/>
            <a:ext cx="334670" cy="292608"/>
          </a:xfrm>
          <a:prstGeom prst="rect">
            <a:avLst/>
          </a:prstGeom>
          <a:solidFill>
            <a:srgbClr val="8DA9BD"/>
          </a:solidFill>
          <a:ln w="12700">
            <a:solidFill>
              <a:srgbClr val="8DA9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3590" y="41148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A9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1115568"/>
            <a:ext cx="27432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49640" y="1115568"/>
            <a:ext cx="9144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115568"/>
            <a:ext cx="1773936" cy="256032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9440" y="1115568"/>
            <a:ext cx="1773936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120700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分析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15179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 IRR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15179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15-20%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IRR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1901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&gt;25%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22860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回本周期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2286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2670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人工替代率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30540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部署规模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305409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3-10台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" y="4297680"/>
            <a:ext cx="8183880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" y="4297680"/>
            <a:ext cx="64008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3251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关键洞察：人形机器人目前本质上是一台「高价科研设备」，而非工业级自动化工具。客户结构揭示真相：73.6% 收入来自科研教育，说明真正工业替代的买单能力尚未形成。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— Reach  市场容量三情景预测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2025-2035 年出货量与规模预测 | 基准 / 乐观 / 保守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79192" cy="26060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基准情景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2496312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64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6642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1.45 万台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1396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139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万台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6151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 万台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09067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万台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62102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CAGR ~40%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1115568"/>
            <a:ext cx="2679192" cy="26060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乐观情景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1572768"/>
            <a:ext cx="2496312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664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13632" y="16642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1.7 万台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64992" y="21396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13632" y="2139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万台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64992" y="26151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13632" y="26151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万台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64992" y="30906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13632" y="309067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万台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64992" y="362102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CAGR ~55%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44184" y="1115568"/>
            <a:ext cx="2679192" cy="26060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保守情景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35624" y="1572768"/>
            <a:ext cx="2496312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1664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84264" y="16642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1.2 万台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35624" y="21396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84264" y="2139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万台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35624" y="261518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84264" y="261518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万台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35624" y="30906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84264" y="309067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万台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35624" y="362102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CAGR ~25%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3840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全球出货量预测（万台）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05840" y="4005072"/>
            <a:ext cx="292608" cy="10972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35024" y="4005072"/>
            <a:ext cx="292608" cy="10972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64208" y="4005072"/>
            <a:ext cx="292608" cy="10972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8860" y="4005072"/>
            <a:ext cx="292608" cy="109728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38044" y="4005072"/>
            <a:ext cx="292608" cy="10972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67228" y="4005072"/>
            <a:ext cx="292608" cy="10972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0886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11880" y="3802685"/>
            <a:ext cx="292608" cy="312115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41064" y="3937675"/>
            <a:ext cx="292608" cy="177125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70248" y="4005072"/>
            <a:ext cx="292608" cy="109728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1188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914900" y="2944368"/>
            <a:ext cx="292608" cy="117043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244084" y="3428147"/>
            <a:ext cx="292608" cy="686653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3268" y="3841699"/>
            <a:ext cx="292608" cy="273101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4900" y="41148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2920" y="4334256"/>
            <a:ext cx="822960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0" y="4114800"/>
            <a:ext cx="201168" cy="146304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8660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乐观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589520" y="4114800"/>
            <a:ext cx="201168" cy="146304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1812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21040" y="4114800"/>
            <a:ext cx="201168" cy="146304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49640" y="41148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— Reach  全球化策略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中国市场领跑 · 北美高端定位 · 欧洲细分切入 · 东南亚制造成本洼地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01168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64008" cy="36393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中国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出货量第一 / 制造成本洼地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093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093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5500+ 台全球第一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规模量产压成本 + 快速迭代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093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内卷加剧 / 估值泡沫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全球人形机器人出货量第一大国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0604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1115568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1115568"/>
            <a:ext cx="64008" cy="36393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3405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北美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3405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技术最前沿 / 估值最高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3405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3405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/ Figure / Agility 三大龙头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3405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3405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高端定位 + AI 算法差异化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3405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3405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制造成本高 / 量产瓶颈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3405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大模型发源地，资本密度最高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115568"/>
            <a:ext cx="201168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115568"/>
            <a:ext cx="64008" cy="36393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欧洲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3717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汽车产业链深度整合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3717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3717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/ Mercedes + 机器人合作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3717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3717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工业自动化场景优先落地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3717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3717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人才密度不足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3717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汽车制造自动化需求是最大机会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12280" y="1115568"/>
            <a:ext cx="2011680" cy="36393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1115568"/>
            <a:ext cx="201168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1115568"/>
            <a:ext cx="64008" cy="36393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0296" y="12070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东南亚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40296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制造成本 + 新兴市场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0296" y="1920240"/>
            <a:ext cx="1755648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0296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4029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制造业转型期 / 人口老龄化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0296" y="2542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40296" y="27249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低成本制造 + 服务业探索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4029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4029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技术积累薄弱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40296" y="42793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下一个制造业机器人化增长极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 — Assets  核心财务数据对比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营收 / 毛利 / 净利 / 出货量 — 宇树 vs UBTECH vs Agility vs Figure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¥17亿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2025E 营收  同比增长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115568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79192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宇树毛利率  硬件毛利极高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72584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115568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5500台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64024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2025 出货  全球第一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1115568"/>
            <a:ext cx="2011680" cy="12344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57416" y="1115568"/>
            <a:ext cx="201168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225296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¥6亿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48856" y="1938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2025E 净利  净利率 35%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514600"/>
            <a:ext cx="9144000" cy="384048"/>
          </a:xfrm>
          <a:prstGeom prst="rect">
            <a:avLst/>
          </a:prstGeom>
          <a:solidFill>
            <a:srgbClr val="0077A8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2025营收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8620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毛利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净利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20840" y="2514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出货量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估值/融资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2898648"/>
            <a:ext cx="9144000" cy="40233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28986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6888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¥17亿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8620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¥6亿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084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5500台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28986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42亿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319272"/>
            <a:ext cx="9144000" cy="40233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3192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6888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¥8亿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8620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20840" y="3319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~2000台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38160" y="33192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港股上市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3739896"/>
            <a:ext cx="9144000" cy="40233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" y="373989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46888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88620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0352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20840" y="3739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100+台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138160" y="37398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4160520"/>
            <a:ext cx="9144000" cy="40233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8640" y="41605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6888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88620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0352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72084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&lt;50台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138160" y="41605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26亿美元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02920" y="4581144"/>
            <a:ext cx="9144000" cy="40233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48640" y="45811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46888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未披露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88620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30352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未披露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20840" y="4581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千台级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138160" y="45811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150亿估值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02920" y="4617720"/>
            <a:ext cx="8549640" cy="43891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02920" y="4617720"/>
            <a:ext cx="64008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" y="4645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关键洞察：宇树是唯一实现规模化盈利的人形机器人企业，毛利率 60.3% 远超 UBTECH 的 42%；Agility 和 Figure 均处于严重亏损状态，依赖融资维持运营。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 — Assets  估值矩阵与融资动态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/ EV-Revenue 倍数对比 · 融资轮次 · 资本效率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493776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49377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 vs 商业化成熟度象限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600200"/>
            <a:ext cx="384048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600200"/>
            <a:ext cx="18288" cy="2971800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553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商业化成熟度 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 ↑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高估值·高成熟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7160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低估值·高成熟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低估值·早期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高估值·早期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03320" y="1783080"/>
            <a:ext cx="274320" cy="274320"/>
          </a:xfrm>
          <a:prstGeom prst="ellipse">
            <a:avLst/>
          </a:prstGeom>
          <a:solidFill>
            <a:srgbClr val="FFD166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554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63240" y="2057400"/>
            <a:ext cx="274320" cy="274320"/>
          </a:xfrm>
          <a:prstGeom prst="ellipse">
            <a:avLst/>
          </a:prstGeom>
          <a:solidFill>
            <a:srgbClr val="00B4D8">
              <a:alpha val="7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828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23160" y="2606040"/>
            <a:ext cx="274320" cy="274320"/>
          </a:xfrm>
          <a:prstGeom prst="ellipse">
            <a:avLst/>
          </a:prstGeom>
          <a:solidFill>
            <a:srgbClr val="FF9F1C">
              <a:alpha val="70000"/>
            </a:srgbClr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377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74520" y="3154680"/>
            <a:ext cx="274320" cy="274320"/>
          </a:xfrm>
          <a:prstGeom prst="ellipse">
            <a:avLst/>
          </a:prstGeom>
          <a:solidFill>
            <a:srgbClr val="EF476F">
              <a:alpha val="70000"/>
            </a:srgbClr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2880360"/>
            <a:ext cx="274320" cy="274320"/>
          </a:xfrm>
          <a:prstGeom prst="ellipse">
            <a:avLst/>
          </a:prstGeom>
          <a:solidFill>
            <a:srgbClr val="90E0EF">
              <a:alpha val="70000"/>
            </a:srgbClr>
          </a:solidFill>
          <a:ln w="19050">
            <a:solidFill>
              <a:srgbClr val="90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06040" y="3337560"/>
            <a:ext cx="274320" cy="274320"/>
          </a:xfrm>
          <a:prstGeom prst="ellipse">
            <a:avLst/>
          </a:prstGeom>
          <a:solidFill>
            <a:srgbClr val="C77DFF">
              <a:alpha val="70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108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23560" y="1115568"/>
            <a:ext cx="310896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23560" y="1115568"/>
            <a:ext cx="310896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1207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融资动态（2024-2026）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15000" y="1572768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15000" y="1572768"/>
            <a:ext cx="54864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16093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16093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35240" y="1609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$675M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24728" y="1810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B轮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2084832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15000" y="2084832"/>
            <a:ext cx="54864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24728" y="21214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Tech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1214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35240" y="21214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$125M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24728" y="2322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B轮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15000" y="2596896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596896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24728" y="2633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2633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635240" y="2633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¥15亿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24728" y="2834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A轮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715000" y="3108960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715000" y="3108960"/>
            <a:ext cx="54864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24728" y="31455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32320" y="31455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3145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¥42亿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824728" y="33467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15000" y="3621024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715000" y="3621024"/>
            <a:ext cx="54864" cy="4572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24728" y="36576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132320" y="36576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635240" y="36576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¥5亿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824728" y="3858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A轮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715000" y="4133088"/>
            <a:ext cx="2926080" cy="45720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715000" y="4133088"/>
            <a:ext cx="54864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24728" y="4169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32320" y="41696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35240" y="4169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824728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IPO+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AMORA Score — 12 企业综合评分卡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A(技术壁垒) · M(人才优势) · O(商业落地) · R(全球化) · A(可持续)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549640" cy="365760"/>
          </a:xfrm>
          <a:prstGeom prst="rect">
            <a:avLst/>
          </a:prstGeom>
          <a:solidFill>
            <a:srgbClr val="0077A8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5915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6207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6499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6791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7083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7375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76672" y="1115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08192" y="11155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481328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1481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5915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6207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6791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7083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7375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76672" y="14813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08192" y="14813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1792224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" y="17922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5915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86207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6499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6791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7083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7375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76672" y="17922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08192" y="17922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2103120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0352" y="21031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5915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6207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6499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6791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7083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7375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76672" y="2103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08192" y="2103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2414016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0352" y="24140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5915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6207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6499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6791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37083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7375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376672" y="24140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08192" y="241401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2920" y="2724912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30352" y="2724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35915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86207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36499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86791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37083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7375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376672" y="27249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108192" y="27249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" y="3035808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0352" y="3035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35915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86207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36499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6791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37083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87375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376672" y="30358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108192" y="3035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2920" y="3346704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30352" y="3346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35915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286207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336499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86791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37083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87375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376672" y="33467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6108192" y="334670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02920" y="3657600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530352" y="3657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傅利叶 Fourier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235915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286207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36499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86791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37083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487375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5376672" y="36576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6108192" y="3657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02920" y="3968496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530352" y="3968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Tech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235915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286207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336499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86791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437083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487375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5376672" y="396849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6108192" y="39684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502920" y="4279392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530352" y="42793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Sanctuary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235915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286207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336499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386791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437083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487375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5376672" y="427939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6108192" y="42793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502920" y="4590288"/>
            <a:ext cx="8549640" cy="31089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530352" y="4590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小鹏 PXES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235915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286207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336499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386791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21" name="Text 119"/>
          <p:cNvSpPr/>
          <p:nvPr/>
        </p:nvSpPr>
        <p:spPr>
          <a:xfrm>
            <a:off x="437083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22" name="Text 120"/>
          <p:cNvSpPr/>
          <p:nvPr/>
        </p:nvSpPr>
        <p:spPr>
          <a:xfrm>
            <a:off x="487375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5376672" y="45902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6108192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502920" y="4901184"/>
            <a:ext cx="8549640" cy="31089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530352" y="4901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235915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286207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336499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386791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437083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487375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5376672" y="4901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050" dirty="0"/>
          </a:p>
        </p:txBody>
      </p:sp>
      <p:sp>
        <p:nvSpPr>
          <p:cNvPr id="134" name="Text 132"/>
          <p:cNvSpPr/>
          <p:nvPr/>
        </p:nvSpPr>
        <p:spPr>
          <a:xfrm>
            <a:off x="6108192" y="490118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502920" y="473659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2237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A(Advancement)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2240280" y="4736592"/>
            <a:ext cx="164592" cy="1645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45973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M(Mastery)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3977640" y="4736592"/>
            <a:ext cx="164592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19709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O(Operations)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5715000" y="4736592"/>
            <a:ext cx="164592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93445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R(Reach)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7452360" y="4736592"/>
            <a:ext cx="164592" cy="1645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671816" y="47274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A2(Assets)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AMORA Score — 头部企业雷达图对比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vs Tesla Optimus vs Figure AI vs UBTECH — 五维能力可视化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0"/>
          </a:xfrm>
          <a:prstGeom prst="polygon">
            <a:avLst/>
          </a:prstGeom>
          <a:ln w="6350">
            <a:solidFill>
              <a:srgbClr val="2D4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05840"/>
            <a:ext cx="9144" cy="2011680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395877"/>
            <a:ext cx="1913221" cy="62164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017520"/>
            <a:ext cx="1182436" cy="162748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7964" y="3017520"/>
            <a:ext cx="1182436" cy="162748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7179" y="2395877"/>
            <a:ext cx="1913221" cy="621643"/>
          </a:xfrm>
          <a:prstGeom prst="rect">
            <a:avLst/>
          </a:prstGeom>
          <a:solidFill>
            <a:srgbClr val="2D4A61">
              <a:alpha val="30000"/>
            </a:srgbClr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566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5875" y="2146515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95437" y="4702341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08083" y="4702341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645" y="2146515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1973057">
            <a:off x="3200400" y="1307592"/>
            <a:ext cx="2096010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6531992">
            <a:off x="4960564" y="2445608"/>
            <a:ext cx="2152279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0522273">
            <a:off x="4264592" y="4482255"/>
            <a:ext cx="2016719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883704">
            <a:off x="2254451" y="4319507"/>
            <a:ext cx="2083613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1897641">
            <a:off x="1382840" y="2426959"/>
            <a:ext cx="2134598" cy="9144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6392" y="1243584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6556" y="2381600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0584" y="4418247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0443" y="4255499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8832" y="2362951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01089" y="2850080"/>
            <a:ext cx="822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01089" y="28500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rot="2287824">
            <a:off x="3200400" y="1106424"/>
            <a:ext cx="2189019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7065722">
            <a:off x="4922299" y="2458041"/>
            <a:ext cx="1919694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093213">
            <a:off x="4028105" y="4156758"/>
            <a:ext cx="1992993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6076296">
            <a:off x="2077086" y="4563629"/>
            <a:ext cx="2083613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563704">
            <a:off x="1669823" y="2520205"/>
            <a:ext cx="2083613" cy="9144"/>
          </a:xfrm>
          <a:prstGeom prst="rect">
            <a:avLst/>
          </a:prstGeom>
          <a:solidFill>
            <a:srgbClr val="FF9F1C">
              <a:alpha val="75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36392" y="1042416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8291" y="2394033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64097" y="4092750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3078" y="4499621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05815" y="2456197"/>
            <a:ext cx="128016" cy="12801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68063" y="2814708"/>
            <a:ext cx="822960" cy="256032"/>
          </a:xfrm>
          <a:prstGeom prst="rect">
            <a:avLst/>
          </a:prstGeom>
          <a:solidFill>
            <a:srgbClr val="FF9F1C">
              <a:alpha val="8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68063" y="28147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 rot="2295120">
            <a:off x="3200400" y="1207008"/>
            <a:ext cx="2070862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7465971">
            <a:off x="4826638" y="2489123"/>
            <a:ext cx="1725910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9942036">
            <a:off x="3850740" y="3912636"/>
            <a:ext cx="1647325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6623300">
            <a:off x="2254451" y="4319507"/>
            <a:ext cx="1952715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2295120">
            <a:off x="1574162" y="2489123"/>
            <a:ext cx="2070862" cy="9144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36392" y="1143000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62630" y="2425115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86732" y="3848628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90443" y="4255499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10154" y="2425115"/>
            <a:ext cx="128016" cy="12801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29798" y="2737175"/>
            <a:ext cx="822960" cy="256032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29798" y="2737175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 rot="2016700">
            <a:off x="3200400" y="1408176"/>
            <a:ext cx="1952715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7001697">
            <a:off x="4826638" y="2489123"/>
            <a:ext cx="1830160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0568730">
            <a:off x="4004456" y="4124209"/>
            <a:ext cx="1694717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6316962">
            <a:off x="2313573" y="4238132"/>
            <a:ext cx="1716462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2474563">
            <a:off x="1861145" y="2582370"/>
            <a:ext cx="1781105" cy="91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36392" y="134416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62630" y="2425115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40448" y="4060201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49565" y="41741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97137" y="251836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29763" y="2822098"/>
            <a:ext cx="822960" cy="25603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29763" y="282209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UBTECH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17920" y="1115568"/>
            <a:ext cx="246888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217920" y="1115568"/>
            <a:ext cx="246888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1207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评分说明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309360" y="1572768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309360" y="1572768"/>
            <a:ext cx="5486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19088" y="1609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(Advancement)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419088" y="1847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技术壁垒：算法/硬件/专利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09360" y="2194560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9360" y="2194560"/>
            <a:ext cx="54864" cy="5486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19088" y="2231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(Mastery)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419088" y="2468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人才优势：核心团队/融资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309360" y="2816352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309360" y="2816352"/>
            <a:ext cx="54864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19088" y="28529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(Operations)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419088" y="3090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商业落地：出货量/客户/收入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309360" y="3438144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309360" y="3438144"/>
            <a:ext cx="54864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19088" y="3474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(Reach)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19088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全球化：境外收入/合作伙伴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309360" y="4059936"/>
            <a:ext cx="228600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309360" y="4059936"/>
            <a:ext cx="54864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19088" y="40965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(Assets)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6419088" y="4334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可持续：毛利/净利/现金流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 Recommendations  投资建议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高确信 / 期权价值 / 零部件三层逻辑 · 催化剂清单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79192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64008" cy="3200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高确信标的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" y="1572768"/>
            <a:ext cx="2423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6459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代表标的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0936" y="182880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宇树科技（IPO）· Figure AI（二级）· NVIDIA（生态）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" y="23225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核心逻辑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0936" y="250545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规模盈利 + 营收可见性 + 估值合理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" y="299923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36" y="318211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估值已部分反映预期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0936" y="4041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操作建议: IPO 参与 / 二级建仓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1115568"/>
            <a:ext cx="2679192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1115568"/>
            <a:ext cx="64008" cy="3200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期权价值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01568" y="1572768"/>
            <a:ext cx="2423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16459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代表标的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01568" y="182880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智元智元（IPO前）· 傅利叶 · 1X Technologies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01568" y="23225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核心逻辑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01568" y="250545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技术有亮点 + 估值弹性大 + 中国供应链成本优势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299923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01568" y="318211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亏损持续，IPO 时间不确定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01568" y="4041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操作建议: 早期跟进，关注融资节点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44184" y="1115568"/>
            <a:ext cx="2679192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4184" y="1115568"/>
            <a:ext cx="64008" cy="3200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零部件阿尔法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1572768"/>
            <a:ext cx="2423160" cy="18288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64592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代表标的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182880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绿的谐波（减速器）· 华为昇腾（AI芯片）· 汇川（关节电机）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23225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核心逻辑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72200" y="2505456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不依赖单一客户 · 国产替代逻辑强 · 收入可见性好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299923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72200" y="318211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人形订单占比仍低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041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操作建议: 左侧布局，等待规模放量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4434840"/>
            <a:ext cx="8549640" cy="621792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44622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近期催化剂：宇树 IPO 定价（Q2 2026） · Figure AI 新一轮融资 · 特斯拉 Optimus 工厂部署公告 · 工信部人形机器人专项政策落地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Factors  风险因素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 / 商业化 / 监管 / 地缘政治 · 完整风险矩阵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9748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技术风险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225296"/>
            <a:ext cx="594360" cy="256032"/>
          </a:xfrm>
          <a:prstGeom prst="rect">
            <a:avLst/>
          </a:prstGeom>
          <a:solidFill>
            <a:srgbClr val="EF476F">
              <a:alpha val="7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252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Sim2Real Gap 持续，泛化性能难达标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触觉传感器无突破，灵巧手实用性受限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大模型推理成本高，实时控制延迟问题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15568"/>
            <a:ext cx="2697480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07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商业化风险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225296"/>
            <a:ext cx="594360" cy="256032"/>
          </a:xfrm>
          <a:prstGeom prst="rect">
            <a:avLst/>
          </a:prstGeom>
          <a:solidFill>
            <a:srgbClr val="FF9F1C">
              <a:alpha val="7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2252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客户以科研为主，真实工业买单能力未形成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83280" y="1901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单台成本仍高于人工替代 ROI 临界点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量产一致性差，故障率高影响口碑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1115568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115568"/>
            <a:ext cx="269748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2070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监管风险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92440" y="1225296"/>
            <a:ext cx="594360" cy="256032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12252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中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72200" y="15361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欧盟 AI Act 对人形机器人安全标准趋严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19019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工厂部署需新增安全认证流程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72200" y="22677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数据跨境传输限制影响全球化模型训练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2834640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834640"/>
            <a:ext cx="2697480" cy="6400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地缘风险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2944368"/>
            <a:ext cx="594360" cy="256032"/>
          </a:xfrm>
          <a:prstGeom prst="rect">
            <a:avLst/>
          </a:prstGeom>
          <a:solidFill>
            <a:srgbClr val="C77DFF">
              <a:alpha val="7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29443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中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NVIDIA H100/H200 出口管制持续收紧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" y="36210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中国供应链面临美国实体清单风险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" y="39867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技术人才流动受限（国籍审查趋严）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2834640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2834640"/>
            <a:ext cx="2697480" cy="6400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供应链风险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03520" y="2944368"/>
            <a:ext cx="594360" cy="256032"/>
          </a:xfrm>
          <a:prstGeom prst="rect">
            <a:avLst/>
          </a:prstGeom>
          <a:solidFill>
            <a:srgbClr val="90E0EF">
              <a:alpha val="7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9443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中高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0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谐波减速器 / 行星滚柱丝杠进口依赖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83280" y="36210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高端轴承国产替代进度低于预期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83280" y="39867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关键芯片（TI/ADI）供应波动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80760" y="2834640"/>
            <a:ext cx="2697480" cy="1627632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0760" y="283464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估值风险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92440" y="2944368"/>
            <a:ext cx="594360" cy="256032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2440" y="29443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 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72200" y="32552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Figure AI 26亿估值远超收入倍数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72200" y="36210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一级市场定价与二级流动性错配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72200" y="39867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赛道整体降温可能拖累估值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Catalysts  关键催化剂与时间节点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 密集事件窗口 — 影响行业估值与投资节奏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64008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170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207008"/>
            <a:ext cx="594360" cy="219456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2070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0936" y="14630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宇树科技通过港交所上市聆讯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170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1556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170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207008"/>
            <a:ext cx="594360" cy="219456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20700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91456" y="14630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 发布 Figure 02 商业版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35240" y="1170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084832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084832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08760" y="2176272"/>
            <a:ext cx="594360" cy="219456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1762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" y="24323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Optimus 德国工厂部署公告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2139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084832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84832"/>
            <a:ext cx="64008" cy="8686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176272"/>
            <a:ext cx="594360" cy="219456"/>
          </a:xfrm>
          <a:prstGeom prst="rect">
            <a:avLst/>
          </a:prstGeom>
          <a:solidFill>
            <a:srgbClr val="90E0EF">
              <a:alpha val="7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1762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91456" y="24323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工信部人形机器人专项政策出台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2139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054096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3054096"/>
            <a:ext cx="64008" cy="8686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" y="3108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08760" y="3145536"/>
            <a:ext cx="594360" cy="219456"/>
          </a:xfrm>
          <a:prstGeom prst="rect">
            <a:avLst/>
          </a:prstGeom>
          <a:solidFill>
            <a:srgbClr val="FF9F1C">
              <a:alpha val="7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31455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0936" y="34015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AI / Agility 新一轮融资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054096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054096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3108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3145536"/>
            <a:ext cx="594360" cy="219456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1455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产能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91456" y="34015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H1 产能 7.5 万台/年扩张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35240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4023360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" y="4023360"/>
            <a:ext cx="64008" cy="8686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" y="4078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508760" y="4114800"/>
            <a:ext cx="594360" cy="219456"/>
          </a:xfrm>
          <a:prstGeom prst="rect">
            <a:avLst/>
          </a:prstGeom>
          <a:solidFill>
            <a:srgbClr val="C77DFF">
              <a:alpha val="70000"/>
            </a:srgbClr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08760" y="41148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0936" y="43708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Thor 人形机器人 SDK 发布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7472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4023360"/>
            <a:ext cx="3977640" cy="868680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63440" y="4023360"/>
            <a:ext cx="64008" cy="8686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91456" y="4078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4114800"/>
            <a:ext cx="594360" cy="219456"/>
          </a:xfrm>
          <a:prstGeom prst="rect">
            <a:avLst/>
          </a:prstGeom>
          <a:solidFill>
            <a:srgbClr val="90E0EF">
              <a:alpha val="7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411480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91456" y="43708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国产谐波减速器批量通过验证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35240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2920" y="4617720"/>
            <a:ext cx="854964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40080" y="4645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核心判断：2026 H1 是人形机器人行业最重要的催化剂窗口，宇树 IPO + 政策落地 + 特斯拉部署三重叠加，可能触发板块性行情。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China vs US  中美深度对比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 / 商业模式 / 资本效率 / 供应链 — 全维度竞争格局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47472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1645920" cy="658368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🇨🇳 中国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331720" y="1115568"/>
            <a:ext cx="457200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115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1115568"/>
            <a:ext cx="1097280" cy="658368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1155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🇺🇸 美国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1874520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1874520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快速跟随 + 本地化微创新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1965960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87452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原创性突破 + 平台型生态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25856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代表玩家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258568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/ 智元 / 傅利叶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49240" y="2350008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25856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/ Figure / Agility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642616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" y="264261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资本效率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642616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¥42亿 IPO / ¥6亿净利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2734056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64261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$26亿估值 / 仍亏损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026664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3026664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制造优势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240" y="3026664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供应链完整 / 成本低 50%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49240" y="3118104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3026664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精密制造 / 高端材料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410712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" y="341071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20240" y="3410712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追赶中 / 真实场景数据少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49240" y="3502152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410712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特斯拉车队数据 / 优势明显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794760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6928" y="3794760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政策支持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20240" y="3794760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专项政策 + 补贴预期强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49240" y="3886200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79476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Act + AI Initiative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4178808"/>
            <a:ext cx="8549640" cy="356616"/>
          </a:xfrm>
          <a:prstGeom prst="rect">
            <a:avLst/>
          </a:prstGeom>
          <a:solidFill>
            <a:srgbClr val="1A2E42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6928" y="417880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20240" y="4178808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规模出货第一 / 科研为主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49240" y="4270248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417880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愿景驱动 / 工厂落地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4562856"/>
            <a:ext cx="8549640" cy="356616"/>
          </a:xfrm>
          <a:prstGeom prst="rect">
            <a:avLst/>
          </a:prstGeom>
          <a:solidFill>
            <a:srgbClr val="16213E"/>
          </a:solidFill>
          <a:ln w="6350">
            <a:solidFill>
              <a:srgbClr val="2D4A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66928" y="456285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20240" y="4562856"/>
            <a:ext cx="3383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境外收入 &gt;35%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49240" y="4654296"/>
            <a:ext cx="18288" cy="173736"/>
          </a:xfrm>
          <a:prstGeom prst="rect">
            <a:avLst/>
          </a:prstGeom>
          <a:solidFill>
            <a:srgbClr val="2D4A61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456285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全球品牌影响力更强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Humanoid Robot Index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结论与行动建议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行业评分 7.2/10  |  宇树综合第一 8.9分  |  处于商业化临界点前夜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72768"/>
            <a:ext cx="73152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00784"/>
            <a:ext cx="402336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645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格局未定，卡位窗口仍在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19933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真正工业替代客户占比不足 15%，意味着绝大多数市场尚未被任何人占据，先发优势尚未固化。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14016"/>
            <a:ext cx="73152" cy="7680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542032"/>
            <a:ext cx="402336" cy="4023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24871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数据闭环比技术参数更重要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83464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谁能更快积累真实场景运行数据，谁就掌握了训练下一代模型的主动权——这不是硬件竞赛，是数据竞赛。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55264"/>
            <a:ext cx="73152" cy="7680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383280"/>
            <a:ext cx="402336" cy="4023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32841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中国制造优势被低估，美国算法优势被高估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6758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60.3% 毛利率、5500 台出货量证明了中国制造密度的商业可行性；美国供应链空心化风险正在累积。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96512"/>
            <a:ext cx="8549640" cy="768096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096512"/>
            <a:ext cx="73152" cy="76809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224528"/>
            <a:ext cx="402336" cy="4023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416966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是关键验证年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45171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 IPO 定价 + 特斯拉工厂部署 + 工信部政策三重催化剂叠加，将重塑行业估值基准和投资逻辑。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  附录与免责声明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 · 评分方法论 · 评级说明 · 免责声明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84048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3840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宇树科技港交所招股书（2026年3月版）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UBTECH 年报（港交所披露）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Agility Robotics SEC 文件（10-K / 8-K）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IDTechEx / FutureMarkets 等第三方研究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工信部、IFR 国际机器人联合会数据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公开新闻与公司官方渠道披露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AMORA 数据库（截至 Q1 2026）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115568"/>
            <a:ext cx="4114800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115568"/>
            <a:ext cx="41148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Score 评分方法论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53619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(Advancement): 专利数 / 算法论文 / 硬件参数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 (Mastery): 核心团队背景 / 融资规模 / 估值倍数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(Operations): 出货量 / 客户数 / 营收规模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 (Reach): 境外收入占比 / 国际合作伙伴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A2 (Assets): 毛利率 / 净利率 / 现金流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综合评分 = 加权平均（各维度 1-10 分）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评分截止日期：2026年3月31日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8138160" cy="1115568"/>
          </a:xfrm>
          <a:prstGeom prst="rect">
            <a:avLst/>
          </a:prstGeom>
          <a:solidFill>
            <a:srgbClr val="16213E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456432"/>
            <a:ext cx="813816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47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免责声明 / Disclaimer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2219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本报告由 AMORA Insights 编制，仅供机构投资者参考，不构成任何投资建议。所有数据来源于公开渠道，AMORA 对数据准确性不作保证。评分为主观判断，存在固有偏差风险。投资人形机器人行业涉及技术、商业化、监管等多重不确定性，请咨询持牌投资顾问。AMORA Insights 及关联公司可能持有报告中提及标的的多头或空头头寸。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645152"/>
            <a:ext cx="813816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2D4A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6817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www.amorainsights.com  |  research@amorainsights.com  |  Data Cut-off: Q1 2026  |  Copyright © 2026 AMORA Insights Ltd.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4809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3  -  中国产业链生态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12801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1" name="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-  中国产业链生态</a:t>
            </a:r>
          </a:p>
        </p:txBody>
      </p:sp>
      <p:sp>
        <p:nvSpPr>
          <p:cNvPr id="202" name="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核心供应商  |  6 类关键零部件  |  国产替代加速</a:t>
            </a:r>
          </a:p>
        </p:txBody>
      </p:sp>
      <p:sp>
        <p:nvSpPr>
          <p:cNvPr id="200" name=""/>
          <p:cNvSpPr/>
          <p:nvPr/>
        </p:nvSpPr>
        <p:spPr>
          <a:xfrm>
            <a:off x="502920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01" name="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2" name=""/>
          <p:cNvSpPr/>
          <p:nvPr/>
        </p:nvSpPr>
        <p:spPr>
          <a:xfrm>
            <a:off x="502920" y="1115568"/>
            <a:ext cx="64008" cy="1691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3" name=""/>
          <p:cNvSpPr/>
          <p:nvPr/>
        </p:nvSpPr>
        <p:spPr>
          <a:xfrm>
            <a:off x="630936" y="120571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谐波减速器</a:t>
            </a:r>
          </a:p>
        </p:txBody>
      </p:sp>
      <p:sp>
        <p:nvSpPr>
          <p:cNvPr id="204" name=""/>
          <p:cNvSpPr/>
          <p:nvPr/>
        </p:nvSpPr>
        <p:spPr>
          <a:xfrm>
            <a:off x="630936" y="136166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日本哈默纳科(全球70%)</a:t>
            </a:r>
          </a:p>
        </p:txBody>
      </p:sp>
      <p:sp>
        <p:nvSpPr>
          <p:cNvPr id="205" name=""/>
          <p:cNvSpPr/>
          <p:nvPr/>
        </p:nvSpPr>
        <p:spPr>
          <a:xfrm>
            <a:off x="630936" y="156374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绿的谐波</a:t>
            </a:r>
          </a:p>
        </p:txBody>
      </p:sp>
      <p:sp>
        <p:nvSpPr>
          <p:cNvPr id="206" name=""/>
          <p:cNvSpPr/>
          <p:nvPr/>
        </p:nvSpPr>
        <p:spPr>
          <a:xfrm>
            <a:off x="630936" y="1783104"/>
            <a:ext cx="24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国产率 ~18%</a:t>
            </a:r>
          </a:p>
        </p:txBody>
      </p:sp>
      <p:sp>
        <p:nvSpPr>
          <p:cNvPr id="207" name=""/>
          <p:cNvSpPr/>
          <p:nvPr/>
        </p:nvSpPr>
        <p:spPr>
          <a:xfrm>
            <a:off x="630936" y="2021232"/>
            <a:ext cx="2479192" cy="78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精度寿命差30%，高端依赖日韩</a:t>
            </a:r>
          </a:p>
        </p:txBody>
      </p:sp>
      <p:sp>
        <p:nvSpPr>
          <p:cNvPr id="210" name=""/>
          <p:cNvSpPr/>
          <p:nvPr/>
        </p:nvSpPr>
        <p:spPr>
          <a:xfrm>
            <a:off x="3273552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11" name="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2" name=""/>
          <p:cNvSpPr/>
          <p:nvPr/>
        </p:nvSpPr>
        <p:spPr>
          <a:xfrm>
            <a:off x="3273552" y="1115568"/>
            <a:ext cx="64008" cy="1691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3" name=""/>
          <p:cNvSpPr/>
          <p:nvPr/>
        </p:nvSpPr>
        <p:spPr>
          <a:xfrm>
            <a:off x="3401568" y="120571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行星滚柱丝杠</a:t>
            </a:r>
          </a:p>
        </p:txBody>
      </p:sp>
      <p:sp>
        <p:nvSpPr>
          <p:cNvPr id="214" name=""/>
          <p:cNvSpPr/>
          <p:nvPr/>
        </p:nvSpPr>
        <p:spPr>
          <a:xfrm>
            <a:off x="3401568" y="136166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瑞士 GSA/德国 INA</a:t>
            </a:r>
          </a:p>
        </p:txBody>
      </p:sp>
      <p:sp>
        <p:nvSpPr>
          <p:cNvPr id="215" name=""/>
          <p:cNvSpPr/>
          <p:nvPr/>
        </p:nvSpPr>
        <p:spPr>
          <a:xfrm>
            <a:off x="3401568" y="156374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中国华茂/南京工艺</a:t>
            </a:r>
          </a:p>
        </p:txBody>
      </p:sp>
      <p:sp>
        <p:nvSpPr>
          <p:cNvPr id="216" name=""/>
          <p:cNvSpPr/>
          <p:nvPr/>
        </p:nvSpPr>
        <p:spPr>
          <a:xfrm>
            <a:off x="3401568" y="1783104"/>
            <a:ext cx="24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国产率 ~12%</a:t>
            </a:r>
          </a:p>
        </p:txBody>
      </p:sp>
      <p:sp>
        <p:nvSpPr>
          <p:cNvPr id="217" name=""/>
          <p:cNvSpPr/>
          <p:nvPr/>
        </p:nvSpPr>
        <p:spPr>
          <a:xfrm>
            <a:off x="3401568" y="2021232"/>
            <a:ext cx="2479192" cy="78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国产起步，1.5m/s行走要求超出规格</a:t>
            </a:r>
          </a:p>
        </p:txBody>
      </p:sp>
      <p:sp>
        <p:nvSpPr>
          <p:cNvPr id="220" name=""/>
          <p:cNvSpPr/>
          <p:nvPr/>
        </p:nvSpPr>
        <p:spPr>
          <a:xfrm>
            <a:off x="6044184" y="111556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21" name="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2" name=""/>
          <p:cNvSpPr/>
          <p:nvPr/>
        </p:nvSpPr>
        <p:spPr>
          <a:xfrm>
            <a:off x="6044184" y="1115568"/>
            <a:ext cx="64008" cy="1691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3" name=""/>
          <p:cNvSpPr/>
          <p:nvPr/>
        </p:nvSpPr>
        <p:spPr>
          <a:xfrm>
            <a:off x="6172200" y="120571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触觉传感器</a:t>
            </a:r>
          </a:p>
        </p:txBody>
      </p:sp>
      <p:sp>
        <p:nvSpPr>
          <p:cNvPr id="224" name=""/>
          <p:cNvSpPr/>
          <p:nvPr/>
        </p:nvSpPr>
        <p:spPr>
          <a:xfrm>
            <a:off x="6172200" y="136166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美国 Tacter/德国 BioTac</a:t>
            </a:r>
          </a:p>
        </p:txBody>
      </p:sp>
      <p:sp>
        <p:nvSpPr>
          <p:cNvPr id="225" name=""/>
          <p:cNvSpPr/>
          <p:nvPr/>
        </p:nvSpPr>
        <p:spPr>
          <a:xfrm>
            <a:off x="6172200" y="156374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选代传感/敏芯微</a:t>
            </a:r>
          </a:p>
        </p:txBody>
      </p:sp>
      <p:sp>
        <p:nvSpPr>
          <p:cNvPr id="226" name=""/>
          <p:cNvSpPr/>
          <p:nvPr/>
        </p:nvSpPr>
        <p:spPr>
          <a:xfrm>
            <a:off x="6172200" y="1783104"/>
            <a:ext cx="24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国产率 ~25%</a:t>
            </a:r>
          </a:p>
        </p:txBody>
      </p:sp>
      <p:sp>
        <p:nvSpPr>
          <p:cNvPr id="227" name=""/>
          <p:cNvSpPr/>
          <p:nvPr/>
        </p:nvSpPr>
        <p:spPr>
          <a:xfrm>
            <a:off x="6172200" y="2021232"/>
            <a:ext cx="2479192" cy="78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柔性阵列触觉是真正卡点</a:t>
            </a:r>
          </a:p>
        </p:txBody>
      </p:sp>
      <p:sp>
        <p:nvSpPr>
          <p:cNvPr id="230" name=""/>
          <p:cNvSpPr/>
          <p:nvPr/>
        </p:nvSpPr>
        <p:spPr>
          <a:xfrm>
            <a:off x="502920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31" name=""/>
          <p:cNvSpPr/>
          <p:nvPr/>
        </p:nvSpPr>
        <p:spPr>
          <a:xfrm>
            <a:off x="502920" y="2898648"/>
            <a:ext cx="26791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2" name=""/>
          <p:cNvSpPr/>
          <p:nvPr/>
        </p:nvSpPr>
        <p:spPr>
          <a:xfrm>
            <a:off x="502920" y="2898648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3" name=""/>
          <p:cNvSpPr/>
          <p:nvPr/>
        </p:nvSpPr>
        <p:spPr>
          <a:xfrm>
            <a:off x="630936" y="298879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无框力矩电机</a:t>
            </a:r>
          </a:p>
        </p:txBody>
      </p:sp>
      <p:sp>
        <p:nvSpPr>
          <p:cNvPr id="234" name=""/>
          <p:cNvSpPr/>
          <p:nvPr/>
        </p:nvSpPr>
        <p:spPr>
          <a:xfrm>
            <a:off x="630936" y="314474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美国科尔摩根/瑞士</a:t>
            </a:r>
          </a:p>
        </p:txBody>
      </p:sp>
      <p:sp>
        <p:nvSpPr>
          <p:cNvPr id="235" name=""/>
          <p:cNvSpPr/>
          <p:nvPr/>
        </p:nvSpPr>
        <p:spPr>
          <a:xfrm>
            <a:off x="630936" y="334682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步科/汇川技术</a:t>
            </a:r>
          </a:p>
        </p:txBody>
      </p:sp>
      <p:sp>
        <p:nvSpPr>
          <p:cNvPr id="236" name=""/>
          <p:cNvSpPr/>
          <p:nvPr/>
        </p:nvSpPr>
        <p:spPr>
          <a:xfrm>
            <a:off x="630936" y="3566184"/>
            <a:ext cx="24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国产率 ~40%</a:t>
            </a:r>
          </a:p>
        </p:txBody>
      </p:sp>
      <p:sp>
        <p:nvSpPr>
          <p:cNvPr id="237" name=""/>
          <p:cNvSpPr/>
          <p:nvPr/>
        </p:nvSpPr>
        <p:spPr>
          <a:xfrm>
            <a:off x="630936" y="3804312"/>
            <a:ext cx="2479192" cy="78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汇川覆盖中端，高转矩&gt;20Nm/kg依赖进口</a:t>
            </a:r>
          </a:p>
        </p:txBody>
      </p:sp>
      <p:sp>
        <p:nvSpPr>
          <p:cNvPr id="240" name=""/>
          <p:cNvSpPr/>
          <p:nvPr/>
        </p:nvSpPr>
        <p:spPr>
          <a:xfrm>
            <a:off x="3273552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41" name=""/>
          <p:cNvSpPr/>
          <p:nvPr/>
        </p:nvSpPr>
        <p:spPr>
          <a:xfrm>
            <a:off x="3273552" y="289864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2" name=""/>
          <p:cNvSpPr/>
          <p:nvPr/>
        </p:nvSpPr>
        <p:spPr>
          <a:xfrm>
            <a:off x="3273552" y="2898648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3" name=""/>
          <p:cNvSpPr/>
          <p:nvPr/>
        </p:nvSpPr>
        <p:spPr>
          <a:xfrm>
            <a:off x="3401568" y="298879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深度视觉传感器</a:t>
            </a:r>
          </a:p>
        </p:txBody>
      </p:sp>
      <p:sp>
        <p:nvSpPr>
          <p:cNvPr id="244" name=""/>
          <p:cNvSpPr/>
          <p:nvPr/>
        </p:nvSpPr>
        <p:spPr>
          <a:xfrm>
            <a:off x="3401568" y="314474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Intel RealSense</a:t>
            </a:r>
          </a:p>
        </p:txBody>
      </p:sp>
      <p:sp>
        <p:nvSpPr>
          <p:cNvPr id="245" name=""/>
          <p:cNvSpPr/>
          <p:nvPr/>
        </p:nvSpPr>
        <p:spPr>
          <a:xfrm>
            <a:off x="3401568" y="334682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奥比中光/华为</a:t>
            </a:r>
          </a:p>
        </p:txBody>
      </p:sp>
      <p:sp>
        <p:nvSpPr>
          <p:cNvPr id="246" name=""/>
          <p:cNvSpPr/>
          <p:nvPr/>
        </p:nvSpPr>
        <p:spPr>
          <a:xfrm>
            <a:off x="3401568" y="3566184"/>
            <a:ext cx="24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国产率 ~50%</a:t>
            </a:r>
          </a:p>
        </p:txBody>
      </p:sp>
      <p:sp>
        <p:nvSpPr>
          <p:cNvPr id="247" name=""/>
          <p:cNvSpPr/>
          <p:nvPr/>
        </p:nvSpPr>
        <p:spPr>
          <a:xfrm>
            <a:off x="3401568" y="3804312"/>
            <a:ext cx="2479192" cy="78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消费级够用，工业级差距缩小</a:t>
            </a:r>
          </a:p>
        </p:txBody>
      </p:sp>
      <p:sp>
        <p:nvSpPr>
          <p:cNvPr id="250" name=""/>
          <p:cNvSpPr/>
          <p:nvPr/>
        </p:nvSpPr>
        <p:spPr>
          <a:xfrm>
            <a:off x="6044184" y="2898648"/>
            <a:ext cx="2679192" cy="169164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51" name=""/>
          <p:cNvSpPr/>
          <p:nvPr/>
        </p:nvSpPr>
        <p:spPr>
          <a:xfrm>
            <a:off x="6044184" y="2898648"/>
            <a:ext cx="26791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2" name=""/>
          <p:cNvSpPr/>
          <p:nvPr/>
        </p:nvSpPr>
        <p:spPr>
          <a:xfrm>
            <a:off x="6044184" y="2898648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3" name=""/>
          <p:cNvSpPr/>
          <p:nvPr/>
        </p:nvSpPr>
        <p:spPr>
          <a:xfrm>
            <a:off x="6172200" y="298879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芯片</a:t>
            </a:r>
          </a:p>
        </p:txBody>
      </p:sp>
      <p:sp>
        <p:nvSpPr>
          <p:cNvPr id="254" name=""/>
          <p:cNvSpPr/>
          <p:nvPr/>
        </p:nvSpPr>
        <p:spPr>
          <a:xfrm>
            <a:off x="6172200" y="314474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进口: NVIDIA Thor/Jetson</a:t>
            </a:r>
          </a:p>
        </p:txBody>
      </p:sp>
      <p:sp>
        <p:nvSpPr>
          <p:cNvPr id="255" name=""/>
          <p:cNvSpPr/>
          <p:nvPr/>
        </p:nvSpPr>
        <p:spPr>
          <a:xfrm>
            <a:off x="6172200" y="3346824"/>
            <a:ext cx="24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国产: 华为昇腾/地平线</a:t>
            </a:r>
          </a:p>
        </p:txBody>
      </p:sp>
      <p:sp>
        <p:nvSpPr>
          <p:cNvPr id="256" name=""/>
          <p:cNvSpPr/>
          <p:nvPr/>
        </p:nvSpPr>
        <p:spPr>
          <a:xfrm>
            <a:off x="6172200" y="3566184"/>
            <a:ext cx="2479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国产率 ~30%</a:t>
            </a:r>
          </a:p>
        </p:txBody>
      </p:sp>
      <p:sp>
        <p:nvSpPr>
          <p:cNvPr id="257" name=""/>
          <p:cNvSpPr/>
          <p:nvPr/>
        </p:nvSpPr>
        <p:spPr>
          <a:xfrm>
            <a:off x="6172200" y="3804312"/>
            <a:ext cx="2479192" cy="78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昇腾910B接近A100，工具链差距仍在</a:t>
            </a:r>
          </a:p>
        </p:txBody>
      </p:sp>
      <p:sp>
        <p:nvSpPr>
          <p:cNvPr id="870" name=""/>
          <p:cNvSpPr/>
          <p:nvPr/>
        </p:nvSpPr>
        <p:spPr>
          <a:xfrm>
            <a:off x="502920" y="4589288"/>
            <a:ext cx="8229600" cy="914400"/>
          </a:xfrm>
          <a:prstGeom prst="rect">
            <a:avLst/>
          </a:prstGeom>
          <a:solidFill>
            <a:srgbClr val="0D2035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871" name=""/>
          <p:cNvSpPr/>
          <p:nvPr/>
        </p:nvSpPr>
        <p:spPr>
          <a:xfrm>
            <a:off x="502920" y="4789288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</a:p>
        </p:txBody>
      </p:sp>
      <p:sp>
        <p:nvSpPr>
          <p:cNvPr id="872" name=""/>
          <p:cNvSpPr/>
          <p:nvPr/>
        </p:nvSpPr>
        <p:spPr>
          <a:xfrm>
            <a:off x="502920" y="5017888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中国核心供应商</a:t>
            </a:r>
          </a:p>
        </p:txBody>
      </p:sp>
      <p:sp>
        <p:nvSpPr>
          <p:cNvPr id="873" name=""/>
          <p:cNvSpPr/>
          <p:nvPr/>
        </p:nvSpPr>
        <p:spPr>
          <a:xfrm>
            <a:off x="3273552" y="4789288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</a:p>
        </p:txBody>
      </p:sp>
      <p:sp>
        <p:nvSpPr>
          <p:cNvPr id="874" name=""/>
          <p:cNvSpPr/>
          <p:nvPr/>
        </p:nvSpPr>
        <p:spPr>
          <a:xfrm>
            <a:off x="3273552" y="5017888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零部件国产替代均值</a:t>
            </a:r>
          </a:p>
        </p:txBody>
      </p:sp>
      <p:sp>
        <p:nvSpPr>
          <p:cNvPr id="875" name=""/>
          <p:cNvSpPr/>
          <p:nvPr/>
        </p:nvSpPr>
        <p:spPr>
          <a:xfrm>
            <a:off x="6044184" y="4789288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6类</a:t>
            </a:r>
          </a:p>
        </p:txBody>
      </p:sp>
      <p:sp>
        <p:nvSpPr>
          <p:cNvPr id="876" name=""/>
          <p:cNvSpPr/>
          <p:nvPr/>
        </p:nvSpPr>
        <p:spPr>
          <a:xfrm>
            <a:off x="6044184" y="5017888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关键卡脖子零部件</a:t>
            </a:r>
          </a:p>
        </p:txBody>
      </p:sp>
      <p:sp>
        <p:nvSpPr>
          <p:cNvPr id="203" name=""/>
          <p:cNvSpPr/>
          <p:nvPr/>
        </p:nvSpPr>
        <p:spPr>
          <a:xfrm>
            <a:off x="0" y="4811808"/>
            <a:ext cx="9144000" cy="332268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04" name=""/>
          <p:cNvSpPr/>
          <p:nvPr/>
        </p:nvSpPr>
        <p:spPr>
          <a:xfrm>
            <a:off x="502920" y="484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</a:p>
        </p:txBody>
      </p:sp>
      <p:sp>
        <p:nvSpPr>
          <p:cNvPr id="205" name=""/>
          <p:cNvSpPr/>
          <p:nvPr/>
        </p:nvSpPr>
        <p:spPr>
          <a:xfrm>
            <a:off x="8321040" y="4849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4  -  美国产业链生态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12801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1" name="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-  美国产业链生态</a:t>
            </a:r>
          </a:p>
        </p:txBody>
      </p:sp>
      <p:sp>
        <p:nvSpPr>
          <p:cNvPr id="202" name="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核心零部件依赖进口  |  AI 平台全球领先  |  制造成本劣势明显</a:t>
            </a:r>
          </a:p>
        </p:txBody>
      </p:sp>
      <p:sp>
        <p:nvSpPr>
          <p:cNvPr id="200" name=""/>
          <p:cNvSpPr/>
          <p:nvPr/>
        </p:nvSpPr>
        <p:spPr>
          <a:xfrm>
            <a:off x="502920" y="1115568"/>
            <a:ext cx="2679192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201" name=""/>
          <p:cNvSpPr/>
          <p:nvPr/>
        </p:nvSpPr>
        <p:spPr>
          <a:xfrm>
            <a:off x="502920" y="1115568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2" name=""/>
          <p:cNvSpPr/>
          <p:nvPr/>
        </p:nvSpPr>
        <p:spPr>
          <a:xfrm>
            <a:off x="502920" y="1115568"/>
            <a:ext cx="64008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3" name=""/>
          <p:cNvSpPr/>
          <p:nvPr/>
        </p:nvSpPr>
        <p:spPr>
          <a:xfrm>
            <a:off x="630936" y="120571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Leaders</a:t>
            </a:r>
          </a:p>
        </p:txBody>
      </p:sp>
      <p:sp>
        <p:nvSpPr>
          <p:cNvPr id="204" name=""/>
          <p:cNvSpPr/>
          <p:nvPr/>
        </p:nvSpPr>
        <p:spPr>
          <a:xfrm>
            <a:off x="630936" y="148204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NVIDIA</a:t>
            </a:r>
          </a:p>
        </p:txBody>
      </p:sp>
      <p:sp>
        <p:nvSpPr>
          <p:cNvPr id="205" name=""/>
          <p:cNvSpPr/>
          <p:nvPr/>
        </p:nvSpPr>
        <p:spPr>
          <a:xfrm>
            <a:off x="630936" y="166492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Chips, Isaac Sim, Omniverse</a:t>
            </a:r>
          </a:p>
        </p:txBody>
      </p:sp>
      <p:sp>
        <p:nvSpPr>
          <p:cNvPr id="206" name=""/>
          <p:cNvSpPr/>
          <p:nvPr/>
        </p:nvSpPr>
        <p:spPr>
          <a:xfrm>
            <a:off x="630936" y="184780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ATI Industrial</a:t>
            </a:r>
          </a:p>
        </p:txBody>
      </p:sp>
      <p:sp>
        <p:nvSpPr>
          <p:cNvPr id="207" name=""/>
          <p:cNvSpPr/>
          <p:nvPr/>
        </p:nvSpPr>
        <p:spPr>
          <a:xfrm>
            <a:off x="630936" y="203068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Force Sensors 60%+ share</a:t>
            </a:r>
          </a:p>
        </p:txBody>
      </p:sp>
      <p:sp>
        <p:nvSpPr>
          <p:cNvPr id="208" name=""/>
          <p:cNvSpPr/>
          <p:nvPr/>
        </p:nvSpPr>
        <p:spPr>
          <a:xfrm>
            <a:off x="630936" y="221356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Moog</a:t>
            </a:r>
          </a:p>
        </p:txBody>
      </p:sp>
      <p:sp>
        <p:nvSpPr>
          <p:cNvPr id="209" name=""/>
          <p:cNvSpPr/>
          <p:nvPr/>
        </p:nvSpPr>
        <p:spPr>
          <a:xfrm>
            <a:off x="630936" y="239644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Actuators, Motion Control</a:t>
            </a:r>
          </a:p>
        </p:txBody>
      </p:sp>
      <p:sp>
        <p:nvSpPr>
          <p:cNvPr id="210" name=""/>
          <p:cNvSpPr/>
          <p:nvPr/>
        </p:nvSpPr>
        <p:spPr>
          <a:xfrm>
            <a:off x="630936" y="257932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Harmonic Drive</a:t>
            </a:r>
          </a:p>
        </p:txBody>
      </p:sp>
      <p:sp>
        <p:nvSpPr>
          <p:cNvPr id="211" name=""/>
          <p:cNvSpPr/>
          <p:nvPr/>
        </p:nvSpPr>
        <p:spPr>
          <a:xfrm>
            <a:off x="630936" y="276220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Gearboxes</a:t>
            </a:r>
          </a:p>
        </p:txBody>
      </p:sp>
      <p:sp>
        <p:nvSpPr>
          <p:cNvPr id="212" name=""/>
          <p:cNvSpPr/>
          <p:nvPr/>
        </p:nvSpPr>
        <p:spPr>
          <a:xfrm>
            <a:off x="630936" y="294508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Synapticon</a:t>
            </a:r>
          </a:p>
        </p:txBody>
      </p:sp>
      <p:sp>
        <p:nvSpPr>
          <p:cNvPr id="213" name=""/>
          <p:cNvSpPr/>
          <p:nvPr/>
        </p:nvSpPr>
        <p:spPr>
          <a:xfrm>
            <a:off x="630936" y="312796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Drives, Motion Control</a:t>
            </a:r>
          </a:p>
        </p:txBody>
      </p:sp>
      <p:sp>
        <p:nvSpPr>
          <p:cNvPr id="300" name=""/>
          <p:cNvSpPr/>
          <p:nvPr/>
        </p:nvSpPr>
        <p:spPr>
          <a:xfrm>
            <a:off x="3273552" y="1115568"/>
            <a:ext cx="2679192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301" name=""/>
          <p:cNvSpPr/>
          <p:nvPr/>
        </p:nvSpPr>
        <p:spPr>
          <a:xfrm>
            <a:off x="3273552" y="1115568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2" name=""/>
          <p:cNvSpPr/>
          <p:nvPr/>
        </p:nvSpPr>
        <p:spPr>
          <a:xfrm>
            <a:off x="3273552" y="1115568"/>
            <a:ext cx="64008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3" name=""/>
          <p:cNvSpPr/>
          <p:nvPr/>
        </p:nvSpPr>
        <p:spPr>
          <a:xfrm>
            <a:off x="3401568" y="120571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OEMs</a:t>
            </a:r>
          </a:p>
        </p:txBody>
      </p:sp>
      <p:sp>
        <p:nvSpPr>
          <p:cNvPr id="304" name=""/>
          <p:cNvSpPr/>
          <p:nvPr/>
        </p:nvSpPr>
        <p:spPr>
          <a:xfrm>
            <a:off x="3401568" y="148204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Tesla (Optimus)</a:t>
            </a:r>
          </a:p>
        </p:txBody>
      </p:sp>
      <p:sp>
        <p:nvSpPr>
          <p:cNvPr id="305" name=""/>
          <p:cNvSpPr/>
          <p:nvPr/>
        </p:nvSpPr>
        <p:spPr>
          <a:xfrm>
            <a:off x="3401568" y="166492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 units, NVIDIA+ATI+自研执行器</a:t>
            </a:r>
          </a:p>
        </p:txBody>
      </p:sp>
      <p:sp>
        <p:nvSpPr>
          <p:cNvPr id="306" name=""/>
          <p:cNvSpPr/>
          <p:nvPr/>
        </p:nvSpPr>
        <p:spPr>
          <a:xfrm>
            <a:off x="3401568" y="184780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Boston Dynamics</a:t>
            </a:r>
          </a:p>
        </p:txBody>
      </p:sp>
      <p:sp>
        <p:nvSpPr>
          <p:cNvPr id="307" name=""/>
          <p:cNvSpPr/>
          <p:nvPr/>
        </p:nvSpPr>
        <p:spPr>
          <a:xfrm>
            <a:off x="3401568" y="203068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Atlas, 现代集团, 液压路线</a:t>
            </a:r>
          </a:p>
        </p:txBody>
      </p:sp>
      <p:sp>
        <p:nvSpPr>
          <p:cNvPr id="308" name=""/>
          <p:cNvSpPr/>
          <p:nvPr/>
        </p:nvSpPr>
        <p:spPr>
          <a:xfrm>
            <a:off x="3401568" y="221356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Figure AI</a:t>
            </a:r>
          </a:p>
        </p:txBody>
      </p:sp>
      <p:sp>
        <p:nvSpPr>
          <p:cNvPr id="309" name=""/>
          <p:cNvSpPr/>
          <p:nvPr/>
        </p:nvSpPr>
        <p:spPr>
          <a:xfrm>
            <a:off x="3401568" y="239644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$675M融资, 宝马合作, OpenAI背书</a:t>
            </a:r>
          </a:p>
        </p:txBody>
      </p:sp>
      <p:sp>
        <p:nvSpPr>
          <p:cNvPr id="310" name=""/>
          <p:cNvSpPr/>
          <p:nvPr/>
        </p:nvSpPr>
        <p:spPr>
          <a:xfrm>
            <a:off x="3401568" y="257932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Agility Robotics</a:t>
            </a:r>
          </a:p>
        </p:txBody>
      </p:sp>
      <p:sp>
        <p:nvSpPr>
          <p:cNvPr id="311" name=""/>
          <p:cNvSpPr/>
          <p:nvPr/>
        </p:nvSpPr>
        <p:spPr>
          <a:xfrm>
            <a:off x="3401568" y="276220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Digit, 物流场景, 亚马逊试点</a:t>
            </a:r>
          </a:p>
        </p:txBody>
      </p:sp>
      <p:sp>
        <p:nvSpPr>
          <p:cNvPr id="312" name=""/>
          <p:cNvSpPr/>
          <p:nvPr/>
        </p:nvSpPr>
        <p:spPr>
          <a:xfrm>
            <a:off x="3401568" y="294508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1X Technologies</a:t>
            </a:r>
          </a:p>
        </p:txBody>
      </p:sp>
      <p:sp>
        <p:nvSpPr>
          <p:cNvPr id="313" name=""/>
          <p:cNvSpPr/>
          <p:nvPr/>
        </p:nvSpPr>
        <p:spPr>
          <a:xfrm>
            <a:off x="3401568" y="312796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NEO, OpenAI投资, 挪威+美国</a:t>
            </a:r>
          </a:p>
        </p:txBody>
      </p:sp>
      <p:sp>
        <p:nvSpPr>
          <p:cNvPr id="400" name=""/>
          <p:cNvSpPr/>
          <p:nvPr/>
        </p:nvSpPr>
        <p:spPr>
          <a:xfrm>
            <a:off x="6044184" y="1115568"/>
            <a:ext cx="2679192" cy="219456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01" name=""/>
          <p:cNvSpPr/>
          <p:nvPr/>
        </p:nvSpPr>
        <p:spPr>
          <a:xfrm>
            <a:off x="6044184" y="1115568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2" name=""/>
          <p:cNvSpPr/>
          <p:nvPr/>
        </p:nvSpPr>
        <p:spPr>
          <a:xfrm>
            <a:off x="6044184" y="1115568"/>
            <a:ext cx="64008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3" name=""/>
          <p:cNvSpPr/>
          <p:nvPr/>
        </p:nvSpPr>
        <p:spPr>
          <a:xfrm>
            <a:off x="6172200" y="1205712"/>
            <a:ext cx="24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AI</a:t>
            </a:r>
          </a:p>
        </p:txBody>
      </p:sp>
      <p:sp>
        <p:nvSpPr>
          <p:cNvPr id="404" name=""/>
          <p:cNvSpPr/>
          <p:nvPr/>
        </p:nvSpPr>
        <p:spPr>
          <a:xfrm>
            <a:off x="6172200" y="148204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Google DeepMind</a:t>
            </a:r>
          </a:p>
        </p:txBody>
      </p:sp>
      <p:sp>
        <p:nvSpPr>
          <p:cNvPr id="405" name=""/>
          <p:cNvSpPr/>
          <p:nvPr/>
        </p:nvSpPr>
        <p:spPr>
          <a:xfrm>
            <a:off x="6172200" y="166492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RT-X, Embodied AI研究</a:t>
            </a:r>
          </a:p>
        </p:txBody>
      </p:sp>
      <p:sp>
        <p:nvSpPr>
          <p:cNvPr id="406" name=""/>
          <p:cNvSpPr/>
          <p:nvPr/>
        </p:nvSpPr>
        <p:spPr>
          <a:xfrm>
            <a:off x="6172200" y="184780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OpenAI</a:t>
            </a:r>
          </a:p>
        </p:txBody>
      </p:sp>
      <p:sp>
        <p:nvSpPr>
          <p:cNvPr id="407" name=""/>
          <p:cNvSpPr/>
          <p:nvPr/>
        </p:nvSpPr>
        <p:spPr>
          <a:xfrm>
            <a:off x="6172200" y="203068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GPT-4V, Figure AI合作伙伴</a:t>
            </a:r>
          </a:p>
        </p:txBody>
      </p:sp>
      <p:sp>
        <p:nvSpPr>
          <p:cNvPr id="408" name=""/>
          <p:cNvSpPr/>
          <p:nvPr/>
        </p:nvSpPr>
        <p:spPr>
          <a:xfrm>
            <a:off x="6172200" y="221356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Microsoft</a:t>
            </a:r>
          </a:p>
        </p:txBody>
      </p:sp>
      <p:sp>
        <p:nvSpPr>
          <p:cNvPr id="409" name=""/>
          <p:cNvSpPr/>
          <p:nvPr/>
        </p:nvSpPr>
        <p:spPr>
          <a:xfrm>
            <a:off x="6172200" y="239644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Robotics, 云基础设施</a:t>
            </a:r>
          </a:p>
        </p:txBody>
      </p:sp>
      <p:sp>
        <p:nvSpPr>
          <p:cNvPr id="410" name=""/>
          <p:cNvSpPr/>
          <p:nvPr/>
        </p:nvSpPr>
        <p:spPr>
          <a:xfrm>
            <a:off x="6172200" y="257932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Meta AI</a:t>
            </a:r>
          </a:p>
        </p:txBody>
      </p:sp>
      <p:sp>
        <p:nvSpPr>
          <p:cNvPr id="411" name=""/>
          <p:cNvSpPr/>
          <p:nvPr/>
        </p:nvSpPr>
        <p:spPr>
          <a:xfrm>
            <a:off x="6172200" y="276220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Habitat仿真</a:t>
            </a:r>
          </a:p>
        </p:txBody>
      </p:sp>
      <p:sp>
        <p:nvSpPr>
          <p:cNvPr id="412" name=""/>
          <p:cNvSpPr/>
          <p:nvPr/>
        </p:nvSpPr>
        <p:spPr>
          <a:xfrm>
            <a:off x="6172200" y="294508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Intrinsic (Alphabet)</a:t>
            </a:r>
          </a:p>
        </p:txBody>
      </p:sp>
      <p:sp>
        <p:nvSpPr>
          <p:cNvPr id="413" name=""/>
          <p:cNvSpPr/>
          <p:nvPr/>
        </p:nvSpPr>
        <p:spPr>
          <a:xfrm>
            <a:off x="6172200" y="3127968"/>
            <a:ext cx="24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工业机器人AI, 收购Wandelbots</a:t>
            </a:r>
          </a:p>
        </p:txBody>
      </p:sp>
      <p:sp>
        <p:nvSpPr>
          <p:cNvPr id="870" name=""/>
          <p:cNvSpPr/>
          <p:nvPr/>
        </p:nvSpPr>
        <p:spPr>
          <a:xfrm>
            <a:off x="502920" y="3406200"/>
            <a:ext cx="8229600" cy="548640"/>
          </a:xfrm>
          <a:prstGeom prst="rect">
            <a:avLst/>
          </a:prstGeom>
          <a:solidFill>
            <a:srgbClr val="2D0A0A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871" name=""/>
          <p:cNvSpPr/>
          <p:nvPr/>
        </p:nvSpPr>
        <p:spPr>
          <a:xfrm>
            <a:off x="640080" y="3423600"/>
            <a:ext cx="788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供应链脆弱性: 70%+ 关键零部件依赖进口  |  地缘政治风险高  |  制造成本比中国高 55%</a:t>
            </a:r>
          </a:p>
        </p:txBody>
      </p:sp>
      <p:sp>
        <p:nvSpPr>
          <p:cNvPr id="203" name=""/>
          <p:cNvSpPr/>
          <p:nvPr/>
        </p:nvSpPr>
        <p:spPr>
          <a:xfrm>
            <a:off x="0" y="4811808"/>
            <a:ext cx="9144000" cy="332268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04" name=""/>
          <p:cNvSpPr/>
          <p:nvPr/>
        </p:nvSpPr>
        <p:spPr>
          <a:xfrm>
            <a:off x="502920" y="484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</a:p>
        </p:txBody>
      </p:sp>
      <p:sp>
        <p:nvSpPr>
          <p:cNvPr id="205" name=""/>
          <p:cNvSpPr/>
          <p:nvPr/>
        </p:nvSpPr>
        <p:spPr>
          <a:xfrm>
            <a:off x="8321040" y="4849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5  -  中美产业链 7 维度对比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12801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1" name="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-  中美产业链 7 维度对比</a:t>
            </a:r>
          </a:p>
        </p:txBody>
      </p:sp>
      <p:sp>
        <p:nvSpPr>
          <p:cNvPr id="202" name="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 x AI x 部署 x 成本 x 地缘 -- 全方位竞争格局</a:t>
            </a:r>
          </a:p>
        </p:txBody>
      </p:sp>
      <p:sp>
        <p:nvSpPr>
          <p:cNvPr id="200" name=""/>
          <p:cNvSpPr/>
          <p:nvPr/>
        </p:nvSpPr>
        <p:spPr>
          <a:xfrm>
            <a:off x="502920" y="111556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</a:t>
            </a:r>
          </a:p>
        </p:txBody>
      </p:sp>
      <p:sp>
        <p:nvSpPr>
          <p:cNvPr id="201" name=""/>
          <p:cNvSpPr/>
          <p:nvPr/>
        </p:nvSpPr>
        <p:spPr>
          <a:xfrm>
            <a:off x="2785800" y="1115568"/>
            <a:ext cx="1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</a:t>
            </a:r>
          </a:p>
        </p:txBody>
      </p:sp>
      <p:sp>
        <p:nvSpPr>
          <p:cNvPr id="202" name=""/>
          <p:cNvSpPr/>
          <p:nvPr/>
        </p:nvSpPr>
        <p:spPr>
          <a:xfrm>
            <a:off x="3985800" y="1115568"/>
            <a:ext cx="1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</a:t>
            </a:r>
          </a:p>
        </p:txBody>
      </p:sp>
      <p:sp>
        <p:nvSpPr>
          <p:cNvPr id="210" name=""/>
          <p:cNvSpPr/>
          <p:nvPr/>
        </p:nvSpPr>
        <p:spPr>
          <a:xfrm>
            <a:off x="502920" y="157204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制造规模</a:t>
            </a:r>
          </a:p>
        </p:txBody>
      </p:sp>
      <p:sp>
        <p:nvSpPr>
          <p:cNvPr id="220" name=""/>
          <p:cNvSpPr/>
          <p:nvPr/>
        </p:nvSpPr>
        <p:spPr>
          <a:xfrm>
            <a:off x="502920" y="1828528"/>
            <a:ext cx="21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中国产能+供应链密度远超</a:t>
            </a:r>
          </a:p>
        </p:txBody>
      </p:sp>
      <p:sp>
        <p:nvSpPr>
          <p:cNvPr id="230" name=""/>
          <p:cNvSpPr/>
          <p:nvPr/>
        </p:nvSpPr>
        <p:spPr>
          <a:xfrm>
            <a:off x="2785800" y="1572048"/>
            <a:ext cx="5225000" cy="200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40" name=""/>
          <p:cNvSpPr/>
          <p:nvPr/>
        </p:nvSpPr>
        <p:spPr>
          <a:xfrm>
            <a:off x="2865800" y="157204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</a:p>
        </p:txBody>
      </p:sp>
      <p:sp>
        <p:nvSpPr>
          <p:cNvPr id="250" name=""/>
          <p:cNvSpPr/>
          <p:nvPr/>
        </p:nvSpPr>
        <p:spPr>
          <a:xfrm>
            <a:off x="3985800" y="1572048"/>
            <a:ext cx="3300000" cy="200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0" name=""/>
          <p:cNvSpPr/>
          <p:nvPr/>
        </p:nvSpPr>
        <p:spPr>
          <a:xfrm>
            <a:off x="4065800" y="157204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</a:p>
        </p:txBody>
      </p:sp>
      <p:sp>
        <p:nvSpPr>
          <p:cNvPr id="211" name=""/>
          <p:cNvSpPr/>
          <p:nvPr/>
        </p:nvSpPr>
        <p:spPr>
          <a:xfrm>
            <a:off x="502920" y="211978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执行器生态</a:t>
            </a:r>
          </a:p>
        </p:txBody>
      </p:sp>
      <p:sp>
        <p:nvSpPr>
          <p:cNvPr id="221" name=""/>
          <p:cNvSpPr/>
          <p:nvPr/>
        </p:nvSpPr>
        <p:spPr>
          <a:xfrm>
            <a:off x="502920" y="2376268"/>
            <a:ext cx="21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中国减速器/电机全面追赶</a:t>
            </a:r>
          </a:p>
        </p:txBody>
      </p:sp>
      <p:sp>
        <p:nvSpPr>
          <p:cNvPr id="231" name=""/>
          <p:cNvSpPr/>
          <p:nvPr/>
        </p:nvSpPr>
        <p:spPr>
          <a:xfrm>
            <a:off x="2785800" y="2119788"/>
            <a:ext cx="3850000" cy="200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1" name=""/>
          <p:cNvSpPr/>
          <p:nvPr/>
        </p:nvSpPr>
        <p:spPr>
          <a:xfrm>
            <a:off x="2865800" y="211978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</a:p>
        </p:txBody>
      </p:sp>
      <p:sp>
        <p:nvSpPr>
          <p:cNvPr id="251" name=""/>
          <p:cNvSpPr/>
          <p:nvPr/>
        </p:nvSpPr>
        <p:spPr>
          <a:xfrm>
            <a:off x="3985800" y="2119788"/>
            <a:ext cx="3025000" cy="20000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61" name=""/>
          <p:cNvSpPr/>
          <p:nvPr/>
        </p:nvSpPr>
        <p:spPr>
          <a:xfrm>
            <a:off x="4065800" y="211978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</a:p>
        </p:txBody>
      </p:sp>
      <p:sp>
        <p:nvSpPr>
          <p:cNvPr id="212" name=""/>
          <p:cNvSpPr/>
          <p:nvPr/>
        </p:nvSpPr>
        <p:spPr>
          <a:xfrm>
            <a:off x="502920" y="266752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平台</a:t>
            </a:r>
          </a:p>
        </p:txBody>
      </p:sp>
      <p:sp>
        <p:nvSpPr>
          <p:cNvPr id="222" name=""/>
          <p:cNvSpPr/>
          <p:nvPr/>
        </p:nvSpPr>
        <p:spPr>
          <a:xfrm>
            <a:off x="502920" y="2924008"/>
            <a:ext cx="21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CUDA生态护城河，3-5年</a:t>
            </a:r>
          </a:p>
        </p:txBody>
      </p:sp>
      <p:sp>
        <p:nvSpPr>
          <p:cNvPr id="232" name=""/>
          <p:cNvSpPr/>
          <p:nvPr/>
        </p:nvSpPr>
        <p:spPr>
          <a:xfrm>
            <a:off x="2785800" y="2667528"/>
            <a:ext cx="2200000" cy="200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42" name=""/>
          <p:cNvSpPr/>
          <p:nvPr/>
        </p:nvSpPr>
        <p:spPr>
          <a:xfrm>
            <a:off x="2865800" y="266752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</a:p>
        </p:txBody>
      </p:sp>
      <p:sp>
        <p:nvSpPr>
          <p:cNvPr id="252" name=""/>
          <p:cNvSpPr/>
          <p:nvPr/>
        </p:nvSpPr>
        <p:spPr>
          <a:xfrm>
            <a:off x="3985800" y="2667528"/>
            <a:ext cx="5390000" cy="200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2" name=""/>
          <p:cNvSpPr/>
          <p:nvPr/>
        </p:nvSpPr>
        <p:spPr>
          <a:xfrm>
            <a:off x="4065800" y="266752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</a:p>
        </p:txBody>
      </p:sp>
      <p:sp>
        <p:nvSpPr>
          <p:cNvPr id="213" name=""/>
          <p:cNvSpPr/>
          <p:nvPr/>
        </p:nvSpPr>
        <p:spPr>
          <a:xfrm>
            <a:off x="502920" y="321526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部署规模</a:t>
            </a:r>
          </a:p>
        </p:txBody>
      </p:sp>
      <p:sp>
        <p:nvSpPr>
          <p:cNvPr id="223" name=""/>
          <p:cNvSpPr/>
          <p:nvPr/>
        </p:nvSpPr>
        <p:spPr>
          <a:xfrm>
            <a:off x="502920" y="3471748"/>
            <a:ext cx="21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宇树5500台领跑，美国&lt;200台</a:t>
            </a:r>
          </a:p>
        </p:txBody>
      </p:sp>
      <p:sp>
        <p:nvSpPr>
          <p:cNvPr id="233" name=""/>
          <p:cNvSpPr/>
          <p:nvPr/>
        </p:nvSpPr>
        <p:spPr>
          <a:xfrm>
            <a:off x="2785800" y="3215268"/>
            <a:ext cx="4675000" cy="200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3" name=""/>
          <p:cNvSpPr/>
          <p:nvPr/>
        </p:nvSpPr>
        <p:spPr>
          <a:xfrm>
            <a:off x="2865800" y="321526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</a:p>
        </p:txBody>
      </p:sp>
      <p:sp>
        <p:nvSpPr>
          <p:cNvPr id="253" name=""/>
          <p:cNvSpPr/>
          <p:nvPr/>
        </p:nvSpPr>
        <p:spPr>
          <a:xfrm>
            <a:off x="3985800" y="3215268"/>
            <a:ext cx="1100000" cy="200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63" name=""/>
          <p:cNvSpPr/>
          <p:nvPr/>
        </p:nvSpPr>
        <p:spPr>
          <a:xfrm>
            <a:off x="4065800" y="321526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</a:p>
        </p:txBody>
      </p:sp>
      <p:sp>
        <p:nvSpPr>
          <p:cNvPr id="214" name=""/>
          <p:cNvSpPr/>
          <p:nvPr/>
        </p:nvSpPr>
        <p:spPr>
          <a:xfrm>
            <a:off x="502920" y="376300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成本优势</a:t>
            </a:r>
          </a:p>
        </p:txBody>
      </p:sp>
      <p:sp>
        <p:nvSpPr>
          <p:cNvPr id="224" name=""/>
          <p:cNvSpPr/>
          <p:nvPr/>
        </p:nvSpPr>
        <p:spPr>
          <a:xfrm>
            <a:off x="502920" y="4019488"/>
            <a:ext cx="21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10万台时中国低55%</a:t>
            </a:r>
          </a:p>
        </p:txBody>
      </p:sp>
      <p:sp>
        <p:nvSpPr>
          <p:cNvPr id="234" name=""/>
          <p:cNvSpPr/>
          <p:nvPr/>
        </p:nvSpPr>
        <p:spPr>
          <a:xfrm>
            <a:off x="2785800" y="3763008"/>
            <a:ext cx="4950000" cy="200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4" name=""/>
          <p:cNvSpPr/>
          <p:nvPr/>
        </p:nvSpPr>
        <p:spPr>
          <a:xfrm>
            <a:off x="2865800" y="376300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</a:p>
        </p:txBody>
      </p:sp>
      <p:sp>
        <p:nvSpPr>
          <p:cNvPr id="254" name=""/>
          <p:cNvSpPr/>
          <p:nvPr/>
        </p:nvSpPr>
        <p:spPr>
          <a:xfrm>
            <a:off x="3985800" y="3763008"/>
            <a:ext cx="1925000" cy="200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64" name=""/>
          <p:cNvSpPr/>
          <p:nvPr/>
        </p:nvSpPr>
        <p:spPr>
          <a:xfrm>
            <a:off x="4065800" y="376300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</a:p>
        </p:txBody>
      </p:sp>
      <p:sp>
        <p:nvSpPr>
          <p:cNvPr id="215" name=""/>
          <p:cNvSpPr/>
          <p:nvPr/>
        </p:nvSpPr>
        <p:spPr>
          <a:xfrm>
            <a:off x="502920" y="431074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企业客户渗透</a:t>
            </a:r>
          </a:p>
        </p:txBody>
      </p:sp>
      <p:sp>
        <p:nvSpPr>
          <p:cNvPr id="225" name=""/>
          <p:cNvSpPr/>
          <p:nvPr/>
        </p:nvSpPr>
        <p:spPr>
          <a:xfrm>
            <a:off x="502920" y="4567228"/>
            <a:ext cx="21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中美均以科研教育为主</a:t>
            </a:r>
          </a:p>
        </p:txBody>
      </p:sp>
      <p:sp>
        <p:nvSpPr>
          <p:cNvPr id="235" name=""/>
          <p:cNvSpPr/>
          <p:nvPr/>
        </p:nvSpPr>
        <p:spPr>
          <a:xfrm>
            <a:off x="2785800" y="4310748"/>
            <a:ext cx="3300000" cy="20000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45" name=""/>
          <p:cNvSpPr/>
          <p:nvPr/>
        </p:nvSpPr>
        <p:spPr>
          <a:xfrm>
            <a:off x="2865800" y="431074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</a:p>
        </p:txBody>
      </p:sp>
      <p:sp>
        <p:nvSpPr>
          <p:cNvPr id="255" name=""/>
          <p:cNvSpPr/>
          <p:nvPr/>
        </p:nvSpPr>
        <p:spPr>
          <a:xfrm>
            <a:off x="3985800" y="4310748"/>
            <a:ext cx="2200000" cy="20000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65" name=""/>
          <p:cNvSpPr/>
          <p:nvPr/>
        </p:nvSpPr>
        <p:spPr>
          <a:xfrm>
            <a:off x="4065800" y="431074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</a:p>
        </p:txBody>
      </p:sp>
      <p:sp>
        <p:nvSpPr>
          <p:cNvPr id="216" name=""/>
          <p:cNvSpPr/>
          <p:nvPr/>
        </p:nvSpPr>
        <p:spPr>
          <a:xfrm>
            <a:off x="502920" y="4858488"/>
            <a:ext cx="2100000" cy="45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地缘风险敞口</a:t>
            </a:r>
          </a:p>
        </p:txBody>
      </p:sp>
      <p:sp>
        <p:nvSpPr>
          <p:cNvPr id="226" name=""/>
          <p:cNvSpPr/>
          <p:nvPr/>
        </p:nvSpPr>
        <p:spPr>
          <a:xfrm>
            <a:off x="502920" y="5114968"/>
            <a:ext cx="21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美国面临出口管制+断供风险</a:t>
            </a:r>
          </a:p>
        </p:txBody>
      </p:sp>
      <p:sp>
        <p:nvSpPr>
          <p:cNvPr id="236" name=""/>
          <p:cNvSpPr/>
          <p:nvPr/>
        </p:nvSpPr>
        <p:spPr>
          <a:xfrm>
            <a:off x="2785800" y="4858488"/>
            <a:ext cx="1100000" cy="200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6" name=""/>
          <p:cNvSpPr/>
          <p:nvPr/>
        </p:nvSpPr>
        <p:spPr>
          <a:xfrm>
            <a:off x="2865800" y="485848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</a:p>
        </p:txBody>
      </p:sp>
      <p:sp>
        <p:nvSpPr>
          <p:cNvPr id="256" name=""/>
          <p:cNvSpPr/>
          <p:nvPr/>
        </p:nvSpPr>
        <p:spPr>
          <a:xfrm>
            <a:off x="3985800" y="4858488"/>
            <a:ext cx="4675000" cy="2000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66" name=""/>
          <p:cNvSpPr/>
          <p:nvPr/>
        </p:nvSpPr>
        <p:spPr>
          <a:xfrm>
            <a:off x="4065800" y="4858488"/>
            <a:ext cx="4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</a:p>
        </p:txBody>
      </p:sp>
      <p:sp>
        <p:nvSpPr>
          <p:cNvPr id="203" name=""/>
          <p:cNvSpPr/>
          <p:nvPr/>
        </p:nvSpPr>
        <p:spPr>
          <a:xfrm>
            <a:off x="0" y="4811808"/>
            <a:ext cx="9144000" cy="332268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04" name=""/>
          <p:cNvSpPr/>
          <p:nvPr/>
        </p:nvSpPr>
        <p:spPr>
          <a:xfrm>
            <a:off x="502920" y="484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</a:p>
        </p:txBody>
      </p:sp>
      <p:sp>
        <p:nvSpPr>
          <p:cNvPr id="205" name=""/>
          <p:cNvSpPr/>
          <p:nvPr/>
        </p:nvSpPr>
        <p:spPr>
          <a:xfrm>
            <a:off x="8321040" y="4849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6  -  成本曲线：规模化降本路径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12801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1" name="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-  成本曲线：规模化降本路径</a:t>
            </a:r>
          </a:p>
        </p:txBody>
      </p:sp>
      <p:sp>
        <p:nvSpPr>
          <p:cNvPr id="202" name="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 |  US  |  Japan  --  当前小批量到 100K 大规模成本对比</a:t>
            </a:r>
          </a:p>
        </p:txBody>
      </p:sp>
      <p:sp>
        <p:nvSpPr>
          <p:cNvPr id="200" name=""/>
          <p:cNvSpPr/>
          <p:nvPr/>
        </p:nvSpPr>
        <p:spPr>
          <a:xfrm>
            <a:off x="502920" y="1115568"/>
            <a:ext cx="8229600" cy="320040"/>
          </a:xfrm>
          <a:prstGeom prst="rect">
            <a:avLst/>
          </a:prstGeom>
          <a:solidFill>
            <a:srgbClr val="0D2035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01" name=""/>
          <p:cNvSpPr/>
          <p:nvPr/>
        </p:nvSpPr>
        <p:spPr>
          <a:xfrm>
            <a:off x="50292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单位成本 (人民币/台)</a:t>
            </a:r>
          </a:p>
        </p:txBody>
      </p:sp>
      <p:sp>
        <p:nvSpPr>
          <p:cNvPr id="202" name=""/>
          <p:cNvSpPr/>
          <p:nvPr/>
        </p:nvSpPr>
        <p:spPr>
          <a:xfrm>
            <a:off x="6629400" y="1115568"/>
            <a:ext cx="20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产量规模</a:t>
            </a:r>
          </a:p>
        </p:txBody>
      </p:sp>
      <p:sp>
        <p:nvSpPr>
          <p:cNvPr id="210" name=""/>
          <p:cNvSpPr/>
          <p:nvPr/>
        </p:nvSpPr>
        <p:spPr>
          <a:xfrm>
            <a:off x="502920" y="1115568"/>
            <a:ext cx="2048640" cy="320040"/>
          </a:xfrm>
          <a:prstGeom prst="rect">
            <a:avLst/>
          </a:prstGeom>
          <a:solidFill>
            <a:srgbClr val="1A2E42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15" name=""/>
          <p:cNvSpPr/>
          <p:nvPr/>
        </p:nvSpPr>
        <p:spPr>
          <a:xfrm>
            <a:off x="502920" y="1115568"/>
            <a:ext cx="20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</a:p>
        </p:txBody>
      </p:sp>
      <p:sp>
        <p:nvSpPr>
          <p:cNvPr id="211" name=""/>
          <p:cNvSpPr/>
          <p:nvPr/>
        </p:nvSpPr>
        <p:spPr>
          <a:xfrm>
            <a:off x="2551560" y="1115568"/>
            <a:ext cx="2048640" cy="320040"/>
          </a:xfrm>
          <a:prstGeom prst="rect">
            <a:avLst/>
          </a:prstGeom>
          <a:solidFill>
            <a:srgbClr val="1A2E42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16" name=""/>
          <p:cNvSpPr/>
          <p:nvPr/>
        </p:nvSpPr>
        <p:spPr>
          <a:xfrm>
            <a:off x="2551560" y="1115568"/>
            <a:ext cx="20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</a:p>
        </p:txBody>
      </p:sp>
      <p:sp>
        <p:nvSpPr>
          <p:cNvPr id="212" name=""/>
          <p:cNvSpPr/>
          <p:nvPr/>
        </p:nvSpPr>
        <p:spPr>
          <a:xfrm>
            <a:off x="4590480" y="1115568"/>
            <a:ext cx="2048640" cy="320040"/>
          </a:xfrm>
          <a:prstGeom prst="rect">
            <a:avLst/>
          </a:prstGeom>
          <a:solidFill>
            <a:srgbClr val="1A2E42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17" name=""/>
          <p:cNvSpPr/>
          <p:nvPr/>
        </p:nvSpPr>
        <p:spPr>
          <a:xfrm>
            <a:off x="4590480" y="1115568"/>
            <a:ext cx="20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</a:p>
        </p:txBody>
      </p:sp>
      <p:sp>
        <p:nvSpPr>
          <p:cNvPr id="300" name=""/>
          <p:cNvSpPr/>
          <p:nvPr/>
        </p:nvSpPr>
        <p:spPr>
          <a:xfrm>
            <a:off x="502920" y="1435608"/>
            <a:ext cx="8229600" cy="685800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310" name=""/>
          <p:cNvSpPr/>
          <p:nvPr/>
        </p:nvSpPr>
        <p:spPr>
          <a:xfrm>
            <a:off x="6629400" y="14356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</a:t>
            </a:r>
          </a:p>
        </p:txBody>
      </p:sp>
      <p:sp>
        <p:nvSpPr>
          <p:cNvPr id="320" name=""/>
          <p:cNvSpPr/>
          <p:nvPr/>
        </p:nvSpPr>
        <p:spPr>
          <a:xfrm>
            <a:off x="502920" y="14356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</a:p>
        </p:txBody>
      </p:sp>
      <p:sp>
        <p:nvSpPr>
          <p:cNvPr id="321" name=""/>
          <p:cNvSpPr/>
          <p:nvPr/>
        </p:nvSpPr>
        <p:spPr>
          <a:xfrm>
            <a:off x="2551560" y="14356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$280K</a:t>
            </a:r>
          </a:p>
        </p:txBody>
      </p:sp>
      <p:sp>
        <p:nvSpPr>
          <p:cNvPr id="322" name=""/>
          <p:cNvSpPr/>
          <p:nvPr/>
        </p:nvSpPr>
        <p:spPr>
          <a:xfrm>
            <a:off x="4590480" y="14356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$220K</a:t>
            </a:r>
          </a:p>
        </p:txBody>
      </p:sp>
      <p:sp>
        <p:nvSpPr>
          <p:cNvPr id="301" name=""/>
          <p:cNvSpPr/>
          <p:nvPr/>
        </p:nvSpPr>
        <p:spPr>
          <a:xfrm>
            <a:off x="502920" y="2121408"/>
            <a:ext cx="8229600" cy="685800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311" name=""/>
          <p:cNvSpPr/>
          <p:nvPr/>
        </p:nvSpPr>
        <p:spPr>
          <a:xfrm>
            <a:off x="6629400" y="21214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1K/年</a:t>
            </a:r>
          </a:p>
        </p:txBody>
      </p:sp>
      <p:sp>
        <p:nvSpPr>
          <p:cNvPr id="323" name=""/>
          <p:cNvSpPr/>
          <p:nvPr/>
        </p:nvSpPr>
        <p:spPr>
          <a:xfrm>
            <a:off x="502920" y="21214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</a:t>
            </a:r>
          </a:p>
        </p:txBody>
      </p:sp>
      <p:sp>
        <p:nvSpPr>
          <p:cNvPr id="324" name=""/>
          <p:cNvSpPr/>
          <p:nvPr/>
        </p:nvSpPr>
        <p:spPr>
          <a:xfrm>
            <a:off x="2551560" y="21214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$160K</a:t>
            </a:r>
          </a:p>
        </p:txBody>
      </p:sp>
      <p:sp>
        <p:nvSpPr>
          <p:cNvPr id="325" name=""/>
          <p:cNvSpPr/>
          <p:nvPr/>
        </p:nvSpPr>
        <p:spPr>
          <a:xfrm>
            <a:off x="4590480" y="21214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</a:p>
        </p:txBody>
      </p:sp>
      <p:sp>
        <p:nvSpPr>
          <p:cNvPr id="302" name=""/>
          <p:cNvSpPr/>
          <p:nvPr/>
        </p:nvSpPr>
        <p:spPr>
          <a:xfrm>
            <a:off x="502920" y="2807208"/>
            <a:ext cx="8229600" cy="685800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312" name=""/>
          <p:cNvSpPr/>
          <p:nvPr/>
        </p:nvSpPr>
        <p:spPr>
          <a:xfrm>
            <a:off x="6629400" y="28072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10K/年</a:t>
            </a:r>
          </a:p>
        </p:txBody>
      </p:sp>
      <p:sp>
        <p:nvSpPr>
          <p:cNvPr id="326" name=""/>
          <p:cNvSpPr/>
          <p:nvPr/>
        </p:nvSpPr>
        <p:spPr>
          <a:xfrm>
            <a:off x="502920" y="28072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$45K</a:t>
            </a:r>
          </a:p>
        </p:txBody>
      </p:sp>
      <p:sp>
        <p:nvSpPr>
          <p:cNvPr id="327" name=""/>
          <p:cNvSpPr/>
          <p:nvPr/>
        </p:nvSpPr>
        <p:spPr>
          <a:xfrm>
            <a:off x="2551560" y="28072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</a:t>
            </a:r>
          </a:p>
        </p:txBody>
      </p:sp>
      <p:sp>
        <p:nvSpPr>
          <p:cNvPr id="328" name=""/>
          <p:cNvSpPr/>
          <p:nvPr/>
        </p:nvSpPr>
        <p:spPr>
          <a:xfrm>
            <a:off x="4590480" y="28072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$65K</a:t>
            </a:r>
          </a:p>
        </p:txBody>
      </p:sp>
      <p:sp>
        <p:nvSpPr>
          <p:cNvPr id="303" name=""/>
          <p:cNvSpPr/>
          <p:nvPr/>
        </p:nvSpPr>
        <p:spPr>
          <a:xfrm>
            <a:off x="502920" y="3493008"/>
            <a:ext cx="8229600" cy="685800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313" name=""/>
          <p:cNvSpPr/>
          <p:nvPr/>
        </p:nvSpPr>
        <p:spPr>
          <a:xfrm>
            <a:off x="6629400" y="34930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100K/年</a:t>
            </a:r>
          </a:p>
        </p:txBody>
      </p:sp>
      <p:sp>
        <p:nvSpPr>
          <p:cNvPr id="329" name=""/>
          <p:cNvSpPr/>
          <p:nvPr/>
        </p:nvSpPr>
        <p:spPr>
          <a:xfrm>
            <a:off x="502920" y="34930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</a:p>
        </p:txBody>
      </p:sp>
      <p:sp>
        <p:nvSpPr>
          <p:cNvPr id="330" name=""/>
          <p:cNvSpPr/>
          <p:nvPr/>
        </p:nvSpPr>
        <p:spPr>
          <a:xfrm>
            <a:off x="2551560" y="34930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$45K</a:t>
            </a:r>
          </a:p>
        </p:txBody>
      </p:sp>
      <p:sp>
        <p:nvSpPr>
          <p:cNvPr id="331" name=""/>
          <p:cNvSpPr/>
          <p:nvPr/>
        </p:nvSpPr>
        <p:spPr>
          <a:xfrm>
            <a:off x="4590480" y="3493008"/>
            <a:ext cx="20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</a:t>
            </a:r>
          </a:p>
        </p:txBody>
      </p:sp>
      <p:sp>
        <p:nvSpPr>
          <p:cNvPr id="400" name=""/>
          <p:cNvSpPr/>
          <p:nvPr/>
        </p:nvSpPr>
        <p:spPr>
          <a:xfrm>
            <a:off x="502920" y="4306824"/>
            <a:ext cx="2679192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01" name=""/>
          <p:cNvSpPr/>
          <p:nvPr/>
        </p:nvSpPr>
        <p:spPr>
          <a:xfrm>
            <a:off x="502920" y="4306824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2" name=""/>
          <p:cNvSpPr/>
          <p:nvPr/>
        </p:nvSpPr>
        <p:spPr>
          <a:xfrm>
            <a:off x="502920" y="4306824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5" name=""/>
          <p:cNvSpPr/>
          <p:nvPr/>
        </p:nvSpPr>
        <p:spPr>
          <a:xfrm>
            <a:off x="630936" y="4396968"/>
            <a:ext cx="243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</a:p>
        </p:txBody>
      </p:sp>
      <p:sp>
        <p:nvSpPr>
          <p:cNvPr id="406" name=""/>
          <p:cNvSpPr/>
          <p:nvPr/>
        </p:nvSpPr>
        <p:spPr>
          <a:xfrm>
            <a:off x="630936" y="4672584"/>
            <a:ext cx="243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中国成本优势</a:t>
            </a:r>
          </a:p>
        </p:txBody>
      </p:sp>
      <p:sp>
        <p:nvSpPr>
          <p:cNvPr id="407" name=""/>
          <p:cNvSpPr/>
          <p:nvPr/>
        </p:nvSpPr>
        <p:spPr>
          <a:xfrm>
            <a:off x="630936" y="4855464"/>
            <a:ext cx="243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10万台时比美国低55%</a:t>
            </a:r>
          </a:p>
        </p:txBody>
      </p:sp>
      <p:sp>
        <p:nvSpPr>
          <p:cNvPr id="405" name=""/>
          <p:cNvSpPr/>
          <p:nvPr/>
        </p:nvSpPr>
        <p:spPr>
          <a:xfrm>
            <a:off x="3273552" y="4306824"/>
            <a:ext cx="2679192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06" name=""/>
          <p:cNvSpPr/>
          <p:nvPr/>
        </p:nvSpPr>
        <p:spPr>
          <a:xfrm>
            <a:off x="3273552" y="4306824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7" name=""/>
          <p:cNvSpPr/>
          <p:nvPr/>
        </p:nvSpPr>
        <p:spPr>
          <a:xfrm>
            <a:off x="3273552" y="4306824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0" name=""/>
          <p:cNvSpPr/>
          <p:nvPr/>
        </p:nvSpPr>
        <p:spPr>
          <a:xfrm>
            <a:off x="3401568" y="4396968"/>
            <a:ext cx="243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</a:p>
        </p:txBody>
      </p:sp>
      <p:sp>
        <p:nvSpPr>
          <p:cNvPr id="411" name=""/>
          <p:cNvSpPr/>
          <p:nvPr/>
        </p:nvSpPr>
        <p:spPr>
          <a:xfrm>
            <a:off x="3401568" y="4672584"/>
            <a:ext cx="243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收敛时间节点</a:t>
            </a:r>
          </a:p>
        </p:txBody>
      </p:sp>
      <p:sp>
        <p:nvSpPr>
          <p:cNvPr id="412" name=""/>
          <p:cNvSpPr/>
          <p:nvPr/>
        </p:nvSpPr>
        <p:spPr>
          <a:xfrm>
            <a:off x="3401568" y="4855464"/>
            <a:ext cx="243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预计2027年成本曲线趋同</a:t>
            </a:r>
          </a:p>
        </p:txBody>
      </p:sp>
      <p:sp>
        <p:nvSpPr>
          <p:cNvPr id="410" name=""/>
          <p:cNvSpPr/>
          <p:nvPr/>
        </p:nvSpPr>
        <p:spPr>
          <a:xfrm>
            <a:off x="6044184" y="4306824"/>
            <a:ext cx="2679192" cy="502920"/>
          </a:xfrm>
          <a:prstGeom prst="rect">
            <a:avLst/>
          </a:prstGeom>
          <a:solidFill>
            <a:srgbClr val="1A2E42"/>
          </a:solidFill>
          <a:ln w="12700">
            <a:solidFill>
              <a:srgbClr val="2D4A61"/>
            </a:solidFill>
            <a:prstDash val="solid"/>
          </a:ln>
        </p:spPr>
      </p:sp>
      <p:sp>
        <p:nvSpPr>
          <p:cNvPr id="411" name=""/>
          <p:cNvSpPr/>
          <p:nvPr/>
        </p:nvSpPr>
        <p:spPr>
          <a:xfrm>
            <a:off x="6044184" y="4306824"/>
            <a:ext cx="26791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2" name=""/>
          <p:cNvSpPr/>
          <p:nvPr/>
        </p:nvSpPr>
        <p:spPr>
          <a:xfrm>
            <a:off x="6044184" y="4306824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5" name=""/>
          <p:cNvSpPr/>
          <p:nvPr/>
        </p:nvSpPr>
        <p:spPr>
          <a:xfrm>
            <a:off x="6172200" y="4396968"/>
            <a:ext cx="243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Y35万</a:t>
            </a:r>
          </a:p>
        </p:txBody>
      </p:sp>
      <p:sp>
        <p:nvSpPr>
          <p:cNvPr id="416" name=""/>
          <p:cNvSpPr/>
          <p:nvPr/>
        </p:nvSpPr>
        <p:spPr>
          <a:xfrm>
            <a:off x="6172200" y="4672584"/>
            <a:ext cx="243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宇树2025均价</a:t>
            </a:r>
          </a:p>
        </p:txBody>
      </p:sp>
      <p:sp>
        <p:nvSpPr>
          <p:cNvPr id="417" name=""/>
          <p:cNvSpPr/>
          <p:nvPr/>
        </p:nvSpPr>
        <p:spPr>
          <a:xfrm>
            <a:off x="6172200" y="4855464"/>
            <a:ext cx="2432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含研发摊销，出口均价$25K</a:t>
            </a:r>
          </a:p>
        </p:txBody>
      </p:sp>
      <p:sp>
        <p:nvSpPr>
          <p:cNvPr id="203" name=""/>
          <p:cNvSpPr/>
          <p:nvPr/>
        </p:nvSpPr>
        <p:spPr>
          <a:xfrm>
            <a:off x="0" y="4811808"/>
            <a:ext cx="9144000" cy="332268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04" name=""/>
          <p:cNvSpPr/>
          <p:nvPr/>
        </p:nvSpPr>
        <p:spPr>
          <a:xfrm>
            <a:off x="502920" y="484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</a:p>
        </p:txBody>
      </p:sp>
      <p:sp>
        <p:nvSpPr>
          <p:cNvPr id="205" name=""/>
          <p:cNvSpPr/>
          <p:nvPr/>
        </p:nvSpPr>
        <p:spPr>
          <a:xfrm>
            <a:off x="8321040" y="4849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7  -  供应链收敛时间线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12801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1" name=""/>
          <p:cNvSpPr/>
          <p:nvPr/>
        </p:nvSpPr>
        <p:spPr>
          <a:xfrm>
            <a:off x="502920" y="12801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-  供应链收敛时间线</a:t>
            </a:r>
          </a:p>
        </p:txBody>
      </p:sp>
      <p:sp>
        <p:nvSpPr>
          <p:cNvPr id="202" name=""/>
          <p:cNvSpPr/>
          <p:nvPr/>
        </p:nvSpPr>
        <p:spPr>
          <a:xfrm>
            <a:off x="50292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蛰伏  &gt;&gt;  2025 爆发  &gt;&gt;  2027 收敛  &gt;&gt;  2028+ 成熟</a:t>
            </a:r>
          </a:p>
        </p:txBody>
      </p:sp>
      <p:sp>
        <p:nvSpPr>
          <p:cNvPr id="200" name=""/>
          <p:cNvSpPr/>
          <p:nvPr/>
        </p:nvSpPr>
        <p:spPr>
          <a:xfrm>
            <a:off x="914400" y="1100000"/>
            <a:ext cx="54864" cy="3500000"/>
          </a:xfrm>
          <a:prstGeom prst="rect">
            <a:avLst/>
          </a:prstGeom>
          <a:solidFill>
            <a:srgbClr val="2D4A61"/>
          </a:solidFill>
          <a:ln/>
        </p:spPr>
      </p:sp>
      <p:sp>
        <p:nvSpPr>
          <p:cNvPr id="210" name=""/>
          <p:cNvSpPr/>
          <p:nvPr/>
        </p:nvSpPr>
        <p:spPr>
          <a:xfrm>
            <a:off x="731520" y="1100000"/>
            <a:ext cx="731520" cy="7315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20" name=""/>
          <p:cNvSpPr/>
          <p:nvPr/>
        </p:nvSpPr>
        <p:spPr>
          <a:xfrm>
            <a:off x="1828800" y="1100000"/>
            <a:ext cx="182880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25" name=""/>
          <p:cNvSpPr/>
          <p:nvPr/>
        </p:nvSpPr>
        <p:spPr>
          <a:xfrm>
            <a:off x="1917600" y="1100000"/>
            <a:ext cx="17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2023-2024</a:t>
            </a:r>
          </a:p>
        </p:txBody>
      </p:sp>
      <p:sp>
        <p:nvSpPr>
          <p:cNvPr id="229" name=""/>
          <p:cNvSpPr/>
          <p:nvPr/>
        </p:nvSpPr>
        <p:spPr>
          <a:xfrm>
            <a:off x="1917600" y="1392608"/>
            <a:ext cx="17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蛰伏期</a:t>
            </a:r>
          </a:p>
        </p:txBody>
      </p:sp>
      <p:sp>
        <p:nvSpPr>
          <p:cNvPr id="230" name=""/>
          <p:cNvSpPr/>
          <p:nvPr/>
        </p:nvSpPr>
        <p:spPr>
          <a:xfrm>
            <a:off x="3826800" y="155648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Figure AI 成立，$675M融资</a:t>
            </a:r>
          </a:p>
        </p:txBody>
      </p:sp>
      <p:sp>
        <p:nvSpPr>
          <p:cNvPr id="231" name=""/>
          <p:cNvSpPr/>
          <p:nvPr/>
        </p:nvSpPr>
        <p:spPr>
          <a:xfrm>
            <a:off x="3826800" y="169364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Boston Dynamics Atlas停产液压版</a:t>
            </a:r>
          </a:p>
        </p:txBody>
      </p:sp>
      <p:sp>
        <p:nvSpPr>
          <p:cNvPr id="232" name=""/>
          <p:cNvSpPr/>
          <p:nvPr/>
        </p:nvSpPr>
        <p:spPr>
          <a:xfrm>
            <a:off x="3826800" y="183080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宇树H1量产，500台</a:t>
            </a:r>
          </a:p>
        </p:txBody>
      </p:sp>
      <p:sp>
        <p:nvSpPr>
          <p:cNvPr id="233" name=""/>
          <p:cNvSpPr/>
          <p:nvPr/>
        </p:nvSpPr>
        <p:spPr>
          <a:xfrm>
            <a:off x="3826800" y="196796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特斯拉Optimus首亮相</a:t>
            </a:r>
          </a:p>
        </p:txBody>
      </p:sp>
      <p:sp>
        <p:nvSpPr>
          <p:cNvPr id="234" name=""/>
          <p:cNvSpPr/>
          <p:nvPr/>
        </p:nvSpPr>
        <p:spPr>
          <a:xfrm>
            <a:off x="3826800" y="210512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Figure AI+OpenAI/微软合作</a:t>
            </a:r>
          </a:p>
        </p:txBody>
      </p:sp>
      <p:sp>
        <p:nvSpPr>
          <p:cNvPr id="211" name=""/>
          <p:cNvSpPr/>
          <p:nvPr/>
        </p:nvSpPr>
        <p:spPr>
          <a:xfrm>
            <a:off x="731520" y="1978280"/>
            <a:ext cx="731520" cy="7315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21" name=""/>
          <p:cNvSpPr/>
          <p:nvPr/>
        </p:nvSpPr>
        <p:spPr>
          <a:xfrm>
            <a:off x="1828800" y="1978280"/>
            <a:ext cx="182880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26" name=""/>
          <p:cNvSpPr/>
          <p:nvPr/>
        </p:nvSpPr>
        <p:spPr>
          <a:xfrm>
            <a:off x="1917600" y="1978280"/>
            <a:ext cx="17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</a:p>
        </p:txBody>
      </p:sp>
      <p:sp>
        <p:nvSpPr>
          <p:cNvPr id="230" name=""/>
          <p:cNvSpPr/>
          <p:nvPr/>
        </p:nvSpPr>
        <p:spPr>
          <a:xfrm>
            <a:off x="1917600" y="2270888"/>
            <a:ext cx="17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爆发期</a:t>
            </a:r>
          </a:p>
        </p:txBody>
      </p:sp>
      <p:sp>
        <p:nvSpPr>
          <p:cNvPr id="235" name=""/>
          <p:cNvSpPr/>
          <p:nvPr/>
        </p:nvSpPr>
        <p:spPr>
          <a:xfrm>
            <a:off x="3826800" y="243476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宇树5500台出货量，全球第一</a:t>
            </a:r>
          </a:p>
        </p:txBody>
      </p:sp>
      <p:sp>
        <p:nvSpPr>
          <p:cNvPr id="236" name=""/>
          <p:cNvSpPr/>
          <p:nvPr/>
        </p:nvSpPr>
        <p:spPr>
          <a:xfrm>
            <a:off x="3826800" y="257192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Figure 02/Optimus新进展</a:t>
            </a:r>
          </a:p>
        </p:txBody>
      </p:sp>
      <p:sp>
        <p:nvSpPr>
          <p:cNvPr id="237" name=""/>
          <p:cNvSpPr/>
          <p:nvPr/>
        </p:nvSpPr>
        <p:spPr>
          <a:xfrm>
            <a:off x="3826800" y="270908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Figure AI+BMW试点启动</a:t>
            </a:r>
          </a:p>
        </p:txBody>
      </p:sp>
      <p:sp>
        <p:nvSpPr>
          <p:cNvPr id="238" name=""/>
          <p:cNvSpPr/>
          <p:nvPr/>
        </p:nvSpPr>
        <p:spPr>
          <a:xfrm>
            <a:off x="3826800" y="284624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Agility+亚马逊仓库试点</a:t>
            </a:r>
          </a:p>
        </p:txBody>
      </p:sp>
      <p:sp>
        <p:nvSpPr>
          <p:cNvPr id="239" name=""/>
          <p:cNvSpPr/>
          <p:nvPr/>
        </p:nvSpPr>
        <p:spPr>
          <a:xfrm>
            <a:off x="3826800" y="298340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国产谐波减速器小批量量产</a:t>
            </a:r>
          </a:p>
        </p:txBody>
      </p:sp>
      <p:sp>
        <p:nvSpPr>
          <p:cNvPr id="212" name=""/>
          <p:cNvSpPr/>
          <p:nvPr/>
        </p:nvSpPr>
        <p:spPr>
          <a:xfrm>
            <a:off x="731520" y="2856560"/>
            <a:ext cx="731520" cy="7315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2" name=""/>
          <p:cNvSpPr/>
          <p:nvPr/>
        </p:nvSpPr>
        <p:spPr>
          <a:xfrm>
            <a:off x="1828800" y="2856560"/>
            <a:ext cx="182880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27" name=""/>
          <p:cNvSpPr/>
          <p:nvPr/>
        </p:nvSpPr>
        <p:spPr>
          <a:xfrm>
            <a:off x="1917600" y="2856560"/>
            <a:ext cx="17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2026-2027</a:t>
            </a:r>
          </a:p>
        </p:txBody>
      </p:sp>
      <p:sp>
        <p:nvSpPr>
          <p:cNvPr id="231" name=""/>
          <p:cNvSpPr/>
          <p:nvPr/>
        </p:nvSpPr>
        <p:spPr>
          <a:xfrm>
            <a:off x="1917600" y="3149168"/>
            <a:ext cx="17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收敛期</a:t>
            </a:r>
          </a:p>
        </p:txBody>
      </p:sp>
      <p:sp>
        <p:nvSpPr>
          <p:cNvPr id="240" name=""/>
          <p:cNvSpPr/>
          <p:nvPr/>
        </p:nvSpPr>
        <p:spPr>
          <a:xfrm>
            <a:off x="3826800" y="331304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国产谐波/丝杠批量替代</a:t>
            </a:r>
          </a:p>
        </p:txBody>
      </p:sp>
      <p:sp>
        <p:nvSpPr>
          <p:cNvPr id="241" name=""/>
          <p:cNvSpPr/>
          <p:nvPr/>
        </p:nvSpPr>
        <p:spPr>
          <a:xfrm>
            <a:off x="3826800" y="345020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宇树IPO，产能扩至7.5万台/年</a:t>
            </a:r>
          </a:p>
        </p:txBody>
      </p:sp>
      <p:sp>
        <p:nvSpPr>
          <p:cNvPr id="242" name=""/>
          <p:cNvSpPr/>
          <p:nvPr/>
        </p:nvSpPr>
        <p:spPr>
          <a:xfrm>
            <a:off x="3826800" y="358736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Figure/Agility规模化部署</a:t>
            </a:r>
          </a:p>
        </p:txBody>
      </p:sp>
      <p:sp>
        <p:nvSpPr>
          <p:cNvPr id="243" name=""/>
          <p:cNvSpPr/>
          <p:nvPr/>
        </p:nvSpPr>
        <p:spPr>
          <a:xfrm>
            <a:off x="3826800" y="372452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特斯拉Optimus千台部署</a:t>
            </a:r>
          </a:p>
        </p:txBody>
      </p:sp>
      <p:sp>
        <p:nvSpPr>
          <p:cNvPr id="244" name=""/>
          <p:cNvSpPr/>
          <p:nvPr/>
        </p:nvSpPr>
        <p:spPr>
          <a:xfrm>
            <a:off x="3826800" y="386168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成本曲线趋同，中国保持55%优势</a:t>
            </a:r>
          </a:p>
        </p:txBody>
      </p:sp>
      <p:sp>
        <p:nvSpPr>
          <p:cNvPr id="213" name=""/>
          <p:cNvSpPr/>
          <p:nvPr/>
        </p:nvSpPr>
        <p:spPr>
          <a:xfrm>
            <a:off x="731520" y="3734840"/>
            <a:ext cx="731520" cy="7315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3" name=""/>
          <p:cNvSpPr/>
          <p:nvPr/>
        </p:nvSpPr>
        <p:spPr>
          <a:xfrm>
            <a:off x="1828800" y="3734840"/>
            <a:ext cx="182880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28" name=""/>
          <p:cNvSpPr/>
          <p:nvPr/>
        </p:nvSpPr>
        <p:spPr>
          <a:xfrm>
            <a:off x="1917600" y="3734840"/>
            <a:ext cx="17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</a:p>
        </p:txBody>
      </p:sp>
      <p:sp>
        <p:nvSpPr>
          <p:cNvPr id="232" name=""/>
          <p:cNvSpPr/>
          <p:nvPr/>
        </p:nvSpPr>
        <p:spPr>
          <a:xfrm>
            <a:off x="1917600" y="4027448"/>
            <a:ext cx="17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</a:t>
            </a:r>
          </a:p>
        </p:txBody>
      </p:sp>
      <p:sp>
        <p:nvSpPr>
          <p:cNvPr id="245" name=""/>
          <p:cNvSpPr/>
          <p:nvPr/>
        </p:nvSpPr>
        <p:spPr>
          <a:xfrm>
            <a:off x="3826800" y="419132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中国完整供应链生态形成</a:t>
            </a:r>
          </a:p>
        </p:txBody>
      </p:sp>
      <p:sp>
        <p:nvSpPr>
          <p:cNvPr id="246" name=""/>
          <p:cNvSpPr/>
          <p:nvPr/>
        </p:nvSpPr>
        <p:spPr>
          <a:xfrm>
            <a:off x="3826800" y="432848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全球百万台出货临界点</a:t>
            </a:r>
          </a:p>
        </p:txBody>
      </p:sp>
      <p:sp>
        <p:nvSpPr>
          <p:cNvPr id="247" name=""/>
          <p:cNvSpPr/>
          <p:nvPr/>
        </p:nvSpPr>
        <p:spPr>
          <a:xfrm>
            <a:off x="3826800" y="446564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美国AI平台+中国制造分工</a:t>
            </a:r>
          </a:p>
        </p:txBody>
      </p:sp>
      <p:sp>
        <p:nvSpPr>
          <p:cNvPr id="248" name=""/>
          <p:cNvSpPr/>
          <p:nvPr/>
        </p:nvSpPr>
        <p:spPr>
          <a:xfrm>
            <a:off x="3826800" y="460280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人形机器人走进工业/服务业</a:t>
            </a:r>
          </a:p>
        </p:txBody>
      </p:sp>
      <p:sp>
        <p:nvSpPr>
          <p:cNvPr id="249" name=""/>
          <p:cNvSpPr/>
          <p:nvPr/>
        </p:nvSpPr>
        <p:spPr>
          <a:xfrm>
            <a:off x="3826800" y="4739960"/>
            <a:ext cx="650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产业格局定型</a:t>
            </a:r>
          </a:p>
        </p:txBody>
      </p:sp>
      <p:sp>
        <p:nvSpPr>
          <p:cNvPr id="870" name=""/>
          <p:cNvSpPr/>
          <p:nvPr/>
        </p:nvSpPr>
        <p:spPr>
          <a:xfrm>
            <a:off x="502920" y="4619808"/>
            <a:ext cx="8229600" cy="365760"/>
          </a:xfrm>
          <a:prstGeom prst="rect">
            <a:avLst/>
          </a:prstGeom>
          <a:solidFill>
            <a:srgbClr val="0D2035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871" name=""/>
          <p:cNvSpPr/>
          <p:nvPr/>
        </p:nvSpPr>
        <p:spPr>
          <a:xfrm>
            <a:off x="640080" y="4637208"/>
            <a:ext cx="788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关键结论: 2027供应链收敛后，中国制造优势将转化为全球成本定价权，AI平台竞争格局决定长期利润分配</a:t>
            </a:r>
          </a:p>
        </p:txBody>
      </p:sp>
      <p:sp>
        <p:nvSpPr>
          <p:cNvPr id="203" name=""/>
          <p:cNvSpPr/>
          <p:nvPr/>
        </p:nvSpPr>
        <p:spPr>
          <a:xfrm>
            <a:off x="0" y="4811808"/>
            <a:ext cx="9144000" cy="332268"/>
          </a:xfrm>
          <a:prstGeom prst="rect">
            <a:avLst/>
          </a:prstGeom>
          <a:solidFill>
            <a:srgbClr val="111D2B"/>
          </a:solidFill>
          <a:ln w="12700">
            <a:solidFill>
              <a:srgbClr val="True"/>
            </a:solidFill>
            <a:prstDash val="solid"/>
          </a:ln>
        </p:spPr>
      </p:sp>
      <p:sp>
        <p:nvSpPr>
          <p:cNvPr id="204" name=""/>
          <p:cNvSpPr/>
          <p:nvPr/>
        </p:nvSpPr>
        <p:spPr>
          <a:xfrm>
            <a:off x="502920" y="484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AMORA Insights  |  Humanoid Robot Index 2026  |  Data Cut-off: Q1 2026</a:t>
            </a:r>
          </a:p>
        </p:txBody>
      </p:sp>
      <p:sp>
        <p:nvSpPr>
          <p:cNvPr id="205" name=""/>
          <p:cNvSpPr/>
          <p:nvPr/>
        </p:nvSpPr>
        <p:spPr>
          <a:xfrm>
            <a:off x="8321040" y="4849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Humanoid Robot Index 2026</dc:title>
  <dc:subject>Global humanoid robot industry benchmarking - Expanded 22 Slides</dc:subject>
  <dc:creator>AMORA Insights</dc:creator>
  <cp:lastModifiedBy>AMORA Insights</cp:lastModifiedBy>
  <cp:revision>1</cp:revision>
  <dcterms:created xsi:type="dcterms:W3CDTF">2026-04-04T08:53:51Z</dcterms:created>
  <dcterms:modified xsi:type="dcterms:W3CDTF">2026-04-04T08:53:51Z</dcterms:modified>
</cp:coreProperties>
</file>