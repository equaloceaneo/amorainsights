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8" r:id="rId29"/>
    <p:sldId id="279" r:id="rId30"/>
    <p:sldId id="280" r:id="rId31"/>
    <p:sldId id="281" r:id="rId32"/>
    <p:sldId id="282" r:id="rId33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7315"/>
          </a:xfrm>
          <a:prstGeom prst="rect">
            <a:avLst/>
          </a:prstGeom>
          <a:solidFill>
            <a:srgbClr val="2D4A61">
              <a:alpha val="30000"/>
            </a:srgbClr>
          </a:solidFill>
          <a:ln w="12700">
            <a:solidFill>
              <a:srgbClr val="2D4A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9728" y="868680"/>
            <a:ext cx="9034272" cy="7315"/>
          </a:xfrm>
          <a:prstGeom prst="rect">
            <a:avLst/>
          </a:prstGeom>
          <a:solidFill>
            <a:srgbClr val="2D4A61">
              <a:alpha val="30000"/>
            </a:srgbClr>
          </a:solidFill>
          <a:ln w="12700">
            <a:solidFill>
              <a:srgbClr val="2D4A6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728" y="1737360"/>
            <a:ext cx="9034272" cy="7315"/>
          </a:xfrm>
          <a:prstGeom prst="rect">
            <a:avLst/>
          </a:prstGeom>
          <a:solidFill>
            <a:srgbClr val="2D4A61">
              <a:alpha val="30000"/>
            </a:srgbClr>
          </a:solidFill>
          <a:ln w="12700">
            <a:solidFill>
              <a:srgbClr val="2D4A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728" y="2606040"/>
            <a:ext cx="9034272" cy="7315"/>
          </a:xfrm>
          <a:prstGeom prst="rect">
            <a:avLst/>
          </a:prstGeom>
          <a:solidFill>
            <a:srgbClr val="2D4A61">
              <a:alpha val="30000"/>
            </a:srgbClr>
          </a:solidFill>
          <a:ln w="12700">
            <a:solidFill>
              <a:srgbClr val="2D4A6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" y="3474720"/>
            <a:ext cx="9034272" cy="7315"/>
          </a:xfrm>
          <a:prstGeom prst="rect">
            <a:avLst/>
          </a:prstGeom>
          <a:solidFill>
            <a:srgbClr val="2D4A61">
              <a:alpha val="30000"/>
            </a:srgbClr>
          </a:solidFill>
          <a:ln w="12700">
            <a:solidFill>
              <a:srgbClr val="2D4A6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9728" y="4343400"/>
            <a:ext cx="9034272" cy="7315"/>
          </a:xfrm>
          <a:prstGeom prst="rect">
            <a:avLst/>
          </a:prstGeom>
          <a:solidFill>
            <a:srgbClr val="2D4A61">
              <a:alpha val="30000"/>
            </a:srgbClr>
          </a:solidFill>
          <a:ln w="12700">
            <a:solidFill>
              <a:srgbClr val="2D4A6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0" y="731520"/>
            <a:ext cx="109728" cy="109728"/>
          </a:xfrm>
          <a:prstGeom prst="ellipse">
            <a:avLst/>
          </a:prstGeom>
          <a:solidFill>
            <a:srgbClr val="00B4D8">
              <a:alpha val="10000"/>
            </a:srgbClr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06640" y="1188720"/>
            <a:ext cx="73152" cy="73152"/>
          </a:xfrm>
          <a:prstGeom prst="ellipse">
            <a:avLst/>
          </a:prstGeom>
          <a:solidFill>
            <a:srgbClr val="90E0EF">
              <a:alpha val="20000"/>
            </a:srgbClr>
          </a:solidFill>
          <a:ln w="12700">
            <a:solidFill>
              <a:srgbClr val="90E0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132320" y="1645920"/>
            <a:ext cx="137160" cy="137160"/>
          </a:xfrm>
          <a:prstGeom prst="ellipse">
            <a:avLst/>
          </a:prstGeom>
          <a:solidFill>
            <a:srgbClr val="FFD166">
              <a:alpha val="15000"/>
            </a:srgbClr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72400" y="1920240"/>
            <a:ext cx="54864" cy="54864"/>
          </a:xfrm>
          <a:prstGeom prst="ellipse">
            <a:avLst/>
          </a:prstGeom>
          <a:solidFill>
            <a:srgbClr val="C77DFF">
              <a:alpha val="25000"/>
            </a:srgbClr>
          </a:solidFill>
          <a:ln w="12700">
            <a:solidFill>
              <a:srgbClr val="C77D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675120" y="2286000"/>
            <a:ext cx="91440" cy="91440"/>
          </a:xfrm>
          <a:prstGeom prst="ellipse">
            <a:avLst/>
          </a:prstGeom>
          <a:solidFill>
            <a:srgbClr val="06D6A0">
              <a:alpha val="20000"/>
            </a:srgbClr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0" y="457200"/>
            <a:ext cx="64008" cy="64008"/>
          </a:xfrm>
          <a:prstGeom prst="ellipse">
            <a:avLst/>
          </a:prstGeom>
          <a:solidFill>
            <a:srgbClr val="FF9F1C">
              <a:alpha val="30000"/>
            </a:srgbClr>
          </a:solidFill>
          <a:ln w="12700">
            <a:solidFill>
              <a:srgbClr val="FF9F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" y="594360"/>
            <a:ext cx="2560320" cy="384048"/>
          </a:xfrm>
          <a:prstGeom prst="rect">
            <a:avLst/>
          </a:prstGeom>
          <a:solidFill>
            <a:srgbClr val="0077A8"/>
          </a:solidFill>
          <a:ln w="12700">
            <a:solidFill>
              <a:srgbClr val="2D4A6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02920" y="59436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INTELLIGENCE REPORT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02920" y="11430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Humanoid</a:t>
            </a:r>
            <a:endParaRPr lang="en-US" sz="5400" dirty="0"/>
          </a:p>
        </p:txBody>
      </p:sp>
      <p:sp>
        <p:nvSpPr>
          <p:cNvPr id="18" name="Text 16"/>
          <p:cNvSpPr/>
          <p:nvPr/>
        </p:nvSpPr>
        <p:spPr>
          <a:xfrm>
            <a:off x="502920" y="196596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Robot Index</a:t>
            </a:r>
            <a:endParaRPr lang="en-US" sz="5400" dirty="0"/>
          </a:p>
        </p:txBody>
      </p:sp>
      <p:sp>
        <p:nvSpPr>
          <p:cNvPr id="19" name="Text 17"/>
          <p:cNvSpPr/>
          <p:nvPr/>
        </p:nvSpPr>
        <p:spPr>
          <a:xfrm>
            <a:off x="502920" y="278892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D1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2026</a:t>
            </a:r>
            <a:endParaRPr lang="en-US" sz="5400" dirty="0"/>
          </a:p>
        </p:txBody>
      </p:sp>
      <p:sp>
        <p:nvSpPr>
          <p:cNvPr id="20" name="Text 18"/>
          <p:cNvSpPr/>
          <p:nvPr/>
        </p:nvSpPr>
        <p:spPr>
          <a:xfrm>
            <a:off x="502920" y="358444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Who's Actually Winning?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502920" y="3950208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Cross-Border Benchmarking of 25 Global Players Across the Full Value Chain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" y="480974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AMORA Insights  |  Humanoid Robot Index 2026  |  Data Cut-off: Q1 2026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321040" y="480974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22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28016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1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Contents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73152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AMORA Report Framework — 5 Dimensions | 22 Slides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115568"/>
            <a:ext cx="8138160" cy="621792"/>
          </a:xfrm>
          <a:prstGeom prst="rect">
            <a:avLst/>
          </a:prstGeom>
          <a:solidFill>
            <a:srgbClr val="1A2E42"/>
          </a:solidFill>
          <a:ln w="12700">
            <a:solidFill>
              <a:srgbClr val="2D4A6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115568"/>
            <a:ext cx="54864" cy="62179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207008"/>
            <a:ext cx="402336" cy="40233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2070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70432" y="1179576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Advancement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70432" y="1481328"/>
            <a:ext cx="7132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技术先进性 — 世界模型 · 端到端控制 · 灵巧手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02920" y="1792224"/>
            <a:ext cx="8138160" cy="621792"/>
          </a:xfrm>
          <a:prstGeom prst="rect">
            <a:avLst/>
          </a:prstGeom>
          <a:solidFill>
            <a:srgbClr val="1A2E42"/>
          </a:solidFill>
          <a:ln w="12700">
            <a:solidFill>
              <a:srgbClr val="2D4A6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02920" y="1792224"/>
            <a:ext cx="54864" cy="621792"/>
          </a:xfrm>
          <a:prstGeom prst="rect">
            <a:avLst/>
          </a:prstGeom>
          <a:solidFill>
            <a:srgbClr val="90E0EF"/>
          </a:solidFill>
          <a:ln w="12700">
            <a:solidFill>
              <a:srgbClr val="90E0E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1883664"/>
            <a:ext cx="402336" cy="402336"/>
          </a:xfrm>
          <a:prstGeom prst="rect">
            <a:avLst/>
          </a:prstGeom>
          <a:solidFill>
            <a:srgbClr val="90E0EF"/>
          </a:solidFill>
          <a:ln w="12700">
            <a:solidFill>
              <a:srgbClr val="90E0E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18836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70432" y="185623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Mapping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170432" y="2157984"/>
            <a:ext cx="7132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产业链生态位 — 供应链全景 · 卡脖子清单 · 中美对比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" y="2468880"/>
            <a:ext cx="8138160" cy="621792"/>
          </a:xfrm>
          <a:prstGeom prst="rect">
            <a:avLst/>
          </a:prstGeom>
          <a:solidFill>
            <a:srgbClr val="1A2E42"/>
          </a:solidFill>
          <a:ln w="12700">
            <a:solidFill>
              <a:srgbClr val="2D4A6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02920" y="2468880"/>
            <a:ext cx="54864" cy="621792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2560320"/>
            <a:ext cx="402336" cy="402336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2560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170432" y="253288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Operations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170432" y="2834640"/>
            <a:ext cx="7132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商业化运营 — 四大场景 · 客户结构 · ROI分析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145536"/>
            <a:ext cx="8138160" cy="621792"/>
          </a:xfrm>
          <a:prstGeom prst="rect">
            <a:avLst/>
          </a:prstGeom>
          <a:solidFill>
            <a:srgbClr val="1A2E42"/>
          </a:solidFill>
          <a:ln w="12700">
            <a:solidFill>
              <a:srgbClr val="2D4A6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02920" y="3145536"/>
            <a:ext cx="54864" cy="621792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3236976"/>
            <a:ext cx="402336" cy="402336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32369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170432" y="3209544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Reach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170432" y="3511296"/>
            <a:ext cx="7132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市场容量 — 三情景预测 · 细分市场 · 全球化策略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2920" y="3822192"/>
            <a:ext cx="8138160" cy="621792"/>
          </a:xfrm>
          <a:prstGeom prst="rect">
            <a:avLst/>
          </a:prstGeom>
          <a:solidFill>
            <a:srgbClr val="1A2E42"/>
          </a:solidFill>
          <a:ln w="12700">
            <a:solidFill>
              <a:srgbClr val="2D4A6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02920" y="3822192"/>
            <a:ext cx="54864" cy="621792"/>
          </a:xfrm>
          <a:prstGeom prst="rec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080" y="3913632"/>
            <a:ext cx="402336" cy="402336"/>
          </a:xfrm>
          <a:prstGeom prst="rec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39136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A2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170432" y="38862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Assets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170432" y="4187952"/>
            <a:ext cx="7132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资本价值 — 财务对比 · 估值矩阵 · 投资建议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02920" y="480974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AMORA Insights  |  Humanoid Robot Index 2026  |  Data Cut-off: Q1 2026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8321040" y="480974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28016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1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Executive Summary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73152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Key Findings  |  Industry Rating 7.2/10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115568"/>
            <a:ext cx="8138160" cy="530352"/>
          </a:xfrm>
          <a:prstGeom prst="rect">
            <a:avLst/>
          </a:prstGeom>
          <a:solidFill>
            <a:srgbClr val="0077A8"/>
          </a:solidFill>
          <a:ln w="12700">
            <a:solidFill>
              <a:srgbClr val="2D4A6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1430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"Only 3 of 25 tracked companies have deployed 50+ units in real-world settings. The rest are still selling demos."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1783080"/>
            <a:ext cx="8138160" cy="850392"/>
          </a:xfrm>
          <a:prstGeom prst="rect">
            <a:avLst/>
          </a:prstGeom>
          <a:solidFill>
            <a:srgbClr val="1A2E42"/>
          </a:solidFill>
          <a:ln w="12700">
            <a:solidFill>
              <a:srgbClr val="2D4A6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783080"/>
            <a:ext cx="54864" cy="85039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002536"/>
            <a:ext cx="402336" cy="40233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0025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1874520"/>
            <a:ext cx="7406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中国赢在制造密度，美国赢在算法深度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70432" y="224028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叙事已不完整：中国正快速补齐算法短板，美国制造护城河被供应链空心化侵蚀。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2743200"/>
            <a:ext cx="8138160" cy="850392"/>
          </a:xfrm>
          <a:prstGeom prst="rect">
            <a:avLst/>
          </a:prstGeom>
          <a:solidFill>
            <a:srgbClr val="1A2E42"/>
          </a:solidFill>
          <a:ln w="12700">
            <a:solidFill>
              <a:srgbClr val="2D4A6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02920" y="2743200"/>
            <a:ext cx="54864" cy="850392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962656"/>
            <a:ext cx="402336" cy="402336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62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2834640"/>
            <a:ext cx="7406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真正拉开差距的不是硬件参数，是数据闭环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70432" y="320040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谁能更快积累真实场景运行数据，谁就掌握了训练下一代模型的主动权。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02920" y="3703320"/>
            <a:ext cx="8138160" cy="850392"/>
          </a:xfrm>
          <a:prstGeom prst="rect">
            <a:avLst/>
          </a:prstGeom>
          <a:solidFill>
            <a:srgbClr val="1A2E42"/>
          </a:solidFill>
          <a:ln w="12700">
            <a:solidFill>
              <a:srgbClr val="2D4A6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02920" y="3703320"/>
            <a:ext cx="54864" cy="850392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3922776"/>
            <a:ext cx="402336" cy="402336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9227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170432" y="3794760"/>
            <a:ext cx="7406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关键变量：商业化复制成本，而非技术迭代速度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170432" y="416052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能否从1台原型机做到100台部署，是目前所有玩家面临的共同瓶颈。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02920" y="4617720"/>
            <a:ext cx="1920240" cy="438912"/>
          </a:xfrm>
          <a:prstGeom prst="rect">
            <a:avLst/>
          </a:prstGeom>
          <a:solidFill>
            <a:srgbClr val="1A2E42"/>
          </a:solidFill>
          <a:ln w="6350">
            <a:solidFill>
              <a:srgbClr val="2D4A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02920" y="4617720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554480" y="4617720"/>
            <a:ext cx="822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追踪企业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606040" y="4617720"/>
            <a:ext cx="1920240" cy="438912"/>
          </a:xfrm>
          <a:prstGeom prst="rect">
            <a:avLst/>
          </a:prstGeom>
          <a:solidFill>
            <a:srgbClr val="1A2E42"/>
          </a:solidFill>
          <a:ln w="6350">
            <a:solidFill>
              <a:srgbClr val="2D4A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606040" y="4617720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7.2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3657600" y="4617720"/>
            <a:ext cx="822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行业评分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709160" y="4617720"/>
            <a:ext cx="1920240" cy="438912"/>
          </a:xfrm>
          <a:prstGeom prst="rect">
            <a:avLst/>
          </a:prstGeom>
          <a:solidFill>
            <a:srgbClr val="1A2E42"/>
          </a:solidFill>
          <a:ln w="6350">
            <a:solidFill>
              <a:srgbClr val="2D4A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709160" y="4617720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5760720" y="4617720"/>
            <a:ext cx="822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应用场景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812280" y="4617720"/>
            <a:ext cx="1920240" cy="438912"/>
          </a:xfrm>
          <a:prstGeom prst="rect">
            <a:avLst/>
          </a:prstGeom>
          <a:solidFill>
            <a:srgbClr val="1A2E42"/>
          </a:solidFill>
          <a:ln w="6350">
            <a:solidFill>
              <a:srgbClr val="2D4A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812280" y="4617720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2030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7863840" y="4617720"/>
            <a:ext cx="822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规模节点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2920" y="480974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AMORA Insights  |  Humanoid Robot Index 2026  |  Data Cut-off: Q1 2026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8321040" y="480974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28016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1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 — Advancement  世界模型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73152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 3D 场景表征 · Sim2Real Gap · 中美算力竞赛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115568"/>
            <a:ext cx="3840480" cy="3584448"/>
          </a:xfrm>
          <a:prstGeom prst="rect">
            <a:avLst/>
          </a:prstGeom>
          <a:solidFill>
            <a:srgbClr val="1A2E42"/>
          </a:solidFill>
          <a:ln w="12700">
            <a:solidFill>
              <a:srgbClr val="2D4A6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115568"/>
            <a:ext cx="3840480" cy="640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22529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什么是世界模型？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1600200"/>
            <a:ext cx="3566160" cy="18288"/>
          </a:xfrm>
          <a:prstGeom prst="rect">
            <a:avLst/>
          </a:prstGeom>
          <a:solidFill>
            <a:srgbClr val="2D4A61"/>
          </a:solidFill>
          <a:ln w="12700">
            <a:solidFill>
              <a:srgbClr val="2D4A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664208"/>
            <a:ext cx="35661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世界模型（World Model）是机器人感知、推理与物理交互的基础层。它让机器人理解三维空间、物理规律和因果关系，从而在未见过的场景中做出合理决策。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3D 场景重建：NeRF / Gaussian Splatting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物理仿真：NVIDIA Isaac Sim / Mujoco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数据引擎：Tesla Dojo / Figure AI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Sim2Real Gap：仿真与真实的泛化差距仍是最大挑战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26280" y="1115568"/>
            <a:ext cx="4114800" cy="530352"/>
          </a:xfrm>
          <a:prstGeom prst="rect">
            <a:avLst/>
          </a:prstGeom>
          <a:solidFill>
            <a:srgbClr val="1A2E42"/>
          </a:solidFill>
          <a:ln w="6350">
            <a:solidFill>
              <a:srgbClr val="2D4A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17720" y="118872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🇺🇸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120640" y="11887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Tesla Dojo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766560" y="1261872"/>
            <a:ext cx="54864" cy="256032"/>
          </a:xfrm>
          <a:prstGeom prst="rect">
            <a:avLst/>
          </a:prstGeom>
          <a:solidFill>
            <a:srgbClr val="FF9F1C"/>
          </a:solidFill>
          <a:ln w="12700">
            <a:solidFill>
              <a:srgbClr val="FF9F1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03720" y="11887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9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算力最强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26280" y="1691640"/>
            <a:ext cx="4114800" cy="530352"/>
          </a:xfrm>
          <a:prstGeom prst="rect">
            <a:avLst/>
          </a:prstGeom>
          <a:solidFill>
            <a:srgbClr val="1A2E42"/>
          </a:solidFill>
          <a:ln w="6350">
            <a:solidFill>
              <a:srgbClr val="2D4A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617720" y="176479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🇺🇸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120640" y="176479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 Isaac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766560" y="1837944"/>
            <a:ext cx="54864" cy="25603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03720" y="176479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仿真平台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26280" y="2267712"/>
            <a:ext cx="4114800" cy="530352"/>
          </a:xfrm>
          <a:prstGeom prst="rect">
            <a:avLst/>
          </a:prstGeom>
          <a:solidFill>
            <a:srgbClr val="1A2E42"/>
          </a:solidFill>
          <a:ln w="6350">
            <a:solidFill>
              <a:srgbClr val="2D4A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617720" y="234086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🇺🇸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120640" y="234086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AI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766560" y="2414016"/>
            <a:ext cx="54864" cy="256032"/>
          </a:xfrm>
          <a:prstGeom prst="rect">
            <a:avLst/>
          </a:prstGeom>
          <a:solidFill>
            <a:srgbClr val="90E0EF"/>
          </a:solidFill>
          <a:ln w="12700">
            <a:solidFill>
              <a:srgbClr val="90E0E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03720" y="234086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数据闭环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26280" y="2843784"/>
            <a:ext cx="4114800" cy="530352"/>
          </a:xfrm>
          <a:prstGeom prst="rect">
            <a:avLst/>
          </a:prstGeom>
          <a:solidFill>
            <a:srgbClr val="1A2E42"/>
          </a:solidFill>
          <a:ln w="6350">
            <a:solidFill>
              <a:srgbClr val="2D4A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617720" y="291693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🇨🇳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120640" y="2916936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宇树 Unitree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766560" y="2990088"/>
            <a:ext cx="54864" cy="256032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03720" y="2916936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快速追赶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526280" y="3419856"/>
            <a:ext cx="4114800" cy="530352"/>
          </a:xfrm>
          <a:prstGeom prst="rect">
            <a:avLst/>
          </a:prstGeom>
          <a:solidFill>
            <a:srgbClr val="1A2E42"/>
          </a:solidFill>
          <a:ln w="6350">
            <a:solidFill>
              <a:srgbClr val="2D4A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617720" y="34930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🇨🇳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120640" y="349300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智元 Agibot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766560" y="3566160"/>
            <a:ext cx="54864" cy="256032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903720" y="349300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强化学习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526280" y="3995928"/>
            <a:ext cx="4114800" cy="530352"/>
          </a:xfrm>
          <a:prstGeom prst="rect">
            <a:avLst/>
          </a:prstGeom>
          <a:solidFill>
            <a:srgbClr val="1A2E42"/>
          </a:solidFill>
          <a:ln w="6350">
            <a:solidFill>
              <a:srgbClr val="2D4A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4617720" y="40690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🇨🇳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20640" y="40690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傅利叶 Fourier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766560" y="4142232"/>
            <a:ext cx="54864" cy="256032"/>
          </a:xfrm>
          <a:prstGeom prst="rect">
            <a:avLst/>
          </a:prstGeom>
          <a:solidFill>
            <a:srgbClr val="C77DFF"/>
          </a:solidFill>
          <a:ln w="12700">
            <a:solidFill>
              <a:srgbClr val="C77D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903720" y="40690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77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医疗场景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02920" y="480974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AMORA Insights  |  Humanoid Robot Index 2026  |  Data Cut-off: Q1 2026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8321040" y="480974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28016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1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 — Advancement  端到端控制 &amp; 灵巧手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73152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VLA 架构 · 触觉反馈 · 23 DOF 临界点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115568"/>
            <a:ext cx="3840480" cy="3584448"/>
          </a:xfrm>
          <a:prstGeom prst="rect">
            <a:avLst/>
          </a:prstGeom>
          <a:solidFill>
            <a:srgbClr val="1A2E42"/>
          </a:solidFill>
          <a:ln w="12700">
            <a:solidFill>
              <a:srgbClr val="2D4A6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115568"/>
            <a:ext cx="3840480" cy="64008"/>
          </a:xfrm>
          <a:prstGeom prst="rect">
            <a:avLst/>
          </a:prstGeom>
          <a:solidFill>
            <a:srgbClr val="90E0EF"/>
          </a:solidFill>
          <a:ln w="12700">
            <a:solidFill>
              <a:srgbClr val="90E0E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22529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端到端控制 VLA 架构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1600200"/>
            <a:ext cx="3566160" cy="18288"/>
          </a:xfrm>
          <a:prstGeom prst="rect">
            <a:avLst/>
          </a:prstGeom>
          <a:solidFill>
            <a:srgbClr val="2D4A61"/>
          </a:solidFill>
          <a:ln w="12700">
            <a:solidFill>
              <a:srgbClr val="2D4A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664208"/>
            <a:ext cx="35661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VLA = Vision-Language-Action Model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视觉-语言-动作一体化，端到端输出关节控制信号，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无需人工设计控制层级。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代表进展：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Figure x OpenAI：Figure 01 展示多轮对话操控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Agility Robotics：Digit 仓库场景稳定部署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智元智元：强化学习控制精度提升 40%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Boston Dynamics：Atlas 电动版全面转向 AI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核心瓶颈：Sim2Real Gap 导致仿真中表现优异的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模型在真实场景泛化性能下降 30-50%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17720" y="1115568"/>
            <a:ext cx="4023360" cy="3584448"/>
          </a:xfrm>
          <a:prstGeom prst="rect">
            <a:avLst/>
          </a:prstGeom>
          <a:solidFill>
            <a:srgbClr val="1A2E42"/>
          </a:solidFill>
          <a:ln w="12700">
            <a:solidFill>
              <a:srgbClr val="2D4A6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17720" y="1115568"/>
            <a:ext cx="4023360" cy="64008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1225296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灵巧手 20-23 DOF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754880" y="1600200"/>
            <a:ext cx="3749040" cy="18288"/>
          </a:xfrm>
          <a:prstGeom prst="rect">
            <a:avLst/>
          </a:prstGeom>
          <a:solidFill>
            <a:srgbClr val="2D4A61"/>
          </a:solidFill>
          <a:ln w="12700">
            <a:solidFill>
              <a:srgbClr val="2D4A6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754880" y="1664208"/>
            <a:ext cx="3657600" cy="640080"/>
          </a:xfrm>
          <a:prstGeom prst="rect">
            <a:avLst/>
          </a:prstGeom>
          <a:solidFill>
            <a:srgbClr val="1A2E42"/>
          </a:solidFill>
          <a:ln w="6350">
            <a:solidFill>
              <a:srgbClr val="2D4A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54880" y="1664208"/>
            <a:ext cx="54864" cy="6400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01184" y="171907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宇树 Unitree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583680" y="171907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 DOF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901184" y="1993392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$2,000 | 成本最优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880" y="2377440"/>
            <a:ext cx="3657600" cy="640080"/>
          </a:xfrm>
          <a:prstGeom prst="rect">
            <a:avLst/>
          </a:prstGeom>
          <a:solidFill>
            <a:srgbClr val="1A2E42"/>
          </a:solidFill>
          <a:ln w="6350">
            <a:solidFill>
              <a:srgbClr val="2D4A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54880" y="2377440"/>
            <a:ext cx="54864" cy="640080"/>
          </a:xfrm>
          <a:prstGeom prst="rect">
            <a:avLst/>
          </a:prstGeom>
          <a:solidFill>
            <a:srgbClr val="FF9F1C"/>
          </a:solidFill>
          <a:ln w="12700">
            <a:solidFill>
              <a:srgbClr val="FF9F1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01184" y="243230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Tesla Optimus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583680" y="243230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F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22 DOF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901184" y="2706624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自研 | 触觉传感最深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754880" y="3090672"/>
            <a:ext cx="3657600" cy="640080"/>
          </a:xfrm>
          <a:prstGeom prst="rect">
            <a:avLst/>
          </a:prstGeom>
          <a:solidFill>
            <a:srgbClr val="1A2E42"/>
          </a:solidFill>
          <a:ln w="6350">
            <a:solidFill>
              <a:srgbClr val="2D4A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754880" y="3090672"/>
            <a:ext cx="54864" cy="64008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01184" y="314553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智元智元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83680" y="314553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D6A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23 DOF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901184" y="3419856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自研 | 刚度调节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754880" y="3803904"/>
            <a:ext cx="3657600" cy="640080"/>
          </a:xfrm>
          <a:prstGeom prst="rect">
            <a:avLst/>
          </a:prstGeom>
          <a:solidFill>
            <a:srgbClr val="1A2E42"/>
          </a:solidFill>
          <a:ln w="6350">
            <a:solidFill>
              <a:srgbClr val="2D4A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754880" y="3803904"/>
            <a:ext cx="54864" cy="640080"/>
          </a:xfrm>
          <a:prstGeom prst="rect">
            <a:avLst/>
          </a:prstGeom>
          <a:solidFill>
            <a:srgbClr val="C77DFF"/>
          </a:solidFill>
          <a:ln w="12700">
            <a:solidFill>
              <a:srgbClr val="C77D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01184" y="38587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傅利叶 Fourier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583680" y="38587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77D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19 DOF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901184" y="413308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医疗级 | 医疗场景适配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754880" y="455371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触觉反馈仍是全行业最大短板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02920" y="480974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AMORA Insights  |  Humanoid Robot Index 2026  |  Data Cut-off: Q1 2026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8321040" y="480974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28016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1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 — Advancement  技术演进时间轴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73152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关键里程碑 · 中美节点对比 · 2020-2030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3840480"/>
            <a:ext cx="7680960" cy="22860"/>
          </a:xfrm>
          <a:prstGeom prst="rect">
            <a:avLst/>
          </a:prstGeom>
          <a:solidFill>
            <a:srgbClr val="2D4A61"/>
          </a:solidFill>
          <a:ln w="12700">
            <a:solidFill>
              <a:srgbClr val="2D4A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76656" y="3785616"/>
            <a:ext cx="164592" cy="164592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400507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591056" y="3785616"/>
            <a:ext cx="164592" cy="164592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71600" y="400507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505456" y="3785616"/>
            <a:ext cx="164592" cy="164592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0" y="400507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419856" y="3785616"/>
            <a:ext cx="164592" cy="164592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0" y="400507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334256" y="3785616"/>
            <a:ext cx="164592" cy="164592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0" y="400507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248656" y="3785616"/>
            <a:ext cx="164592" cy="164592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0" y="400507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163056" y="3785616"/>
            <a:ext cx="164592" cy="164592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0" y="400507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2026E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077456" y="3785616"/>
            <a:ext cx="164592" cy="164592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0" y="400507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2027E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991856" y="3785616"/>
            <a:ext cx="164592" cy="164592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0" y="400507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2028E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74320" y="3063240"/>
            <a:ext cx="914400" cy="685800"/>
          </a:xfrm>
          <a:prstGeom prst="rect">
            <a:avLst/>
          </a:prstGeom>
          <a:solidFill>
            <a:srgbClr val="1A2E42"/>
          </a:solidFill>
          <a:ln w="12700">
            <a:solidFill>
              <a:srgbClr val="FF9F1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274320" y="3063240"/>
            <a:ext cx="914400" cy="36576"/>
          </a:xfrm>
          <a:prstGeom prst="rect">
            <a:avLst/>
          </a:prstGeom>
          <a:solidFill>
            <a:srgbClr val="FF9F1C"/>
          </a:solidFill>
          <a:ln w="12700">
            <a:solidFill>
              <a:srgbClr val="FF9F1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2608" y="3118104"/>
            <a:ext cx="8778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Boston Dynamics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开源 Atlas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722376" y="3749040"/>
            <a:ext cx="18288" cy="91440"/>
          </a:xfrm>
          <a:prstGeom prst="rect">
            <a:avLst/>
          </a:prstGeom>
          <a:solidFill>
            <a:srgbClr val="FF9F1C">
              <a:alpha val="50000"/>
            </a:srgbClr>
          </a:solidFill>
          <a:ln w="12700">
            <a:solidFill>
              <a:srgbClr val="FF9F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" y="2971800"/>
            <a:ext cx="914400" cy="685800"/>
          </a:xfrm>
          <a:prstGeom prst="rect">
            <a:avLst/>
          </a:prstGeom>
          <a:solidFill>
            <a:srgbClr val="1A2E42"/>
          </a:solidFill>
          <a:ln w="12700">
            <a:solidFill>
              <a:srgbClr val="FF9F1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1188720" y="2971800"/>
            <a:ext cx="914400" cy="36576"/>
          </a:xfrm>
          <a:prstGeom prst="rect">
            <a:avLst/>
          </a:prstGeom>
          <a:solidFill>
            <a:srgbClr val="FF9F1C"/>
          </a:solidFill>
          <a:ln w="12700">
            <a:solidFill>
              <a:srgbClr val="FF9F1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207008" y="3026664"/>
            <a:ext cx="8778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Tesla AI Day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公布 Optimus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1636776" y="3657600"/>
            <a:ext cx="18288" cy="182880"/>
          </a:xfrm>
          <a:prstGeom prst="rect">
            <a:avLst/>
          </a:prstGeom>
          <a:solidFill>
            <a:srgbClr val="FF9F1C">
              <a:alpha val="50000"/>
            </a:srgbClr>
          </a:solidFill>
          <a:ln w="12700">
            <a:solidFill>
              <a:srgbClr val="FF9F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017520" y="2971800"/>
            <a:ext cx="914400" cy="685800"/>
          </a:xfrm>
          <a:prstGeom prst="rect">
            <a:avLst/>
          </a:prstGeom>
          <a:solidFill>
            <a:srgbClr val="1A2E42"/>
          </a:solidFill>
          <a:ln w="12700">
            <a:solidFill>
              <a:srgbClr val="EF476F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3017520" y="2971800"/>
            <a:ext cx="914400" cy="36576"/>
          </a:xfrm>
          <a:prstGeom prst="rec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35808" y="3026664"/>
            <a:ext cx="8778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AI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成立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3465576" y="3657600"/>
            <a:ext cx="18288" cy="182880"/>
          </a:xfrm>
          <a:prstGeom prst="rect">
            <a:avLst/>
          </a:prstGeom>
          <a:solidFill>
            <a:srgbClr val="EF476F">
              <a:alpha val="50000"/>
            </a:srgbClr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931920" y="3063240"/>
            <a:ext cx="914400" cy="685800"/>
          </a:xfrm>
          <a:prstGeom prst="rect">
            <a:avLst/>
          </a:prstGeom>
          <a:solidFill>
            <a:srgbClr val="1A2E42"/>
          </a:solidFill>
          <a:ln w="12700">
            <a:solidFill>
              <a:srgbClr val="EF476F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3931920" y="3063240"/>
            <a:ext cx="914400" cy="36576"/>
          </a:xfrm>
          <a:prstGeom prst="rec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50208" y="3118104"/>
            <a:ext cx="8778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Figure-OpenAI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战略合作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379976" y="3749040"/>
            <a:ext cx="18288" cy="91440"/>
          </a:xfrm>
          <a:prstGeom prst="rect">
            <a:avLst/>
          </a:prstGeom>
          <a:solidFill>
            <a:srgbClr val="EF476F">
              <a:alpha val="50000"/>
            </a:srgbClr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846320" y="2971800"/>
            <a:ext cx="914400" cy="685800"/>
          </a:xfrm>
          <a:prstGeom prst="rect">
            <a:avLst/>
          </a:prstGeom>
          <a:solidFill>
            <a:srgbClr val="1A2E42"/>
          </a:solidFill>
          <a:ln w="12700">
            <a:solidFill>
              <a:srgbClr val="C77DFF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4846320" y="2971800"/>
            <a:ext cx="914400" cy="36576"/>
          </a:xfrm>
          <a:prstGeom prst="rect">
            <a:avLst/>
          </a:prstGeom>
          <a:solidFill>
            <a:srgbClr val="C77DFF"/>
          </a:solidFill>
          <a:ln w="12700">
            <a:solidFill>
              <a:srgbClr val="C77D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64608" y="3026664"/>
            <a:ext cx="8778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Agility IPO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(NASDAQ)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5294376" y="3657600"/>
            <a:ext cx="18288" cy="182880"/>
          </a:xfrm>
          <a:prstGeom prst="rect">
            <a:avLst/>
          </a:prstGeom>
          <a:solidFill>
            <a:srgbClr val="C77DFF">
              <a:alpha val="50000"/>
            </a:srgbClr>
          </a:solidFill>
          <a:ln w="12700">
            <a:solidFill>
              <a:srgbClr val="C77D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675120" y="2971800"/>
            <a:ext cx="914400" cy="685800"/>
          </a:xfrm>
          <a:prstGeom prst="rect">
            <a:avLst/>
          </a:prstGeom>
          <a:solidFill>
            <a:srgbClr val="1A2E42"/>
          </a:solidFill>
          <a:ln w="12700">
            <a:solidFill>
              <a:srgbClr val="C77DFF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6675120" y="2971800"/>
            <a:ext cx="914400" cy="36576"/>
          </a:xfrm>
          <a:prstGeom prst="rect">
            <a:avLst/>
          </a:prstGeom>
          <a:solidFill>
            <a:srgbClr val="C77DFF"/>
          </a:solidFill>
          <a:ln w="12700">
            <a:solidFill>
              <a:srgbClr val="C77D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693408" y="3026664"/>
            <a:ext cx="8778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 级别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室内自主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7123176" y="3657600"/>
            <a:ext cx="18288" cy="182880"/>
          </a:xfrm>
          <a:prstGeom prst="rect">
            <a:avLst/>
          </a:prstGeom>
          <a:solidFill>
            <a:srgbClr val="C77DFF">
              <a:alpha val="50000"/>
            </a:srgbClr>
          </a:solidFill>
          <a:ln w="12700">
            <a:solidFill>
              <a:srgbClr val="C77D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188720" y="4206240"/>
            <a:ext cx="914400" cy="658368"/>
          </a:xfrm>
          <a:prstGeom prst="rect">
            <a:avLst/>
          </a:prstGeom>
          <a:solidFill>
            <a:srgbClr val="1A2E42"/>
          </a:solidFill>
          <a:ln w="12700">
            <a:solidFill>
              <a:srgbClr val="00B4D8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1188720" y="4828032"/>
            <a:ext cx="91440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207008" y="4242816"/>
            <a:ext cx="87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宇树四足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批量出货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2103120" y="4114800"/>
            <a:ext cx="914400" cy="658368"/>
          </a:xfrm>
          <a:prstGeom prst="rect">
            <a:avLst/>
          </a:prstGeom>
          <a:solidFill>
            <a:srgbClr val="1A2E42"/>
          </a:solidFill>
          <a:ln w="12700">
            <a:solidFill>
              <a:srgbClr val="06D6A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2103120" y="4736592"/>
            <a:ext cx="914400" cy="36576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121408" y="4151376"/>
            <a:ext cx="87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智元成立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(Agibot)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3017520" y="4206240"/>
            <a:ext cx="914400" cy="658368"/>
          </a:xfrm>
          <a:prstGeom prst="rect">
            <a:avLst/>
          </a:prstGeom>
          <a:solidFill>
            <a:srgbClr val="1A2E42"/>
          </a:solidFill>
          <a:ln w="12700">
            <a:solidFill>
              <a:srgbClr val="06D6A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3017520" y="4828032"/>
            <a:ext cx="914400" cy="36576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035808" y="4242816"/>
            <a:ext cx="87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傅利叶成立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(Fourier)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3931920" y="4114800"/>
            <a:ext cx="914400" cy="658368"/>
          </a:xfrm>
          <a:prstGeom prst="rect">
            <a:avLst/>
          </a:prstGeom>
          <a:solidFill>
            <a:srgbClr val="1A2E42"/>
          </a:solidFill>
          <a:ln w="12700">
            <a:solidFill>
              <a:srgbClr val="00B4D8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3931920" y="4736592"/>
            <a:ext cx="91440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950208" y="4151376"/>
            <a:ext cx="87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宇树 H1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人形首发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846320" y="4206240"/>
            <a:ext cx="914400" cy="658368"/>
          </a:xfrm>
          <a:prstGeom prst="rect">
            <a:avLst/>
          </a:prstGeom>
          <a:solidFill>
            <a:srgbClr val="1A2E42"/>
          </a:solidFill>
          <a:ln w="12700">
            <a:solidFill>
              <a:srgbClr val="FFD16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61" name="Shape 59"/>
          <p:cNvSpPr/>
          <p:nvPr/>
        </p:nvSpPr>
        <p:spPr>
          <a:xfrm>
            <a:off x="4846320" y="4828032"/>
            <a:ext cx="914400" cy="36576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864608" y="4242816"/>
            <a:ext cx="87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宇树招股书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披露规模化数据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5760720" y="4114800"/>
            <a:ext cx="914400" cy="658368"/>
          </a:xfrm>
          <a:prstGeom prst="rect">
            <a:avLst/>
          </a:prstGeom>
          <a:solidFill>
            <a:srgbClr val="1A2E42"/>
          </a:solidFill>
          <a:ln w="12700">
            <a:solidFill>
              <a:srgbClr val="90E0EF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5760720" y="4736592"/>
            <a:ext cx="914400" cy="36576"/>
          </a:xfrm>
          <a:prstGeom prst="rect">
            <a:avLst/>
          </a:prstGeom>
          <a:solidFill>
            <a:srgbClr val="90E0EF"/>
          </a:solidFill>
          <a:ln w="12700">
            <a:solidFill>
              <a:srgbClr val="90E0EF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779008" y="4151376"/>
            <a:ext cx="87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国产 VLA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密集突破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502920" y="1115568"/>
            <a:ext cx="182880" cy="182880"/>
          </a:xfrm>
          <a:prstGeom prst="rect">
            <a:avLst/>
          </a:prstGeom>
          <a:solidFill>
            <a:srgbClr val="FF9F1C"/>
          </a:solidFill>
          <a:ln w="12700">
            <a:solidFill>
              <a:srgbClr val="FF9F1C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31520" y="109728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🇺🇸 美国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1920240" y="1115568"/>
            <a:ext cx="182880" cy="1828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2148840" y="109728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🇨🇳 中国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02920" y="480974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AMORA Insights  |  Humanoid Robot Index 2026  |  Data Cut-off: Q1 2026</a:t>
            </a:r>
            <a:endParaRPr lang="en-US" sz="900" dirty="0"/>
          </a:p>
        </p:txBody>
      </p:sp>
      <p:sp>
        <p:nvSpPr>
          <p:cNvPr id="72" name="Text 70"/>
          <p:cNvSpPr/>
          <p:nvPr/>
        </p:nvSpPr>
        <p:spPr>
          <a:xfrm>
            <a:off x="8321040" y="480974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5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90E0EF"/>
          </a:solidFill>
          <a:ln w="12700">
            <a:solidFill>
              <a:srgbClr val="90E0E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28016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 — Mapping  人形机器人产业链图谱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73152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6层供应链结构 · 中美能力对比 · 卡脖子清单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078992"/>
            <a:ext cx="5943600" cy="603504"/>
          </a:xfrm>
          <a:prstGeom prst="rect">
            <a:avLst/>
          </a:prstGeom>
          <a:solidFill>
            <a:srgbClr val="1A1A2E"/>
          </a:solidFill>
          <a:ln w="12700">
            <a:solidFill>
              <a:srgbClr val="EF476F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078992"/>
            <a:ext cx="73152" cy="603504"/>
          </a:xfrm>
          <a:prstGeom prst="rec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13385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 终端产品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137160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Tesla Optimus · Boston Dynamics Atlas · 宇树 H1 · 傅利叶 GR-1 · 智元智元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760720" y="1225296"/>
            <a:ext cx="621792" cy="310896"/>
          </a:xfrm>
          <a:prstGeom prst="rect">
            <a:avLst/>
          </a:prstGeom>
          <a:solidFill>
            <a:srgbClr val="FFD166">
              <a:alpha val="80000"/>
            </a:srgbClr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60720" y="1225296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商业化早期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502920" y="1737360"/>
            <a:ext cx="5943600" cy="603504"/>
          </a:xfrm>
          <a:prstGeom prst="rect">
            <a:avLst/>
          </a:prstGeom>
          <a:solidFill>
            <a:srgbClr val="16213E"/>
          </a:solidFill>
          <a:ln w="12700">
            <a:solidFill>
              <a:srgbClr val="FF9F1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02920" y="1737360"/>
            <a:ext cx="73152" cy="603504"/>
          </a:xfrm>
          <a:prstGeom prst="rect">
            <a:avLst/>
          </a:prstGeom>
          <a:solidFill>
            <a:srgbClr val="FF9F1C"/>
          </a:solidFill>
          <a:ln w="12700">
            <a:solidFill>
              <a:srgbClr val="FF9F1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179222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9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 核心零部件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58368" y="202996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关节模组 · 灵巧手 · 传感器融合 · 线束集成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760720" y="1883664"/>
            <a:ext cx="621792" cy="310896"/>
          </a:xfrm>
          <a:prstGeom prst="rect">
            <a:avLst/>
          </a:prstGeom>
          <a:solidFill>
            <a:srgbClr val="FF9F1C">
              <a:alpha val="80000"/>
            </a:srgbClr>
          </a:solidFill>
          <a:ln w="12700">
            <a:solidFill>
              <a:srgbClr val="FF9F1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60720" y="1883664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9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国产替代中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502920" y="2395728"/>
            <a:ext cx="5943600" cy="603504"/>
          </a:xfrm>
          <a:prstGeom prst="rect">
            <a:avLst/>
          </a:prstGeom>
          <a:solidFill>
            <a:srgbClr val="1A1A2E"/>
          </a:solidFill>
          <a:ln w="12700">
            <a:solidFill>
              <a:srgbClr val="FFD16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02920" y="2395728"/>
            <a:ext cx="73152" cy="603504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2450592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关键元器件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58368" y="2688336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无框力矩电机 · 谐波减速器 · 行星滚柱丝杠 · 轴承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760720" y="2542032"/>
            <a:ext cx="621792" cy="310896"/>
          </a:xfrm>
          <a:prstGeom prst="rect">
            <a:avLst/>
          </a:prstGeom>
          <a:solidFill>
            <a:srgbClr val="EF476F">
              <a:alpha val="80000"/>
            </a:srgbClr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760720" y="2542032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卡脖子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502920" y="3054096"/>
            <a:ext cx="5943600" cy="603504"/>
          </a:xfrm>
          <a:prstGeom prst="rect">
            <a:avLst/>
          </a:prstGeom>
          <a:solidFill>
            <a:srgbClr val="16213E"/>
          </a:solidFill>
          <a:ln w="12700">
            <a:solidFill>
              <a:srgbClr val="06D6A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02920" y="3054096"/>
            <a:ext cx="73152" cy="603504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310896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 传感器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58368" y="3346704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视觉(深度相机) · 力矩传感 · IMU · 触觉阵列 · 嗅觉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760720" y="3200400"/>
            <a:ext cx="621792" cy="310896"/>
          </a:xfrm>
          <a:prstGeom prst="rect">
            <a:avLst/>
          </a:prstGeom>
          <a:solidFill>
            <a:srgbClr val="06D6A0">
              <a:alpha val="80000"/>
            </a:srgbClr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760720" y="3200400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快速追赶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02920" y="3712464"/>
            <a:ext cx="5943600" cy="603504"/>
          </a:xfrm>
          <a:prstGeom prst="rect">
            <a:avLst/>
          </a:prstGeom>
          <a:solidFill>
            <a:srgbClr val="1A1A2E"/>
          </a:solidFill>
          <a:ln w="12700">
            <a:solidFill>
              <a:srgbClr val="00B4D8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02920" y="3712464"/>
            <a:ext cx="73152" cy="60350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" y="376732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L5 AI &amp; 芯片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58368" y="400507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VLA 大模型 · NVIDIA Thor / Jetson · 特斯拉 FSD 芯片 · 华为昇腾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760720" y="3858768"/>
            <a:ext cx="621792" cy="310896"/>
          </a:xfrm>
          <a:prstGeom prst="rect">
            <a:avLst/>
          </a:prstGeom>
          <a:solidFill>
            <a:srgbClr val="90E0EF">
              <a:alpha val="80000"/>
            </a:srgbClr>
          </a:solidFill>
          <a:ln w="12700">
            <a:solidFill>
              <a:srgbClr val="90E0E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760720" y="3858768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中美分化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502920" y="4370832"/>
            <a:ext cx="5943600" cy="603504"/>
          </a:xfrm>
          <a:prstGeom prst="rect">
            <a:avLst/>
          </a:prstGeom>
          <a:solidFill>
            <a:srgbClr val="16213E"/>
          </a:solidFill>
          <a:ln w="12700">
            <a:solidFill>
              <a:srgbClr val="C77DFF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502920" y="4370832"/>
            <a:ext cx="73152" cy="603504"/>
          </a:xfrm>
          <a:prstGeom prst="rect">
            <a:avLst/>
          </a:prstGeom>
          <a:solidFill>
            <a:srgbClr val="C77DFF"/>
          </a:solidFill>
          <a:ln w="12700">
            <a:solidFill>
              <a:srgbClr val="C77D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8368" y="442569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77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L6 基础层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58368" y="466344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云计算 · 仿真平台 · 开源框架 · 数据标注 · 算力基础设施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760720" y="4517136"/>
            <a:ext cx="621792" cy="310896"/>
          </a:xfrm>
          <a:prstGeom prst="rect">
            <a:avLst/>
          </a:prstGeom>
          <a:solidFill>
            <a:srgbClr val="C77DFF">
              <a:alpha val="80000"/>
            </a:srgbClr>
          </a:solidFill>
          <a:ln w="12700">
            <a:solidFill>
              <a:srgbClr val="C77D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760720" y="4517136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C77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全球化协作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675120" y="1078992"/>
            <a:ext cx="1965960" cy="4041648"/>
          </a:xfrm>
          <a:prstGeom prst="rect">
            <a:avLst/>
          </a:prstGeom>
          <a:solidFill>
            <a:srgbClr val="0A1628"/>
          </a:solidFill>
          <a:ln w="12700">
            <a:solidFill>
              <a:srgbClr val="2D4A6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6766560" y="1152144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中美能力对比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6766560" y="1463040"/>
            <a:ext cx="1783080" cy="18288"/>
          </a:xfrm>
          <a:prstGeom prst="rect">
            <a:avLst/>
          </a:prstGeom>
          <a:solidFill>
            <a:srgbClr val="2D4A61"/>
          </a:solidFill>
          <a:ln w="12700">
            <a:solidFill>
              <a:srgbClr val="2D4A6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766560" y="153619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算力/AI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766560" y="171907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🇨🇳 ★★★☆☆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7635240" y="171907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9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🇺🇸 ★★★★★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6766560" y="1975104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制造/供应链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766560" y="2157984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🇨🇳 ★★★★★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7635240" y="2157984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9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🇺🇸 ★★☆☆☆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6766560" y="2414016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传感器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766560" y="2596896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🇨🇳 ★★★☆☆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7635240" y="2596896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9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🇺🇸 ★★★★☆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6766560" y="2852928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整机集成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766560" y="3035808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🇨🇳 ★★★★☆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7635240" y="3035808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9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🇺🇸 ★★★★☆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6766560" y="3291840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商业化落地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6766560" y="3474720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🇨🇳 ★★☆☆☆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7635240" y="3474720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9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🇺🇸 ★★★☆☆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6766560" y="373075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数据闭环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6766560" y="391363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🇨🇳 ★★☆☆☆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7635240" y="391363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9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🇺🇸 ★★★★★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502920" y="4617720"/>
            <a:ext cx="8549640" cy="438912"/>
          </a:xfrm>
          <a:prstGeom prst="rect">
            <a:avLst/>
          </a:prstGeom>
          <a:solidFill>
            <a:srgbClr val="0A1628"/>
          </a:solidFill>
          <a:ln w="12700">
            <a:solidFill>
              <a:srgbClr val="2D4A6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63" name="Text 61"/>
          <p:cNvSpPr/>
          <p:nvPr/>
        </p:nvSpPr>
        <p:spPr>
          <a:xfrm>
            <a:off x="640080" y="466344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卡脖子环节：谐波减速器（哈默纳科/绿的谐波）、行星滚柱丝杠（瑞士 GSA/中国华茂）、触觉传感器（选代/敏芯微）、高端轴承（NSK/SKF）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8321040" y="480974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28016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1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 — Mapping  卡脖子清单与国产替代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73152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大核心瓶颈 · 国产化率 · 替代时间窗口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115568"/>
            <a:ext cx="2679192" cy="1691640"/>
          </a:xfrm>
          <a:prstGeom prst="rect">
            <a:avLst/>
          </a:prstGeom>
          <a:solidFill>
            <a:srgbClr val="1A2E42"/>
          </a:solidFill>
          <a:ln w="12700">
            <a:solidFill>
              <a:srgbClr val="2D4A6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115568"/>
            <a:ext cx="2679192" cy="64008"/>
          </a:xfrm>
          <a:prstGeom prst="rec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115568"/>
            <a:ext cx="64008" cy="1691640"/>
          </a:xfrm>
          <a:prstGeom prst="rec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0936" y="1207008"/>
            <a:ext cx="2496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谐波减速器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0936" y="1463040"/>
            <a:ext cx="2496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进口: 日本哈默纳科(全球70%)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630936" y="1664208"/>
            <a:ext cx="2496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国产: 绿的谐波(国产替代)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30936" y="1865376"/>
            <a:ext cx="2496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F476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国产率 ~18%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0936" y="2103120"/>
            <a:ext cx="24963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绿的 RV + 来福谐波已量产，但精度寿命仍差 30%，高端系列依赖日韩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273552" y="1115568"/>
            <a:ext cx="2679192" cy="1691640"/>
          </a:xfrm>
          <a:prstGeom prst="rect">
            <a:avLst/>
          </a:prstGeom>
          <a:solidFill>
            <a:srgbClr val="1A2E42"/>
          </a:solidFill>
          <a:ln w="12700">
            <a:solidFill>
              <a:srgbClr val="2D4A6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73552" y="1115568"/>
            <a:ext cx="2679192" cy="64008"/>
          </a:xfrm>
          <a:prstGeom prst="rec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73552" y="1115568"/>
            <a:ext cx="64008" cy="1691640"/>
          </a:xfrm>
          <a:prstGeom prst="rec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01568" y="1207008"/>
            <a:ext cx="2496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行星滚柱丝杠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401568" y="1463040"/>
            <a:ext cx="2496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进口: 瑞士 GSA / 德国 INA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3401568" y="1664208"/>
            <a:ext cx="2496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国产: 中国华茂 / 南京工艺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3401568" y="1865376"/>
            <a:ext cx="2496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F476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国产率 ~12%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401568" y="2103120"/>
            <a:ext cx="24963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国产刚起步，精度保持性差，人形 1.5m/s 行走要求超出现有国产规格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044184" y="1115568"/>
            <a:ext cx="2679192" cy="1691640"/>
          </a:xfrm>
          <a:prstGeom prst="rect">
            <a:avLst/>
          </a:prstGeom>
          <a:solidFill>
            <a:srgbClr val="1A2E42"/>
          </a:solidFill>
          <a:ln w="12700">
            <a:solidFill>
              <a:srgbClr val="2D4A6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044184" y="1115568"/>
            <a:ext cx="2679192" cy="64008"/>
          </a:xfrm>
          <a:prstGeom prst="rect">
            <a:avLst/>
          </a:prstGeom>
          <a:solidFill>
            <a:srgbClr val="FF9F1C"/>
          </a:solidFill>
          <a:ln w="12700">
            <a:solidFill>
              <a:srgbClr val="FF9F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44184" y="1115568"/>
            <a:ext cx="64008" cy="1691640"/>
          </a:xfrm>
          <a:prstGeom prst="rect">
            <a:avLst/>
          </a:prstGeom>
          <a:solidFill>
            <a:srgbClr val="FF9F1C"/>
          </a:solidFill>
          <a:ln w="12700">
            <a:solidFill>
              <a:srgbClr val="FF9F1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72200" y="1207008"/>
            <a:ext cx="2496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触觉传感器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172200" y="1463040"/>
            <a:ext cx="2496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进口: 美国 Tacter / 德国 Bio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172200" y="1664208"/>
            <a:ext cx="2496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国产: 选代传感 / 敏芯微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6172200" y="1865376"/>
            <a:ext cx="2496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9F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国产率 ~25%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172200" y="2103120"/>
            <a:ext cx="24963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柔性阵列触觉是真正卡点，单点精度达标但面阵集成能力差距大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02920" y="2898648"/>
            <a:ext cx="2679192" cy="1691640"/>
          </a:xfrm>
          <a:prstGeom prst="rect">
            <a:avLst/>
          </a:prstGeom>
          <a:solidFill>
            <a:srgbClr val="1A2E42"/>
          </a:solidFill>
          <a:ln w="12700">
            <a:solidFill>
              <a:srgbClr val="2D4A6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02920" y="2898648"/>
            <a:ext cx="2679192" cy="64008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2898648"/>
            <a:ext cx="64008" cy="1691640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0936" y="2990088"/>
            <a:ext cx="2496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无框力矩电机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30936" y="3246120"/>
            <a:ext cx="2496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进口: 美国科尔摩根 / 瑞士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630936" y="3447288"/>
            <a:ext cx="2496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国产: 步科 / 汇川技术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630936" y="3648456"/>
            <a:ext cx="2496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D1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国产率 ~40%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" y="3886200"/>
            <a:ext cx="24963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国内步科、汇川已能覆盖中端需求，高转矩密度系列（&gt;20Nm/kg）依赖进口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3273552" y="2898648"/>
            <a:ext cx="2679192" cy="1691640"/>
          </a:xfrm>
          <a:prstGeom prst="rect">
            <a:avLst/>
          </a:prstGeom>
          <a:solidFill>
            <a:srgbClr val="1A2E42"/>
          </a:solidFill>
          <a:ln w="12700">
            <a:solidFill>
              <a:srgbClr val="2D4A6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3273552" y="2898648"/>
            <a:ext cx="2679192" cy="64008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73552" y="2898648"/>
            <a:ext cx="64008" cy="169164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401568" y="2990088"/>
            <a:ext cx="2496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深度视觉传感器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3401568" y="3246120"/>
            <a:ext cx="2496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进口: Intel RealSense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3401568" y="3447288"/>
            <a:ext cx="2496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国产: 奥比中光 / 华为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3401568" y="3648456"/>
            <a:ext cx="2496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D6A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国产率 ~50%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3401568" y="3886200"/>
            <a:ext cx="24963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消费级够用，工业级（防爆、抗强光）差距缩小，但算法生态差距明显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044184" y="2898648"/>
            <a:ext cx="2679192" cy="1691640"/>
          </a:xfrm>
          <a:prstGeom prst="rect">
            <a:avLst/>
          </a:prstGeom>
          <a:solidFill>
            <a:srgbClr val="1A2E42"/>
          </a:solidFill>
          <a:ln w="12700">
            <a:solidFill>
              <a:srgbClr val="2D4A6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6044184" y="2898648"/>
            <a:ext cx="2679192" cy="64008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044184" y="2898648"/>
            <a:ext cx="64008" cy="169164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172200" y="2990088"/>
            <a:ext cx="2496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芯片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6172200" y="3246120"/>
            <a:ext cx="2496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进口: NVIDIA Thor / Jetson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6172200" y="3447288"/>
            <a:ext cx="2496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国产: 华为昇腾 / 地平线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6172200" y="3648456"/>
            <a:ext cx="2496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D6A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国产率 ~30%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6172200" y="3886200"/>
            <a:ext cx="24963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昇腾 910B 单卡算力接近 A100，出口管制加速国产替代，但生态工具链差距仍在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02920" y="480974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AMORA Insights  |  Humanoid Robot Index 2026  |  Data Cut-off: Q1 2026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321040" y="480974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28016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1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 — Operations  四大应用场景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73152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工厂制造 · 仓储物流 · 医疗康复 · 家庭服务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115568"/>
            <a:ext cx="2057400" cy="3657600"/>
          </a:xfrm>
          <a:prstGeom prst="rect">
            <a:avLst/>
          </a:prstGeom>
          <a:solidFill>
            <a:srgbClr val="1A2E42"/>
          </a:solidFill>
          <a:ln w="12700">
            <a:solidFill>
              <a:srgbClr val="2D4A6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115568"/>
            <a:ext cx="2057400" cy="64008"/>
          </a:xfrm>
          <a:prstGeom prst="rect">
            <a:avLst/>
          </a:prstGeom>
          <a:solidFill>
            <a:srgbClr val="FF9F1C"/>
          </a:solidFill>
          <a:ln w="12700">
            <a:solidFill>
              <a:srgbClr val="FF9F1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07008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🏭 工业制造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1572768"/>
            <a:ext cx="1874520" cy="18288"/>
          </a:xfrm>
          <a:prstGeom prst="rect">
            <a:avLst/>
          </a:prstGeom>
          <a:solidFill>
            <a:srgbClr val="2D4A61"/>
          </a:solidFill>
          <a:ln w="12700">
            <a:solidFill>
              <a:srgbClr val="2D4A6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1645920"/>
            <a:ext cx="868680" cy="256032"/>
          </a:xfrm>
          <a:prstGeom prst="rect">
            <a:avLst/>
          </a:prstGeom>
          <a:solidFill>
            <a:srgbClr val="FFD166">
              <a:alpha val="80000"/>
            </a:srgbClr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164592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试点阶段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94360" y="1975104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核心玩家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94360" y="2139696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Tesla / 智元 / BMW 合作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94360" y="2523744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优势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94360" y="2688336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替代 3D/危险岗位 · 解决用工荒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4360" y="3163824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挑战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94360" y="3328416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精度要求高 · 改造成本大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4360" y="3840480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9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单价: $50K-$150K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94360" y="4041648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 ~15%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4242816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部署量: 真实部署: &lt;50台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651760" y="1115568"/>
            <a:ext cx="2057400" cy="3657600"/>
          </a:xfrm>
          <a:prstGeom prst="rect">
            <a:avLst/>
          </a:prstGeom>
          <a:solidFill>
            <a:srgbClr val="1A2E42"/>
          </a:solidFill>
          <a:ln w="12700">
            <a:solidFill>
              <a:srgbClr val="2D4A6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651760" y="1115568"/>
            <a:ext cx="2057400" cy="640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43200" y="1207008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仓储物流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743200" y="1572768"/>
            <a:ext cx="1874520" cy="18288"/>
          </a:xfrm>
          <a:prstGeom prst="rect">
            <a:avLst/>
          </a:prstGeom>
          <a:solidFill>
            <a:srgbClr val="2D4A61"/>
          </a:solidFill>
          <a:ln w="12700">
            <a:solidFill>
              <a:srgbClr val="2D4A6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43200" y="1645920"/>
            <a:ext cx="868680" cy="256032"/>
          </a:xfrm>
          <a:prstGeom prst="rect">
            <a:avLst/>
          </a:prstGeom>
          <a:solidFill>
            <a:srgbClr val="90E0EF">
              <a:alpha val="80000"/>
            </a:srgbClr>
          </a:solidFill>
          <a:ln w="12700">
            <a:solidFill>
              <a:srgbClr val="90E0E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0" y="164592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早期商业化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743200" y="1975104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核心玩家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743200" y="2139696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Agility / 宇树 / 顺丰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743200" y="2523744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优势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2743200" y="2688336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替代搬运工 · 7×24h 运转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743200" y="3163824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挑战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2743200" y="3328416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场景复杂度高 · ROI 争议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743200" y="3840480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单价: $30K-$80K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743200" y="4041648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 ~20%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2743200" y="4242816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部署量: 真实部署: 100-500台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800600" y="1115568"/>
            <a:ext cx="2057400" cy="3657600"/>
          </a:xfrm>
          <a:prstGeom prst="rect">
            <a:avLst/>
          </a:prstGeom>
          <a:solidFill>
            <a:srgbClr val="1A2E42"/>
          </a:solidFill>
          <a:ln w="12700">
            <a:solidFill>
              <a:srgbClr val="2D4A6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800600" y="1115568"/>
            <a:ext cx="2057400" cy="64008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92040" y="1207008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🏥 医疗康复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892040" y="1572768"/>
            <a:ext cx="1874520" cy="18288"/>
          </a:xfrm>
          <a:prstGeom prst="rect">
            <a:avLst/>
          </a:prstGeom>
          <a:solidFill>
            <a:srgbClr val="2D4A61"/>
          </a:solidFill>
          <a:ln w="12700">
            <a:solidFill>
              <a:srgbClr val="2D4A6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92040" y="1645920"/>
            <a:ext cx="868680" cy="256032"/>
          </a:xfrm>
          <a:prstGeom prst="rect">
            <a:avLst/>
          </a:prstGeom>
          <a:solidFill>
            <a:srgbClr val="06D6A0">
              <a:alpha val="80000"/>
            </a:srgbClr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92040" y="164592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临床前/临床中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4892040" y="1975104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核心玩家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4892040" y="2139696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傅利叶 / Exiii / Sanctuary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892040" y="2523744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优势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4892040" y="2688336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老龄化刚需 · 溢价空间高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892040" y="3163824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挑战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4892040" y="3328416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监管周期长 · 技术成熟度低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892040" y="3840480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单价: $80K-$200K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4892040" y="4041648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 ~12% (长期)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4892040" y="4242816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部署量: 真实部署: &lt;20台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6949440" y="1115568"/>
            <a:ext cx="2057400" cy="3657600"/>
          </a:xfrm>
          <a:prstGeom prst="rect">
            <a:avLst/>
          </a:prstGeom>
          <a:solidFill>
            <a:srgbClr val="1A2E42"/>
          </a:solidFill>
          <a:ln w="12700">
            <a:solidFill>
              <a:srgbClr val="2D4A6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6949440" y="1115568"/>
            <a:ext cx="2057400" cy="64008"/>
          </a:xfrm>
          <a:prstGeom prst="rect">
            <a:avLst/>
          </a:prstGeom>
          <a:solidFill>
            <a:srgbClr val="C77DFF"/>
          </a:solidFill>
          <a:ln w="12700">
            <a:solidFill>
              <a:srgbClr val="C77D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040880" y="1207008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🏠 家庭服务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7040880" y="1572768"/>
            <a:ext cx="1874520" cy="18288"/>
          </a:xfrm>
          <a:prstGeom prst="rect">
            <a:avLst/>
          </a:prstGeom>
          <a:solidFill>
            <a:srgbClr val="2D4A61"/>
          </a:solidFill>
          <a:ln w="12700">
            <a:solidFill>
              <a:srgbClr val="2D4A61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040880" y="1645920"/>
            <a:ext cx="868680" cy="256032"/>
          </a:xfrm>
          <a:prstGeom prst="rect">
            <a:avLst/>
          </a:prstGeom>
          <a:solidFill>
            <a:srgbClr val="8DA9BD">
              <a:alpha val="80000"/>
            </a:srgbClr>
          </a:solidFill>
          <a:ln w="12700">
            <a:solidFill>
              <a:srgbClr val="8DA9BD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040880" y="164592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愿景阶段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7040880" y="1975104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核心玩家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7040880" y="2139696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1X / Figure / 小鹏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7040880" y="2523744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优势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7040880" y="2688336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全球最大市场 · 技术成熟后爆发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7040880" y="3163824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挑战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7040880" y="3328416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安全性要求极高 · 量产成本难题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7040880" y="3840480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77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单价: 目标 $20K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7040880" y="4041648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不明确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7040880" y="4242816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部署量: 真实部署: 0台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02920" y="480974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AMORA Insights  |  Humanoid Robot Index 2026  |  Data Cut-off: Q1 2026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8321040" y="480974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28016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1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 — Operations  客户结构与 ROI 真相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73152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宇树招股书数据揭示：73.6% 为科研教育，真正工业替代极少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115568"/>
            <a:ext cx="8138160" cy="594360"/>
          </a:xfrm>
          <a:prstGeom prst="rect">
            <a:avLst/>
          </a:prstGeom>
          <a:solidFill>
            <a:srgbClr val="0077A8"/>
          </a:solidFill>
          <a:ln w="12700">
            <a:solidFill>
              <a:srgbClr val="2D4A6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1430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宇树科技 2024 年客户结构（来自招股书）— 揭示行业真实阶段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417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73.6% 科研教育 + 9.0% 企业导览 + 6.7% 肢体外骨骼 + 4.6% 自动化巡检 + 6.1% 其他 — 真正工业替代客户极少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02920" y="1920240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科研教育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0" y="2011680"/>
            <a:ext cx="5486400" cy="292608"/>
          </a:xfrm>
          <a:prstGeom prst="rect">
            <a:avLst/>
          </a:prstGeom>
          <a:solidFill>
            <a:srgbClr val="1A2E42"/>
          </a:solidFill>
          <a:ln w="6350">
            <a:solidFill>
              <a:srgbClr val="2D4A6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0" y="2011680"/>
            <a:ext cx="4037990" cy="2926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26910" y="1920240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73.6%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" y="2468880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企业导览/展示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0" y="2560320"/>
            <a:ext cx="5486400" cy="292608"/>
          </a:xfrm>
          <a:prstGeom prst="rect">
            <a:avLst/>
          </a:prstGeom>
          <a:solidFill>
            <a:srgbClr val="1A2E42"/>
          </a:solidFill>
          <a:ln w="6350">
            <a:solidFill>
              <a:srgbClr val="2D4A6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43200" y="2560320"/>
            <a:ext cx="493776" cy="292608"/>
          </a:xfrm>
          <a:prstGeom prst="rect">
            <a:avLst/>
          </a:prstGeom>
          <a:solidFill>
            <a:srgbClr val="90E0EF"/>
          </a:solidFill>
          <a:ln w="12700">
            <a:solidFill>
              <a:srgbClr val="90E0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82696" y="2468880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0E0E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9.0%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3017520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肢体外骨骼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743200" y="3108960"/>
            <a:ext cx="5486400" cy="292608"/>
          </a:xfrm>
          <a:prstGeom prst="rect">
            <a:avLst/>
          </a:prstGeom>
          <a:solidFill>
            <a:srgbClr val="1A2E42"/>
          </a:solidFill>
          <a:ln w="6350">
            <a:solidFill>
              <a:srgbClr val="2D4A6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743200" y="3108960"/>
            <a:ext cx="367589" cy="292608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156509" y="3017520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D6A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6.7%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3566160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自动化巡检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743200" y="3657600"/>
            <a:ext cx="5486400" cy="292608"/>
          </a:xfrm>
          <a:prstGeom prst="rect">
            <a:avLst/>
          </a:prstGeom>
          <a:solidFill>
            <a:srgbClr val="1A2E42"/>
          </a:solidFill>
          <a:ln w="6350">
            <a:solidFill>
              <a:srgbClr val="2D4A6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743200" y="3657600"/>
            <a:ext cx="252374" cy="292608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041294" y="3566160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1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4.6%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02920" y="4114800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其他/个人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743200" y="4206240"/>
            <a:ext cx="5486400" cy="292608"/>
          </a:xfrm>
          <a:prstGeom prst="rect">
            <a:avLst/>
          </a:prstGeom>
          <a:solidFill>
            <a:srgbClr val="1A2E42"/>
          </a:solidFill>
          <a:ln w="6350">
            <a:solidFill>
              <a:srgbClr val="2D4A6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743200" y="4206240"/>
            <a:ext cx="334670" cy="292608"/>
          </a:xfrm>
          <a:prstGeom prst="rect">
            <a:avLst/>
          </a:prstGeom>
          <a:solidFill>
            <a:srgbClr val="8DA9BD"/>
          </a:solidFill>
          <a:ln w="12700">
            <a:solidFill>
              <a:srgbClr val="8DA9B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23590" y="4114800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DA9B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6.1%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412480" y="1115568"/>
            <a:ext cx="274320" cy="3657600"/>
          </a:xfrm>
          <a:prstGeom prst="rect">
            <a:avLst/>
          </a:prstGeom>
          <a:solidFill>
            <a:srgbClr val="1A2E42"/>
          </a:solidFill>
          <a:ln w="12700">
            <a:solidFill>
              <a:srgbClr val="2D4A6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549640" y="1115568"/>
            <a:ext cx="91440" cy="3657600"/>
          </a:xfrm>
          <a:prstGeom prst="rect">
            <a:avLst/>
          </a:prstGeom>
          <a:solidFill>
            <a:srgbClr val="1A2E42"/>
          </a:solidFill>
          <a:ln w="12700">
            <a:solidFill>
              <a:srgbClr val="2D4A6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949440" y="1115568"/>
            <a:ext cx="1773936" cy="2560320"/>
          </a:xfrm>
          <a:prstGeom prst="rect">
            <a:avLst/>
          </a:prstGeom>
          <a:solidFill>
            <a:srgbClr val="1A2E42"/>
          </a:solidFill>
          <a:ln w="12700">
            <a:solidFill>
              <a:srgbClr val="2D4A6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949440" y="1115568"/>
            <a:ext cx="1773936" cy="54864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040880" y="1207008"/>
            <a:ext cx="1591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分析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040880" y="151790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当前 IRR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955280" y="1517904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D1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15-20%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040880" y="190195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目标 IRR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955280" y="190195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D6A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&gt;25%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040880" y="228600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回本周期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7955280" y="2286000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0E0E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3-5年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040880" y="267004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人工替代率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955280" y="2670048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~60%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7040880" y="305409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部署规模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955280" y="305409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9F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3-10台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02920" y="4297680"/>
            <a:ext cx="8183880" cy="502920"/>
          </a:xfrm>
          <a:prstGeom prst="rect">
            <a:avLst/>
          </a:prstGeom>
          <a:solidFill>
            <a:srgbClr val="1A2E42"/>
          </a:solidFill>
          <a:ln w="12700">
            <a:solidFill>
              <a:srgbClr val="2D4A6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502920" y="4297680"/>
            <a:ext cx="64008" cy="502920"/>
          </a:xfrm>
          <a:prstGeom prst="rec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58368" y="4325112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关键洞察：人形机器人目前本质上是一台「高价科研设备」，而非工业级自动化工具。客户结构揭示真相：73.6% 收入来自科研教育，说明真正工业替代的买单能力尚未形成。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02920" y="480974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AMORA Insights  |  Humanoid Robot Index 2026  |  Data Cut-off: Q1 2026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8321040" y="480974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28016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1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 — Reach  市场容量三情景预测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73152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2025-2035 年出货量与规模预测 | 基准 / 乐观 / 保守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115568"/>
            <a:ext cx="2679192" cy="2606040"/>
          </a:xfrm>
          <a:prstGeom prst="rect">
            <a:avLst/>
          </a:prstGeom>
          <a:solidFill>
            <a:srgbClr val="1A2E42"/>
          </a:solidFill>
          <a:ln w="12700">
            <a:solidFill>
              <a:srgbClr val="2D4A6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115568"/>
            <a:ext cx="2679192" cy="640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07008"/>
            <a:ext cx="2496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基准情景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94360" y="1572768"/>
            <a:ext cx="2496312" cy="18288"/>
          </a:xfrm>
          <a:prstGeom prst="rect">
            <a:avLst/>
          </a:prstGeom>
          <a:solidFill>
            <a:srgbClr val="2D4A61"/>
          </a:solidFill>
          <a:ln w="12700">
            <a:solidFill>
              <a:srgbClr val="2D4A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664208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2025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43000" y="1664208"/>
            <a:ext cx="1901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1.45 万台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94360" y="2139696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2028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143000" y="2139696"/>
            <a:ext cx="1901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8.5 万台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94360" y="2615184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2030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43000" y="2615184"/>
            <a:ext cx="1901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22.7 万台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94360" y="3090672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2035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143000" y="3090672"/>
            <a:ext cx="1901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 万台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94360" y="3621024"/>
            <a:ext cx="2496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CAGR ~40%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273552" y="1115568"/>
            <a:ext cx="2679192" cy="2606040"/>
          </a:xfrm>
          <a:prstGeom prst="rect">
            <a:avLst/>
          </a:prstGeom>
          <a:solidFill>
            <a:srgbClr val="1A2E42"/>
          </a:solidFill>
          <a:ln w="12700">
            <a:solidFill>
              <a:srgbClr val="2D4A6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273552" y="1115568"/>
            <a:ext cx="2679192" cy="64008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64992" y="1207008"/>
            <a:ext cx="2496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乐观情景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364992" y="1572768"/>
            <a:ext cx="2496312" cy="18288"/>
          </a:xfrm>
          <a:prstGeom prst="rect">
            <a:avLst/>
          </a:prstGeom>
          <a:solidFill>
            <a:srgbClr val="2D4A61"/>
          </a:solidFill>
          <a:ln w="12700">
            <a:solidFill>
              <a:srgbClr val="2D4A6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64992" y="1664208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D6A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2025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913632" y="1664208"/>
            <a:ext cx="1901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1.7 万台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3364992" y="2139696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D6A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2028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913632" y="2139696"/>
            <a:ext cx="1901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万台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364992" y="2615184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D6A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2030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913632" y="2615184"/>
            <a:ext cx="1901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万台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364992" y="3090672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D6A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2035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913632" y="3090672"/>
            <a:ext cx="1901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 万台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3364992" y="3621024"/>
            <a:ext cx="2496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D6A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CAGR ~55%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044184" y="1115568"/>
            <a:ext cx="2679192" cy="2606040"/>
          </a:xfrm>
          <a:prstGeom prst="rect">
            <a:avLst/>
          </a:prstGeom>
          <a:solidFill>
            <a:srgbClr val="1A2E42"/>
          </a:solidFill>
          <a:ln w="12700">
            <a:solidFill>
              <a:srgbClr val="2D4A6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044184" y="1115568"/>
            <a:ext cx="2679192" cy="64008"/>
          </a:xfrm>
          <a:prstGeom prst="rect">
            <a:avLst/>
          </a:prstGeom>
          <a:solidFill>
            <a:srgbClr val="FF9F1C"/>
          </a:solidFill>
          <a:ln w="12700">
            <a:solidFill>
              <a:srgbClr val="FF9F1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35624" y="1207008"/>
            <a:ext cx="2496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🐢 保守情景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135624" y="1572768"/>
            <a:ext cx="2496312" cy="18288"/>
          </a:xfrm>
          <a:prstGeom prst="rect">
            <a:avLst/>
          </a:prstGeom>
          <a:solidFill>
            <a:srgbClr val="2D4A61"/>
          </a:solidFill>
          <a:ln w="12700">
            <a:solidFill>
              <a:srgbClr val="2D4A6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35624" y="1664208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F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2025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684264" y="1664208"/>
            <a:ext cx="1901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1.2 万台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135624" y="2139696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F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2028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684264" y="2139696"/>
            <a:ext cx="1901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万台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135624" y="2615184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F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2030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684264" y="2615184"/>
            <a:ext cx="1901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万台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135624" y="3090672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F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2035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684264" y="3090672"/>
            <a:ext cx="1901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万台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135624" y="3621024"/>
            <a:ext cx="2496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9F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CAGR ~25%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502920" y="384048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全球出货量预测（万台）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1005840" y="4005072"/>
            <a:ext cx="292608" cy="109728"/>
          </a:xfrm>
          <a:prstGeom prst="rect">
            <a:avLst/>
          </a:prstGeom>
          <a:solidFill>
            <a:srgbClr val="06D6A0">
              <a:alpha val="80000"/>
            </a:srgbClr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335024" y="4005072"/>
            <a:ext cx="292608" cy="109728"/>
          </a:xfrm>
          <a:prstGeom prst="rect">
            <a:avLst/>
          </a:prstGeom>
          <a:solidFill>
            <a:srgbClr val="00B4D8">
              <a:alpha val="80000"/>
            </a:srgbClr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664208" y="4005072"/>
            <a:ext cx="292608" cy="109728"/>
          </a:xfrm>
          <a:prstGeom prst="rect">
            <a:avLst/>
          </a:prstGeom>
          <a:solidFill>
            <a:srgbClr val="FF9F1C">
              <a:alpha val="80000"/>
            </a:srgbClr>
          </a:solidFill>
          <a:ln w="12700">
            <a:solidFill>
              <a:srgbClr val="FF9F1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005840" y="411480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2308860" y="4005072"/>
            <a:ext cx="292608" cy="109728"/>
          </a:xfrm>
          <a:prstGeom prst="rect">
            <a:avLst/>
          </a:prstGeom>
          <a:solidFill>
            <a:srgbClr val="06D6A0">
              <a:alpha val="80000"/>
            </a:srgbClr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638044" y="4005072"/>
            <a:ext cx="292608" cy="109728"/>
          </a:xfrm>
          <a:prstGeom prst="rect">
            <a:avLst/>
          </a:prstGeom>
          <a:solidFill>
            <a:srgbClr val="00B4D8">
              <a:alpha val="80000"/>
            </a:srgbClr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967228" y="4005072"/>
            <a:ext cx="292608" cy="109728"/>
          </a:xfrm>
          <a:prstGeom prst="rect">
            <a:avLst/>
          </a:prstGeom>
          <a:solidFill>
            <a:srgbClr val="FF9F1C">
              <a:alpha val="80000"/>
            </a:srgbClr>
          </a:solidFill>
          <a:ln w="12700">
            <a:solidFill>
              <a:srgbClr val="FF9F1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308860" y="411480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2028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3611880" y="3802685"/>
            <a:ext cx="292608" cy="312115"/>
          </a:xfrm>
          <a:prstGeom prst="rect">
            <a:avLst/>
          </a:prstGeom>
          <a:solidFill>
            <a:srgbClr val="06D6A0">
              <a:alpha val="80000"/>
            </a:srgbClr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941064" y="3937675"/>
            <a:ext cx="292608" cy="177125"/>
          </a:xfrm>
          <a:prstGeom prst="rect">
            <a:avLst/>
          </a:prstGeom>
          <a:solidFill>
            <a:srgbClr val="00B4D8">
              <a:alpha val="80000"/>
            </a:srgbClr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270248" y="4005072"/>
            <a:ext cx="292608" cy="109728"/>
          </a:xfrm>
          <a:prstGeom prst="rect">
            <a:avLst/>
          </a:prstGeom>
          <a:solidFill>
            <a:srgbClr val="FF9F1C">
              <a:alpha val="80000"/>
            </a:srgbClr>
          </a:solidFill>
          <a:ln w="12700">
            <a:solidFill>
              <a:srgbClr val="FF9F1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611880" y="411480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2030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4914900" y="2944368"/>
            <a:ext cx="292608" cy="1170432"/>
          </a:xfrm>
          <a:prstGeom prst="rect">
            <a:avLst/>
          </a:prstGeom>
          <a:solidFill>
            <a:srgbClr val="06D6A0">
              <a:alpha val="80000"/>
            </a:srgbClr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244084" y="3428147"/>
            <a:ext cx="292608" cy="686653"/>
          </a:xfrm>
          <a:prstGeom prst="rect">
            <a:avLst/>
          </a:prstGeom>
          <a:solidFill>
            <a:srgbClr val="00B4D8">
              <a:alpha val="80000"/>
            </a:srgbClr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573268" y="3841699"/>
            <a:ext cx="292608" cy="273101"/>
          </a:xfrm>
          <a:prstGeom prst="rect">
            <a:avLst/>
          </a:prstGeom>
          <a:solidFill>
            <a:srgbClr val="FF9F1C">
              <a:alpha val="80000"/>
            </a:srgbClr>
          </a:solidFill>
          <a:ln w="12700">
            <a:solidFill>
              <a:srgbClr val="FF9F1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914900" y="411480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2035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502920" y="4334256"/>
            <a:ext cx="8229600" cy="18288"/>
          </a:xfrm>
          <a:prstGeom prst="rect">
            <a:avLst/>
          </a:prstGeom>
          <a:solidFill>
            <a:srgbClr val="2D4A61"/>
          </a:solidFill>
          <a:ln w="12700">
            <a:solidFill>
              <a:srgbClr val="2D4A61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858000" y="4114800"/>
            <a:ext cx="201168" cy="146304"/>
          </a:xfrm>
          <a:prstGeom prst="rect">
            <a:avLst/>
          </a:prstGeom>
          <a:solidFill>
            <a:srgbClr val="06D6A0">
              <a:alpha val="80000"/>
            </a:srgbClr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086600" y="4114800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乐观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7589520" y="4114800"/>
            <a:ext cx="201168" cy="146304"/>
          </a:xfrm>
          <a:prstGeom prst="rect">
            <a:avLst/>
          </a:prstGeom>
          <a:solidFill>
            <a:srgbClr val="00B4D8">
              <a:alpha val="80000"/>
            </a:srgbClr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818120" y="4114800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基准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8321040" y="4114800"/>
            <a:ext cx="201168" cy="146304"/>
          </a:xfrm>
          <a:prstGeom prst="rect">
            <a:avLst/>
          </a:prstGeom>
          <a:solidFill>
            <a:srgbClr val="FF9F1C">
              <a:alpha val="80000"/>
            </a:srgbClr>
          </a:solidFill>
          <a:ln w="12700">
            <a:solidFill>
              <a:srgbClr val="FF9F1C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549640" y="4114800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9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保守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502920" y="480974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AMORA Insights  |  Humanoid Robot Index 2026  |  Data Cut-off: Q1 2026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8321040" y="480974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28016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1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 — Reach  全球化策略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73152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中国市场领跑 · 北美高端定位 · 欧洲细分切入 · 东南亚制造成本洼地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115568"/>
            <a:ext cx="2011680" cy="3639312"/>
          </a:xfrm>
          <a:prstGeom prst="rect">
            <a:avLst/>
          </a:prstGeom>
          <a:solidFill>
            <a:srgbClr val="1A2E42"/>
          </a:solidFill>
          <a:ln w="12700">
            <a:solidFill>
              <a:srgbClr val="2D4A6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115568"/>
            <a:ext cx="2011680" cy="64008"/>
          </a:xfrm>
          <a:prstGeom prst="rec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115568"/>
            <a:ext cx="64008" cy="3639312"/>
          </a:xfrm>
          <a:prstGeom prst="rec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0936" y="120700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🇨🇳 中国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0936" y="15727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出货量第一 / 制造成本洼地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30936" y="1920240"/>
            <a:ext cx="1755648" cy="18288"/>
          </a:xfrm>
          <a:prstGeom prst="rect">
            <a:avLst/>
          </a:prstGeom>
          <a:solidFill>
            <a:srgbClr val="2D4A61"/>
          </a:solidFill>
          <a:ln w="12700">
            <a:solidFill>
              <a:srgbClr val="2D4A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" y="199339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当前状态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630936" y="217627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宇树 5500+ 台全球第一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30936" y="25420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策略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30936" y="272491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规模量产压成本 + 快速迭代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30936" y="30906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风险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30936" y="32735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内卷加剧 / 估值泡沫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30936" y="4279392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全球人形机器人出货量第一大国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2606040" y="1115568"/>
            <a:ext cx="2011680" cy="3639312"/>
          </a:xfrm>
          <a:prstGeom prst="rect">
            <a:avLst/>
          </a:prstGeom>
          <a:solidFill>
            <a:srgbClr val="1A2E42"/>
          </a:solidFill>
          <a:ln w="12700">
            <a:solidFill>
              <a:srgbClr val="2D4A6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606040" y="1115568"/>
            <a:ext cx="2011680" cy="640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06040" y="1115568"/>
            <a:ext cx="64008" cy="363931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34056" y="120700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🇺🇸 北美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734056" y="15727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技术最前沿 / 估值最高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34056" y="1920240"/>
            <a:ext cx="1755648" cy="18288"/>
          </a:xfrm>
          <a:prstGeom prst="rect">
            <a:avLst/>
          </a:prstGeom>
          <a:solidFill>
            <a:srgbClr val="2D4A61"/>
          </a:solidFill>
          <a:ln w="12700">
            <a:solidFill>
              <a:srgbClr val="2D4A6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34056" y="199339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当前状态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2734056" y="217627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Tesla / Figure / Agility 三大龙头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734056" y="25420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策略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734056" y="272491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高端定位 + AI 算法差异化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734056" y="30906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风险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2734056" y="32735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制造成本高 / 量产瓶颈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734056" y="4279392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VLA 大模型发源地，资本密度最高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115568"/>
            <a:ext cx="2011680" cy="3639312"/>
          </a:xfrm>
          <a:prstGeom prst="rect">
            <a:avLst/>
          </a:prstGeom>
          <a:solidFill>
            <a:srgbClr val="1A2E42"/>
          </a:solidFill>
          <a:ln w="12700">
            <a:solidFill>
              <a:srgbClr val="2D4A6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709160" y="1115568"/>
            <a:ext cx="2011680" cy="64008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09160" y="1115568"/>
            <a:ext cx="64008" cy="3639312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37176" y="120700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🇪🇺 欧洲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837176" y="15727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汽车产业链深度整合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837176" y="1920240"/>
            <a:ext cx="1755648" cy="18288"/>
          </a:xfrm>
          <a:prstGeom prst="rect">
            <a:avLst/>
          </a:prstGeom>
          <a:solidFill>
            <a:srgbClr val="2D4A61"/>
          </a:solidFill>
          <a:ln w="12700">
            <a:solidFill>
              <a:srgbClr val="2D4A6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37176" y="199339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当前状态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4837176" y="217627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BMW / Mercedes + 机器人合作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837176" y="25420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策略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4837176" y="272491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工业自动化场景优先落地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837176" y="30906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风险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4837176" y="32735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人才密度不足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837176" y="4279392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汽车制造自动化需求是最大机会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6812280" y="1115568"/>
            <a:ext cx="2011680" cy="3639312"/>
          </a:xfrm>
          <a:prstGeom prst="rect">
            <a:avLst/>
          </a:prstGeom>
          <a:solidFill>
            <a:srgbClr val="1A2E42"/>
          </a:solidFill>
          <a:ln w="12700">
            <a:solidFill>
              <a:srgbClr val="2D4A6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6812280" y="1115568"/>
            <a:ext cx="2011680" cy="64008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812280" y="1115568"/>
            <a:ext cx="64008" cy="3639312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940296" y="120700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🌏 东南亚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6940296" y="15727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制造成本 + 新兴市场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940296" y="1920240"/>
            <a:ext cx="1755648" cy="18288"/>
          </a:xfrm>
          <a:prstGeom prst="rect">
            <a:avLst/>
          </a:prstGeom>
          <a:solidFill>
            <a:srgbClr val="2D4A61"/>
          </a:solidFill>
          <a:ln w="12700">
            <a:solidFill>
              <a:srgbClr val="2D4A6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940296" y="199339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当前状态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6940296" y="217627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制造业转型期 / 人口老龄化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940296" y="25420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策略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6940296" y="272491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低成本制造 + 服务业探索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940296" y="30906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风险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6940296" y="32735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技术积累薄弱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6940296" y="4279392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下一个制造业机器人化增长极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02920" y="480974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AMORA Insights  |  Humanoid Robot Index 2026  |  Data Cut-off: Q1 2026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8321040" y="480974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28016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1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A2 — Assets  核心财务数据对比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73152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营收 / 毛利 / 净利 / 出货量 — 宇树 vs UBTECH vs Agility vs Figure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115568"/>
            <a:ext cx="2011680" cy="1234440"/>
          </a:xfrm>
          <a:prstGeom prst="rect">
            <a:avLst/>
          </a:prstGeom>
          <a:solidFill>
            <a:srgbClr val="1A2E42"/>
          </a:solidFill>
          <a:ln w="6350">
            <a:solidFill>
              <a:srgbClr val="2D4A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115568"/>
            <a:ext cx="2011680" cy="5486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225296"/>
            <a:ext cx="2011680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¥17亿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94360" y="193852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宇树 2025E 营收  同比增长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587752" y="1115568"/>
            <a:ext cx="2011680" cy="1234440"/>
          </a:xfrm>
          <a:prstGeom prst="rect">
            <a:avLst/>
          </a:prstGeom>
          <a:solidFill>
            <a:srgbClr val="1A2E42"/>
          </a:solidFill>
          <a:ln w="6350">
            <a:solidFill>
              <a:srgbClr val="2D4A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87752" y="1115568"/>
            <a:ext cx="2011680" cy="54864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87752" y="1225296"/>
            <a:ext cx="2011680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6D6A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60.3%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679192" y="193852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宇树毛利率  硬件毛利极高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672584" y="1115568"/>
            <a:ext cx="2011680" cy="1234440"/>
          </a:xfrm>
          <a:prstGeom prst="rect">
            <a:avLst/>
          </a:prstGeom>
          <a:solidFill>
            <a:srgbClr val="1A2E42"/>
          </a:solidFill>
          <a:ln w="6350">
            <a:solidFill>
              <a:srgbClr val="2D4A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72584" y="1115568"/>
            <a:ext cx="2011680" cy="54864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72584" y="1225296"/>
            <a:ext cx="2011680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D1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5500台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4764024" y="193852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宇树 2025 出货  全球第一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757416" y="1115568"/>
            <a:ext cx="2011680" cy="1234440"/>
          </a:xfrm>
          <a:prstGeom prst="rect">
            <a:avLst/>
          </a:prstGeom>
          <a:solidFill>
            <a:srgbClr val="1A2E42"/>
          </a:solidFill>
          <a:ln w="6350">
            <a:solidFill>
              <a:srgbClr val="2D4A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57416" y="1115568"/>
            <a:ext cx="2011680" cy="54864"/>
          </a:xfrm>
          <a:prstGeom prst="rect">
            <a:avLst/>
          </a:prstGeom>
          <a:solidFill>
            <a:srgbClr val="90E0EF"/>
          </a:solidFill>
          <a:ln w="12700">
            <a:solidFill>
              <a:srgbClr val="90E0E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57416" y="1225296"/>
            <a:ext cx="2011680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0E0E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¥6亿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6848856" y="193852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宇树 2025E 净利  净利率 35%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02920" y="2514600"/>
            <a:ext cx="9144000" cy="384048"/>
          </a:xfrm>
          <a:prstGeom prst="rect">
            <a:avLst/>
          </a:prstGeom>
          <a:solidFill>
            <a:srgbClr val="0077A8"/>
          </a:solidFill>
          <a:ln w="6350">
            <a:solidFill>
              <a:srgbClr val="2D4A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48640" y="2514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企业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468880" y="251460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2025营收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886200" y="251460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毛利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303520" y="251460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净利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720840" y="251460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出货量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138160" y="251460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估值/融资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02920" y="2898648"/>
            <a:ext cx="9144000" cy="402336"/>
          </a:xfrm>
          <a:prstGeom prst="rect">
            <a:avLst/>
          </a:prstGeom>
          <a:solidFill>
            <a:srgbClr val="1A2E42"/>
          </a:solidFill>
          <a:ln w="6350">
            <a:solidFill>
              <a:srgbClr val="2D4A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48640" y="2898648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宇树科技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2468880" y="2898648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¥17亿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3886200" y="2898648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60.3%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303520" y="2898648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¥6亿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720840" y="2898648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5500台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8138160" y="2898648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IPO 42亿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02920" y="3319272"/>
            <a:ext cx="9144000" cy="402336"/>
          </a:xfrm>
          <a:prstGeom prst="rect">
            <a:avLst/>
          </a:prstGeom>
          <a:solidFill>
            <a:srgbClr val="16213E"/>
          </a:solidFill>
          <a:ln w="6350">
            <a:solidFill>
              <a:srgbClr val="2D4A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548640" y="331927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UBTECH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2468880" y="3319272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¥8亿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3886200" y="3319272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303520" y="3319272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亏损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720840" y="3319272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~2000台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8138160" y="3319272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港股上市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02920" y="3739896"/>
            <a:ext cx="9144000" cy="402336"/>
          </a:xfrm>
          <a:prstGeom prst="rect">
            <a:avLst/>
          </a:prstGeom>
          <a:solidFill>
            <a:srgbClr val="1A2E42"/>
          </a:solidFill>
          <a:ln w="6350">
            <a:solidFill>
              <a:srgbClr val="2D4A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548640" y="373989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Agility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2468880" y="3739896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$25M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3886200" y="3739896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5303520" y="3739896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亏损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6720840" y="3739896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100+台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8138160" y="3739896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NASDAQ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502920" y="4160520"/>
            <a:ext cx="9144000" cy="402336"/>
          </a:xfrm>
          <a:prstGeom prst="rect">
            <a:avLst/>
          </a:prstGeom>
          <a:solidFill>
            <a:srgbClr val="16213E"/>
          </a:solidFill>
          <a:ln w="6350">
            <a:solidFill>
              <a:srgbClr val="2D4A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548640" y="41605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AI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2468880" y="4160520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$30M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3886200" y="4160520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5303520" y="4160520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亏损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6720840" y="4160520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&lt;50台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8138160" y="4160520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26亿美元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502920" y="4581144"/>
            <a:ext cx="9144000" cy="402336"/>
          </a:xfrm>
          <a:prstGeom prst="rect">
            <a:avLst/>
          </a:prstGeom>
          <a:solidFill>
            <a:srgbClr val="1A2E42"/>
          </a:solidFill>
          <a:ln w="6350">
            <a:solidFill>
              <a:srgbClr val="2D4A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548640" y="4581144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智元智元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2468880" y="4581144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未披露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3886200" y="4581144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5303520" y="4581144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未披露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6720840" y="4581144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千台级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8138160" y="4581144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150亿估值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502920" y="4617720"/>
            <a:ext cx="8549640" cy="438912"/>
          </a:xfrm>
          <a:prstGeom prst="rect">
            <a:avLst/>
          </a:prstGeom>
          <a:solidFill>
            <a:srgbClr val="1A2E42"/>
          </a:solidFill>
          <a:ln w="12700">
            <a:solidFill>
              <a:srgbClr val="2D4A6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502920" y="4617720"/>
            <a:ext cx="64008" cy="438912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58368" y="4645152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关键洞察：宇树是唯一实现规模化盈利的人形机器人企业，毛利率 60.3% 远超 UBTECH 的 42%；Agility 和 Figure 均处于严重亏损状态，依赖融资维持运营。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8321040" y="480974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28016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1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A2 — Assets  估值矩阵与融资动态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73152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 / EV-Revenue 倍数对比 · 融资轮次 · 资本效率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115568"/>
            <a:ext cx="4937760" cy="3657600"/>
          </a:xfrm>
          <a:prstGeom prst="rect">
            <a:avLst/>
          </a:prstGeom>
          <a:solidFill>
            <a:srgbClr val="1A2E42"/>
          </a:solidFill>
          <a:ln w="12700">
            <a:solidFill>
              <a:srgbClr val="2D4A6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115568"/>
            <a:ext cx="4937760" cy="54864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207008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估值 vs 商业化成熟度象限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280160" y="1600200"/>
            <a:ext cx="3840480" cy="18288"/>
          </a:xfrm>
          <a:prstGeom prst="rect">
            <a:avLst/>
          </a:prstGeom>
          <a:solidFill>
            <a:srgbClr val="2D4A61"/>
          </a:solidFill>
          <a:ln w="12700">
            <a:solidFill>
              <a:srgbClr val="2D4A6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80160" y="1600200"/>
            <a:ext cx="18288" cy="2971800"/>
          </a:xfrm>
          <a:prstGeom prst="rect">
            <a:avLst/>
          </a:prstGeom>
          <a:solidFill>
            <a:srgbClr val="2D4A61"/>
          </a:solidFill>
          <a:ln w="12700">
            <a:solidFill>
              <a:srgbClr val="2D4A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71600" y="455371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商业化成熟度 →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48640" y="201168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估值 ↑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3291840" y="164592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高估值·高成熟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371600" y="164592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低估值·高成熟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371600" y="42062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低估值·早期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3291840" y="42062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高估值·早期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703320" y="1783080"/>
            <a:ext cx="274320" cy="274320"/>
          </a:xfrm>
          <a:prstGeom prst="ellipse">
            <a:avLst/>
          </a:prstGeom>
          <a:solidFill>
            <a:srgbClr val="FFD166">
              <a:alpha val="70000"/>
            </a:srgbClr>
          </a:solidFill>
          <a:ln w="19050">
            <a:solidFill>
              <a:srgbClr val="FFD16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83280" y="155448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宇树科技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063240" y="2057400"/>
            <a:ext cx="274320" cy="274320"/>
          </a:xfrm>
          <a:prstGeom prst="ellipse">
            <a:avLst/>
          </a:prstGeom>
          <a:solidFill>
            <a:srgbClr val="00B4D8">
              <a:alpha val="70000"/>
            </a:srgbClr>
          </a:solidFill>
          <a:ln w="19050">
            <a:solidFill>
              <a:srgbClr val="00B4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0" y="18288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UBTECH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2423160" y="2606040"/>
            <a:ext cx="274320" cy="274320"/>
          </a:xfrm>
          <a:prstGeom prst="ellipse">
            <a:avLst/>
          </a:prstGeom>
          <a:solidFill>
            <a:srgbClr val="FF9F1C">
              <a:alpha val="70000"/>
            </a:srgbClr>
          </a:solidFill>
          <a:ln w="19050">
            <a:solidFill>
              <a:srgbClr val="FF9F1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103120" y="23774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9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Agility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1874520" y="3154680"/>
            <a:ext cx="274320" cy="274320"/>
          </a:xfrm>
          <a:prstGeom prst="ellipse">
            <a:avLst/>
          </a:prstGeom>
          <a:solidFill>
            <a:srgbClr val="EF476F">
              <a:alpha val="70000"/>
            </a:srgbClr>
          </a:solidFill>
          <a:ln w="19050">
            <a:solidFill>
              <a:srgbClr val="EF476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554480" y="292608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AI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1691640" y="2880360"/>
            <a:ext cx="274320" cy="274320"/>
          </a:xfrm>
          <a:prstGeom prst="ellipse">
            <a:avLst/>
          </a:prstGeom>
          <a:solidFill>
            <a:srgbClr val="90E0EF">
              <a:alpha val="70000"/>
            </a:srgbClr>
          </a:solidFill>
          <a:ln w="19050">
            <a:solidFill>
              <a:srgbClr val="90E0E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265176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智元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2606040" y="3337560"/>
            <a:ext cx="274320" cy="274320"/>
          </a:xfrm>
          <a:prstGeom prst="ellipse">
            <a:avLst/>
          </a:prstGeom>
          <a:solidFill>
            <a:srgbClr val="C77DFF">
              <a:alpha val="70000"/>
            </a:srgbClr>
          </a:solidFill>
          <a:ln w="19050">
            <a:solidFill>
              <a:srgbClr val="C77D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286000" y="310896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77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Boston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5623560" y="1115568"/>
            <a:ext cx="3108960" cy="3657600"/>
          </a:xfrm>
          <a:prstGeom prst="rect">
            <a:avLst/>
          </a:prstGeom>
          <a:solidFill>
            <a:srgbClr val="1A2E42"/>
          </a:solidFill>
          <a:ln w="12700">
            <a:solidFill>
              <a:srgbClr val="2D4A6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623560" y="1115568"/>
            <a:ext cx="3108960" cy="54864"/>
          </a:xfrm>
          <a:prstGeom prst="rect">
            <a:avLst/>
          </a:prstGeom>
          <a:solidFill>
            <a:srgbClr val="C77DFF"/>
          </a:solidFill>
          <a:ln w="12700">
            <a:solidFill>
              <a:srgbClr val="C77D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15000" y="120700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融资动态（2024-2026）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715000" y="1572768"/>
            <a:ext cx="2926080" cy="457200"/>
          </a:xfrm>
          <a:prstGeom prst="rect">
            <a:avLst/>
          </a:prstGeom>
          <a:solidFill>
            <a:srgbClr val="1A2E42"/>
          </a:solidFill>
          <a:ln w="6350">
            <a:solidFill>
              <a:srgbClr val="2D4A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715000" y="1572768"/>
            <a:ext cx="54864" cy="457200"/>
          </a:xfrm>
          <a:prstGeom prst="rec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824728" y="1609344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AI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132320" y="160934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635240" y="160934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76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$675M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824728" y="181051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B轮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5715000" y="2084832"/>
            <a:ext cx="2926080" cy="457200"/>
          </a:xfrm>
          <a:prstGeom prst="rect">
            <a:avLst/>
          </a:prstGeom>
          <a:solidFill>
            <a:srgbClr val="1A2E42"/>
          </a:solidFill>
          <a:ln w="6350">
            <a:solidFill>
              <a:srgbClr val="2D4A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5715000" y="2084832"/>
            <a:ext cx="54864" cy="45720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24728" y="212140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1X Tech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132320" y="2121408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635240" y="21214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D6A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$125M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824728" y="232257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B轮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5715000" y="2596896"/>
            <a:ext cx="2926080" cy="457200"/>
          </a:xfrm>
          <a:prstGeom prst="rect">
            <a:avLst/>
          </a:prstGeom>
          <a:solidFill>
            <a:srgbClr val="1A2E42"/>
          </a:solidFill>
          <a:ln w="6350">
            <a:solidFill>
              <a:srgbClr val="2D4A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5715000" y="2596896"/>
            <a:ext cx="54864" cy="4572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824728" y="2633472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智元智元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7132320" y="263347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7635240" y="263347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¥15亿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824728" y="28346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A轮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5715000" y="3108960"/>
            <a:ext cx="2926080" cy="457200"/>
          </a:xfrm>
          <a:prstGeom prst="rect">
            <a:avLst/>
          </a:prstGeom>
          <a:solidFill>
            <a:srgbClr val="1A2E42"/>
          </a:solidFill>
          <a:ln w="6350">
            <a:solidFill>
              <a:srgbClr val="2D4A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5715000" y="3108960"/>
            <a:ext cx="54864" cy="457200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824728" y="3145536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宇树科技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7132320" y="314553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7635240" y="31455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D1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¥42亿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824728" y="334670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IPO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715000" y="3621024"/>
            <a:ext cx="2926080" cy="457200"/>
          </a:xfrm>
          <a:prstGeom prst="rect">
            <a:avLst/>
          </a:prstGeom>
          <a:solidFill>
            <a:srgbClr val="1A2E42"/>
          </a:solidFill>
          <a:ln w="6350">
            <a:solidFill>
              <a:srgbClr val="2D4A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5715000" y="3621024"/>
            <a:ext cx="54864" cy="457200"/>
          </a:xfrm>
          <a:prstGeom prst="rect">
            <a:avLst/>
          </a:prstGeom>
          <a:solidFill>
            <a:srgbClr val="90E0EF"/>
          </a:solidFill>
          <a:ln w="12700">
            <a:solidFill>
              <a:srgbClr val="90E0E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824728" y="365760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傅利叶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132320" y="36576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7635240" y="365760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0E0E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¥5亿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824728" y="385876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A轮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5715000" y="4133088"/>
            <a:ext cx="2926080" cy="457200"/>
          </a:xfrm>
          <a:prstGeom prst="rect">
            <a:avLst/>
          </a:prstGeom>
          <a:solidFill>
            <a:srgbClr val="1A2E42"/>
          </a:solidFill>
          <a:ln w="6350">
            <a:solidFill>
              <a:srgbClr val="2D4A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5715000" y="4133088"/>
            <a:ext cx="54864" cy="457200"/>
          </a:xfrm>
          <a:prstGeom prst="rect">
            <a:avLst/>
          </a:prstGeom>
          <a:solidFill>
            <a:srgbClr val="FF9F1C"/>
          </a:solidFill>
          <a:ln w="12700">
            <a:solidFill>
              <a:srgbClr val="FF9F1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824728" y="4169664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Agility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7132320" y="416966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7635240" y="416966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9F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$200M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5824728" y="43708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IPO+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02920" y="480974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AMORA Insights  |  Humanoid Robot Index 2026  |  Data Cut-off: Q1 2026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8321040" y="480974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22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28016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1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AMORA Score — 12 企业综合评分卡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73152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A(技术壁垒) · M(人才优势) · O(商业落地) · R(全球化) · A(可持续)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115568"/>
            <a:ext cx="8549640" cy="365760"/>
          </a:xfrm>
          <a:prstGeom prst="rect">
            <a:avLst/>
          </a:prstGeom>
          <a:solidFill>
            <a:srgbClr val="0077A8"/>
          </a:solidFill>
          <a:ln w="6350">
            <a:solidFill>
              <a:srgbClr val="2D4A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30352" y="111556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企业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359152" y="11155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862072" y="11155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364992" y="11155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867912" y="11155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370832" y="11155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873752" y="11155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376672" y="111556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综合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108192" y="11155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趋势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02920" y="1481328"/>
            <a:ext cx="8549640" cy="310896"/>
          </a:xfrm>
          <a:prstGeom prst="rect">
            <a:avLst/>
          </a:prstGeom>
          <a:solidFill>
            <a:srgbClr val="1A2E42"/>
          </a:solidFill>
          <a:ln w="6350">
            <a:solidFill>
              <a:srgbClr val="2D4A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30352" y="148132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宇树科技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359152" y="1481328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🇨🇳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862072" y="1481328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8.5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364992" y="1481328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9.2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867912" y="1481328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370832" y="1481328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873752" y="1481328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9.5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376672" y="1481328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8.9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108192" y="1481328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02920" y="1792224"/>
            <a:ext cx="8549640" cy="310896"/>
          </a:xfrm>
          <a:prstGeom prst="rect">
            <a:avLst/>
          </a:prstGeom>
          <a:solidFill>
            <a:srgbClr val="16213E"/>
          </a:solidFill>
          <a:ln w="6350">
            <a:solidFill>
              <a:srgbClr val="2D4A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30352" y="179222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UBTECH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2359152" y="1792224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🇨🇳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2862072" y="1792224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3364992" y="1792224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8.5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3867912" y="1792224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6.8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370832" y="1792224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7.5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873752" y="1792224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376672" y="1792224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7.6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108192" y="1792224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▬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02920" y="2103120"/>
            <a:ext cx="8549640" cy="310896"/>
          </a:xfrm>
          <a:prstGeom prst="rect">
            <a:avLst/>
          </a:prstGeom>
          <a:solidFill>
            <a:srgbClr val="1A2E42"/>
          </a:solidFill>
          <a:ln w="6350">
            <a:solidFill>
              <a:srgbClr val="2D4A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530352" y="210312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Tesla Optimus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2359152" y="210312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🇺🇸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2862072" y="210312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9.5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3364992" y="210312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3867912" y="210312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4370832" y="210312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9.5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4873752" y="210312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5376672" y="210312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8.6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6108192" y="210312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02920" y="2414016"/>
            <a:ext cx="8549640" cy="310896"/>
          </a:xfrm>
          <a:prstGeom prst="rect">
            <a:avLst/>
          </a:prstGeom>
          <a:solidFill>
            <a:srgbClr val="16213E"/>
          </a:solidFill>
          <a:ln w="6350">
            <a:solidFill>
              <a:srgbClr val="2D4A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530352" y="241401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AI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2359152" y="2414016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🇺🇸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2862072" y="2414016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3364992" y="2414016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8.5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3867912" y="2414016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5.5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4370832" y="2414016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4873752" y="2414016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8.5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5376672" y="2414016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7.9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6108192" y="2414016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502920" y="2724912"/>
            <a:ext cx="8549640" cy="310896"/>
          </a:xfrm>
          <a:prstGeom prst="rect">
            <a:avLst/>
          </a:prstGeom>
          <a:solidFill>
            <a:srgbClr val="1A2E42"/>
          </a:solidFill>
          <a:ln w="6350">
            <a:solidFill>
              <a:srgbClr val="2D4A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530352" y="27249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智元智元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2359152" y="2724912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🇨🇳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2862072" y="2724912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3364992" y="2724912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3867912" y="2724912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4370832" y="2724912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4873752" y="2724912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7.5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5376672" y="2724912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7.4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6108192" y="2724912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502920" y="3035808"/>
            <a:ext cx="8549640" cy="310896"/>
          </a:xfrm>
          <a:prstGeom prst="rect">
            <a:avLst/>
          </a:prstGeom>
          <a:solidFill>
            <a:srgbClr val="16213E"/>
          </a:solidFill>
          <a:ln w="6350">
            <a:solidFill>
              <a:srgbClr val="2D4A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66" name="Text 64"/>
          <p:cNvSpPr/>
          <p:nvPr/>
        </p:nvSpPr>
        <p:spPr>
          <a:xfrm>
            <a:off x="530352" y="303580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Boston Dyn.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2359152" y="3035808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🇺🇸</a:t>
            </a:r>
            <a:endParaRPr lang="en-US" sz="950" dirty="0"/>
          </a:p>
        </p:txBody>
      </p:sp>
      <p:sp>
        <p:nvSpPr>
          <p:cNvPr id="68" name="Text 66"/>
          <p:cNvSpPr/>
          <p:nvPr/>
        </p:nvSpPr>
        <p:spPr>
          <a:xfrm>
            <a:off x="2862072" y="3035808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  <p:sp>
        <p:nvSpPr>
          <p:cNvPr id="69" name="Text 67"/>
          <p:cNvSpPr/>
          <p:nvPr/>
        </p:nvSpPr>
        <p:spPr>
          <a:xfrm>
            <a:off x="3364992" y="3035808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8.5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3867912" y="3035808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5.5</a:t>
            </a:r>
            <a:endParaRPr lang="en-US" sz="950" dirty="0"/>
          </a:p>
        </p:txBody>
      </p:sp>
      <p:sp>
        <p:nvSpPr>
          <p:cNvPr id="71" name="Text 69"/>
          <p:cNvSpPr/>
          <p:nvPr/>
        </p:nvSpPr>
        <p:spPr>
          <a:xfrm>
            <a:off x="4370832" y="3035808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4873752" y="3035808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</a:t>
            </a:r>
            <a:endParaRPr lang="en-US" sz="950" dirty="0"/>
          </a:p>
        </p:txBody>
      </p:sp>
      <p:sp>
        <p:nvSpPr>
          <p:cNvPr id="73" name="Text 71"/>
          <p:cNvSpPr/>
          <p:nvPr/>
        </p:nvSpPr>
        <p:spPr>
          <a:xfrm>
            <a:off x="5376672" y="3035808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7.5</a:t>
            </a:r>
            <a:endParaRPr lang="en-US" sz="1050" dirty="0"/>
          </a:p>
        </p:txBody>
      </p:sp>
      <p:sp>
        <p:nvSpPr>
          <p:cNvPr id="74" name="Text 72"/>
          <p:cNvSpPr/>
          <p:nvPr/>
        </p:nvSpPr>
        <p:spPr>
          <a:xfrm>
            <a:off x="6108192" y="3035808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▬</a:t>
            </a:r>
            <a:endParaRPr lang="en-US" sz="950" dirty="0"/>
          </a:p>
        </p:txBody>
      </p:sp>
      <p:sp>
        <p:nvSpPr>
          <p:cNvPr id="75" name="Shape 73"/>
          <p:cNvSpPr/>
          <p:nvPr/>
        </p:nvSpPr>
        <p:spPr>
          <a:xfrm>
            <a:off x="502920" y="3346704"/>
            <a:ext cx="8549640" cy="310896"/>
          </a:xfrm>
          <a:prstGeom prst="rect">
            <a:avLst/>
          </a:prstGeom>
          <a:solidFill>
            <a:srgbClr val="1A2E42"/>
          </a:solidFill>
          <a:ln w="6350">
            <a:solidFill>
              <a:srgbClr val="2D4A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76" name="Text 74"/>
          <p:cNvSpPr/>
          <p:nvPr/>
        </p:nvSpPr>
        <p:spPr>
          <a:xfrm>
            <a:off x="530352" y="33467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Agility</a:t>
            </a:r>
            <a:endParaRPr lang="en-US" sz="950" dirty="0"/>
          </a:p>
        </p:txBody>
      </p:sp>
      <p:sp>
        <p:nvSpPr>
          <p:cNvPr id="77" name="Text 75"/>
          <p:cNvSpPr/>
          <p:nvPr/>
        </p:nvSpPr>
        <p:spPr>
          <a:xfrm>
            <a:off x="2359152" y="3346704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🇺🇸</a:t>
            </a:r>
            <a:endParaRPr lang="en-US" sz="950" dirty="0"/>
          </a:p>
        </p:txBody>
      </p:sp>
      <p:sp>
        <p:nvSpPr>
          <p:cNvPr id="78" name="Text 76"/>
          <p:cNvSpPr/>
          <p:nvPr/>
        </p:nvSpPr>
        <p:spPr>
          <a:xfrm>
            <a:off x="2862072" y="3346704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  <p:sp>
        <p:nvSpPr>
          <p:cNvPr id="79" name="Text 77"/>
          <p:cNvSpPr/>
          <p:nvPr/>
        </p:nvSpPr>
        <p:spPr>
          <a:xfrm>
            <a:off x="3364992" y="3346704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  <p:sp>
        <p:nvSpPr>
          <p:cNvPr id="80" name="Text 78"/>
          <p:cNvSpPr/>
          <p:nvPr/>
        </p:nvSpPr>
        <p:spPr>
          <a:xfrm>
            <a:off x="3867912" y="3346704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7.5</a:t>
            </a:r>
            <a:endParaRPr lang="en-US" sz="950" dirty="0"/>
          </a:p>
        </p:txBody>
      </p:sp>
      <p:sp>
        <p:nvSpPr>
          <p:cNvPr id="81" name="Text 79"/>
          <p:cNvSpPr/>
          <p:nvPr/>
        </p:nvSpPr>
        <p:spPr>
          <a:xfrm>
            <a:off x="4370832" y="3346704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7.5</a:t>
            </a:r>
            <a:endParaRPr lang="en-US" sz="950" dirty="0"/>
          </a:p>
        </p:txBody>
      </p:sp>
      <p:sp>
        <p:nvSpPr>
          <p:cNvPr id="82" name="Text 80"/>
          <p:cNvSpPr/>
          <p:nvPr/>
        </p:nvSpPr>
        <p:spPr>
          <a:xfrm>
            <a:off x="4873752" y="3346704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5.5</a:t>
            </a:r>
            <a:endParaRPr lang="en-US" sz="950" dirty="0"/>
          </a:p>
        </p:txBody>
      </p:sp>
      <p:sp>
        <p:nvSpPr>
          <p:cNvPr id="83" name="Text 81"/>
          <p:cNvSpPr/>
          <p:nvPr/>
        </p:nvSpPr>
        <p:spPr>
          <a:xfrm>
            <a:off x="5376672" y="3346704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6.9</a:t>
            </a:r>
            <a:endParaRPr lang="en-US" sz="1050" dirty="0"/>
          </a:p>
        </p:txBody>
      </p:sp>
      <p:sp>
        <p:nvSpPr>
          <p:cNvPr id="84" name="Text 82"/>
          <p:cNvSpPr/>
          <p:nvPr/>
        </p:nvSpPr>
        <p:spPr>
          <a:xfrm>
            <a:off x="6108192" y="3346704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▬</a:t>
            </a:r>
            <a:endParaRPr lang="en-US" sz="950" dirty="0"/>
          </a:p>
        </p:txBody>
      </p:sp>
      <p:sp>
        <p:nvSpPr>
          <p:cNvPr id="85" name="Shape 83"/>
          <p:cNvSpPr/>
          <p:nvPr/>
        </p:nvSpPr>
        <p:spPr>
          <a:xfrm>
            <a:off x="502920" y="3657600"/>
            <a:ext cx="8549640" cy="310896"/>
          </a:xfrm>
          <a:prstGeom prst="rect">
            <a:avLst/>
          </a:prstGeom>
          <a:solidFill>
            <a:srgbClr val="16213E"/>
          </a:solidFill>
          <a:ln w="6350">
            <a:solidFill>
              <a:srgbClr val="2D4A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86" name="Text 84"/>
          <p:cNvSpPr/>
          <p:nvPr/>
        </p:nvSpPr>
        <p:spPr>
          <a:xfrm>
            <a:off x="530352" y="36576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傅利叶 Fourier</a:t>
            </a:r>
            <a:endParaRPr lang="en-US" sz="950" dirty="0"/>
          </a:p>
        </p:txBody>
      </p:sp>
      <p:sp>
        <p:nvSpPr>
          <p:cNvPr id="87" name="Text 85"/>
          <p:cNvSpPr/>
          <p:nvPr/>
        </p:nvSpPr>
        <p:spPr>
          <a:xfrm>
            <a:off x="2359152" y="365760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🇨🇳</a:t>
            </a:r>
            <a:endParaRPr lang="en-US" sz="950" dirty="0"/>
          </a:p>
        </p:txBody>
      </p:sp>
      <p:sp>
        <p:nvSpPr>
          <p:cNvPr id="88" name="Text 86"/>
          <p:cNvSpPr/>
          <p:nvPr/>
        </p:nvSpPr>
        <p:spPr>
          <a:xfrm>
            <a:off x="2862072" y="365760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  <p:sp>
        <p:nvSpPr>
          <p:cNvPr id="89" name="Text 87"/>
          <p:cNvSpPr/>
          <p:nvPr/>
        </p:nvSpPr>
        <p:spPr>
          <a:xfrm>
            <a:off x="3364992" y="365760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7.5</a:t>
            </a:r>
            <a:endParaRPr lang="en-US" sz="950" dirty="0"/>
          </a:p>
        </p:txBody>
      </p:sp>
      <p:sp>
        <p:nvSpPr>
          <p:cNvPr id="90" name="Text 88"/>
          <p:cNvSpPr/>
          <p:nvPr/>
        </p:nvSpPr>
        <p:spPr>
          <a:xfrm>
            <a:off x="3867912" y="365760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</a:t>
            </a:r>
            <a:endParaRPr lang="en-US" sz="950" dirty="0"/>
          </a:p>
        </p:txBody>
      </p:sp>
      <p:sp>
        <p:nvSpPr>
          <p:cNvPr id="91" name="Text 89"/>
          <p:cNvSpPr/>
          <p:nvPr/>
        </p:nvSpPr>
        <p:spPr>
          <a:xfrm>
            <a:off x="4370832" y="365760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  <p:sp>
        <p:nvSpPr>
          <p:cNvPr id="92" name="Text 90"/>
          <p:cNvSpPr/>
          <p:nvPr/>
        </p:nvSpPr>
        <p:spPr>
          <a:xfrm>
            <a:off x="4873752" y="365760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</a:t>
            </a:r>
            <a:endParaRPr lang="en-US" sz="950" dirty="0"/>
          </a:p>
        </p:txBody>
      </p:sp>
      <p:sp>
        <p:nvSpPr>
          <p:cNvPr id="93" name="Text 91"/>
          <p:cNvSpPr/>
          <p:nvPr/>
        </p:nvSpPr>
        <p:spPr>
          <a:xfrm>
            <a:off x="5376672" y="365760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6.7</a:t>
            </a:r>
            <a:endParaRPr lang="en-US" sz="1050" dirty="0"/>
          </a:p>
        </p:txBody>
      </p:sp>
      <p:sp>
        <p:nvSpPr>
          <p:cNvPr id="94" name="Text 92"/>
          <p:cNvSpPr/>
          <p:nvPr/>
        </p:nvSpPr>
        <p:spPr>
          <a:xfrm>
            <a:off x="6108192" y="365760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</a:t>
            </a:r>
            <a:endParaRPr lang="en-US" sz="950" dirty="0"/>
          </a:p>
        </p:txBody>
      </p:sp>
      <p:sp>
        <p:nvSpPr>
          <p:cNvPr id="95" name="Shape 93"/>
          <p:cNvSpPr/>
          <p:nvPr/>
        </p:nvSpPr>
        <p:spPr>
          <a:xfrm>
            <a:off x="502920" y="3968496"/>
            <a:ext cx="8549640" cy="310896"/>
          </a:xfrm>
          <a:prstGeom prst="rect">
            <a:avLst/>
          </a:prstGeom>
          <a:solidFill>
            <a:srgbClr val="1A2E42"/>
          </a:solidFill>
          <a:ln w="6350">
            <a:solidFill>
              <a:srgbClr val="2D4A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96" name="Text 94"/>
          <p:cNvSpPr/>
          <p:nvPr/>
        </p:nvSpPr>
        <p:spPr>
          <a:xfrm>
            <a:off x="530352" y="396849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1X Tech</a:t>
            </a:r>
            <a:endParaRPr lang="en-US" sz="950" dirty="0"/>
          </a:p>
        </p:txBody>
      </p:sp>
      <p:sp>
        <p:nvSpPr>
          <p:cNvPr id="97" name="Text 95"/>
          <p:cNvSpPr/>
          <p:nvPr/>
        </p:nvSpPr>
        <p:spPr>
          <a:xfrm>
            <a:off x="2359152" y="3968496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🇺🇸</a:t>
            </a:r>
            <a:endParaRPr lang="en-US" sz="950" dirty="0"/>
          </a:p>
        </p:txBody>
      </p:sp>
      <p:sp>
        <p:nvSpPr>
          <p:cNvPr id="98" name="Text 96"/>
          <p:cNvSpPr/>
          <p:nvPr/>
        </p:nvSpPr>
        <p:spPr>
          <a:xfrm>
            <a:off x="2862072" y="3968496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  <p:sp>
        <p:nvSpPr>
          <p:cNvPr id="99" name="Text 97"/>
          <p:cNvSpPr/>
          <p:nvPr/>
        </p:nvSpPr>
        <p:spPr>
          <a:xfrm>
            <a:off x="3364992" y="3968496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  <p:sp>
        <p:nvSpPr>
          <p:cNvPr id="100" name="Text 98"/>
          <p:cNvSpPr/>
          <p:nvPr/>
        </p:nvSpPr>
        <p:spPr>
          <a:xfrm>
            <a:off x="3867912" y="3968496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</a:t>
            </a:r>
            <a:endParaRPr lang="en-US" sz="950" dirty="0"/>
          </a:p>
        </p:txBody>
      </p:sp>
      <p:sp>
        <p:nvSpPr>
          <p:cNvPr id="101" name="Text 99"/>
          <p:cNvSpPr/>
          <p:nvPr/>
        </p:nvSpPr>
        <p:spPr>
          <a:xfrm>
            <a:off x="4370832" y="3968496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  <p:sp>
        <p:nvSpPr>
          <p:cNvPr id="102" name="Text 100"/>
          <p:cNvSpPr/>
          <p:nvPr/>
        </p:nvSpPr>
        <p:spPr>
          <a:xfrm>
            <a:off x="4873752" y="3968496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  <p:sp>
        <p:nvSpPr>
          <p:cNvPr id="103" name="Text 101"/>
          <p:cNvSpPr/>
          <p:nvPr/>
        </p:nvSpPr>
        <p:spPr>
          <a:xfrm>
            <a:off x="5376672" y="3968496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6.9</a:t>
            </a:r>
            <a:endParaRPr lang="en-US" sz="1050" dirty="0"/>
          </a:p>
        </p:txBody>
      </p:sp>
      <p:sp>
        <p:nvSpPr>
          <p:cNvPr id="104" name="Text 102"/>
          <p:cNvSpPr/>
          <p:nvPr/>
        </p:nvSpPr>
        <p:spPr>
          <a:xfrm>
            <a:off x="6108192" y="3968496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</a:t>
            </a:r>
            <a:endParaRPr lang="en-US" sz="950" dirty="0"/>
          </a:p>
        </p:txBody>
      </p:sp>
      <p:sp>
        <p:nvSpPr>
          <p:cNvPr id="105" name="Shape 103"/>
          <p:cNvSpPr/>
          <p:nvPr/>
        </p:nvSpPr>
        <p:spPr>
          <a:xfrm>
            <a:off x="502920" y="4279392"/>
            <a:ext cx="8549640" cy="310896"/>
          </a:xfrm>
          <a:prstGeom prst="rect">
            <a:avLst/>
          </a:prstGeom>
          <a:solidFill>
            <a:srgbClr val="16213E"/>
          </a:solidFill>
          <a:ln w="6350">
            <a:solidFill>
              <a:srgbClr val="2D4A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06" name="Text 104"/>
          <p:cNvSpPr/>
          <p:nvPr/>
        </p:nvSpPr>
        <p:spPr>
          <a:xfrm>
            <a:off x="530352" y="427939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Sanctuary</a:t>
            </a:r>
            <a:endParaRPr lang="en-US" sz="950" dirty="0"/>
          </a:p>
        </p:txBody>
      </p:sp>
      <p:sp>
        <p:nvSpPr>
          <p:cNvPr id="107" name="Text 105"/>
          <p:cNvSpPr/>
          <p:nvPr/>
        </p:nvSpPr>
        <p:spPr>
          <a:xfrm>
            <a:off x="2359152" y="4279392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🇨🇦</a:t>
            </a:r>
            <a:endParaRPr lang="en-US" sz="950" dirty="0"/>
          </a:p>
        </p:txBody>
      </p:sp>
      <p:sp>
        <p:nvSpPr>
          <p:cNvPr id="108" name="Text 106"/>
          <p:cNvSpPr/>
          <p:nvPr/>
        </p:nvSpPr>
        <p:spPr>
          <a:xfrm>
            <a:off x="2862072" y="4279392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  <p:sp>
        <p:nvSpPr>
          <p:cNvPr id="109" name="Text 107"/>
          <p:cNvSpPr/>
          <p:nvPr/>
        </p:nvSpPr>
        <p:spPr>
          <a:xfrm>
            <a:off x="3364992" y="4279392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  <p:sp>
        <p:nvSpPr>
          <p:cNvPr id="110" name="Text 108"/>
          <p:cNvSpPr/>
          <p:nvPr/>
        </p:nvSpPr>
        <p:spPr>
          <a:xfrm>
            <a:off x="3867912" y="4279392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  <p:sp>
        <p:nvSpPr>
          <p:cNvPr id="111" name="Text 109"/>
          <p:cNvSpPr/>
          <p:nvPr/>
        </p:nvSpPr>
        <p:spPr>
          <a:xfrm>
            <a:off x="4370832" y="4279392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  <p:sp>
        <p:nvSpPr>
          <p:cNvPr id="112" name="Text 110"/>
          <p:cNvSpPr/>
          <p:nvPr/>
        </p:nvSpPr>
        <p:spPr>
          <a:xfrm>
            <a:off x="4873752" y="4279392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  <p:sp>
        <p:nvSpPr>
          <p:cNvPr id="113" name="Text 111"/>
          <p:cNvSpPr/>
          <p:nvPr/>
        </p:nvSpPr>
        <p:spPr>
          <a:xfrm>
            <a:off x="5376672" y="4279392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6.6</a:t>
            </a:r>
            <a:endParaRPr lang="en-US" sz="1050" dirty="0"/>
          </a:p>
        </p:txBody>
      </p:sp>
      <p:sp>
        <p:nvSpPr>
          <p:cNvPr id="114" name="Text 112"/>
          <p:cNvSpPr/>
          <p:nvPr/>
        </p:nvSpPr>
        <p:spPr>
          <a:xfrm>
            <a:off x="6108192" y="4279392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▬</a:t>
            </a:r>
            <a:endParaRPr lang="en-US" sz="950" dirty="0"/>
          </a:p>
        </p:txBody>
      </p:sp>
      <p:sp>
        <p:nvSpPr>
          <p:cNvPr id="115" name="Shape 113"/>
          <p:cNvSpPr/>
          <p:nvPr/>
        </p:nvSpPr>
        <p:spPr>
          <a:xfrm>
            <a:off x="502920" y="4590288"/>
            <a:ext cx="8549640" cy="310896"/>
          </a:xfrm>
          <a:prstGeom prst="rect">
            <a:avLst/>
          </a:prstGeom>
          <a:solidFill>
            <a:srgbClr val="1A2E42"/>
          </a:solidFill>
          <a:ln w="6350">
            <a:solidFill>
              <a:srgbClr val="2D4A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16" name="Text 114"/>
          <p:cNvSpPr/>
          <p:nvPr/>
        </p:nvSpPr>
        <p:spPr>
          <a:xfrm>
            <a:off x="530352" y="459028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小鹏 PXES</a:t>
            </a:r>
            <a:endParaRPr lang="en-US" sz="950" dirty="0"/>
          </a:p>
        </p:txBody>
      </p:sp>
      <p:sp>
        <p:nvSpPr>
          <p:cNvPr id="117" name="Text 115"/>
          <p:cNvSpPr/>
          <p:nvPr/>
        </p:nvSpPr>
        <p:spPr>
          <a:xfrm>
            <a:off x="2359152" y="4590288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🇨🇳</a:t>
            </a:r>
            <a:endParaRPr lang="en-US" sz="950" dirty="0"/>
          </a:p>
        </p:txBody>
      </p:sp>
      <p:sp>
        <p:nvSpPr>
          <p:cNvPr id="118" name="Text 116"/>
          <p:cNvSpPr/>
          <p:nvPr/>
        </p:nvSpPr>
        <p:spPr>
          <a:xfrm>
            <a:off x="2862072" y="4590288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  <p:sp>
        <p:nvSpPr>
          <p:cNvPr id="119" name="Text 117"/>
          <p:cNvSpPr/>
          <p:nvPr/>
        </p:nvSpPr>
        <p:spPr>
          <a:xfrm>
            <a:off x="3364992" y="4590288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  <p:sp>
        <p:nvSpPr>
          <p:cNvPr id="120" name="Text 118"/>
          <p:cNvSpPr/>
          <p:nvPr/>
        </p:nvSpPr>
        <p:spPr>
          <a:xfrm>
            <a:off x="3867912" y="4590288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  <p:sp>
        <p:nvSpPr>
          <p:cNvPr id="121" name="Text 119"/>
          <p:cNvSpPr/>
          <p:nvPr/>
        </p:nvSpPr>
        <p:spPr>
          <a:xfrm>
            <a:off x="4370832" y="4590288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  <p:sp>
        <p:nvSpPr>
          <p:cNvPr id="122" name="Text 120"/>
          <p:cNvSpPr/>
          <p:nvPr/>
        </p:nvSpPr>
        <p:spPr>
          <a:xfrm>
            <a:off x="4873752" y="4590288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</a:t>
            </a:r>
            <a:endParaRPr lang="en-US" sz="950" dirty="0"/>
          </a:p>
        </p:txBody>
      </p:sp>
      <p:sp>
        <p:nvSpPr>
          <p:cNvPr id="123" name="Text 121"/>
          <p:cNvSpPr/>
          <p:nvPr/>
        </p:nvSpPr>
        <p:spPr>
          <a:xfrm>
            <a:off x="5376672" y="4590288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6.7</a:t>
            </a:r>
            <a:endParaRPr lang="en-US" sz="1050" dirty="0"/>
          </a:p>
        </p:txBody>
      </p:sp>
      <p:sp>
        <p:nvSpPr>
          <p:cNvPr id="124" name="Text 122"/>
          <p:cNvSpPr/>
          <p:nvPr/>
        </p:nvSpPr>
        <p:spPr>
          <a:xfrm>
            <a:off x="6108192" y="4590288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</a:t>
            </a:r>
            <a:endParaRPr lang="en-US" sz="950" dirty="0"/>
          </a:p>
        </p:txBody>
      </p:sp>
      <p:sp>
        <p:nvSpPr>
          <p:cNvPr id="125" name="Shape 123"/>
          <p:cNvSpPr/>
          <p:nvPr/>
        </p:nvSpPr>
        <p:spPr>
          <a:xfrm>
            <a:off x="502920" y="4901184"/>
            <a:ext cx="8549640" cy="310896"/>
          </a:xfrm>
          <a:prstGeom prst="rect">
            <a:avLst/>
          </a:prstGeom>
          <a:solidFill>
            <a:srgbClr val="16213E"/>
          </a:solidFill>
          <a:ln w="6350">
            <a:solidFill>
              <a:srgbClr val="2D4A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26" name="Text 124"/>
          <p:cNvSpPr/>
          <p:nvPr/>
        </p:nvSpPr>
        <p:spPr>
          <a:xfrm>
            <a:off x="530352" y="490118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</a:t>
            </a:r>
            <a:endParaRPr lang="en-US" sz="950" dirty="0"/>
          </a:p>
        </p:txBody>
      </p:sp>
      <p:sp>
        <p:nvSpPr>
          <p:cNvPr id="127" name="Text 125"/>
          <p:cNvSpPr/>
          <p:nvPr/>
        </p:nvSpPr>
        <p:spPr>
          <a:xfrm>
            <a:off x="2359152" y="4901184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🇺🇸</a:t>
            </a:r>
            <a:endParaRPr lang="en-US" sz="950" dirty="0"/>
          </a:p>
        </p:txBody>
      </p:sp>
      <p:sp>
        <p:nvSpPr>
          <p:cNvPr id="128" name="Text 126"/>
          <p:cNvSpPr/>
          <p:nvPr/>
        </p:nvSpPr>
        <p:spPr>
          <a:xfrm>
            <a:off x="2862072" y="4901184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</a:t>
            </a:r>
            <a:endParaRPr lang="en-US" sz="950" dirty="0"/>
          </a:p>
        </p:txBody>
      </p:sp>
      <p:sp>
        <p:nvSpPr>
          <p:cNvPr id="129" name="Text 127"/>
          <p:cNvSpPr/>
          <p:nvPr/>
        </p:nvSpPr>
        <p:spPr>
          <a:xfrm>
            <a:off x="3364992" y="4901184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</a:t>
            </a:r>
            <a:endParaRPr lang="en-US" sz="950" dirty="0"/>
          </a:p>
        </p:txBody>
      </p:sp>
      <p:sp>
        <p:nvSpPr>
          <p:cNvPr id="130" name="Text 128"/>
          <p:cNvSpPr/>
          <p:nvPr/>
        </p:nvSpPr>
        <p:spPr>
          <a:xfrm>
            <a:off x="3867912" y="4901184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  <p:sp>
        <p:nvSpPr>
          <p:cNvPr id="131" name="Text 129"/>
          <p:cNvSpPr/>
          <p:nvPr/>
        </p:nvSpPr>
        <p:spPr>
          <a:xfrm>
            <a:off x="4370832" y="4901184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</a:t>
            </a:r>
            <a:endParaRPr lang="en-US" sz="950" dirty="0"/>
          </a:p>
        </p:txBody>
      </p:sp>
      <p:sp>
        <p:nvSpPr>
          <p:cNvPr id="132" name="Text 130"/>
          <p:cNvSpPr/>
          <p:nvPr/>
        </p:nvSpPr>
        <p:spPr>
          <a:xfrm>
            <a:off x="4873752" y="4901184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  <p:sp>
        <p:nvSpPr>
          <p:cNvPr id="133" name="Text 131"/>
          <p:cNvSpPr/>
          <p:nvPr/>
        </p:nvSpPr>
        <p:spPr>
          <a:xfrm>
            <a:off x="5376672" y="4901184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6.3</a:t>
            </a:r>
            <a:endParaRPr lang="en-US" sz="1050" dirty="0"/>
          </a:p>
        </p:txBody>
      </p:sp>
      <p:sp>
        <p:nvSpPr>
          <p:cNvPr id="134" name="Text 132"/>
          <p:cNvSpPr/>
          <p:nvPr/>
        </p:nvSpPr>
        <p:spPr>
          <a:xfrm>
            <a:off x="6108192" y="4901184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950" dirty="0"/>
          </a:p>
        </p:txBody>
      </p:sp>
      <p:sp>
        <p:nvSpPr>
          <p:cNvPr id="135" name="Shape 133"/>
          <p:cNvSpPr/>
          <p:nvPr/>
        </p:nvSpPr>
        <p:spPr>
          <a:xfrm>
            <a:off x="502920" y="4736592"/>
            <a:ext cx="164592" cy="16459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722376" y="47274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A(Advancement)</a:t>
            </a:r>
            <a:endParaRPr lang="en-US" sz="850" dirty="0"/>
          </a:p>
        </p:txBody>
      </p:sp>
      <p:sp>
        <p:nvSpPr>
          <p:cNvPr id="137" name="Shape 135"/>
          <p:cNvSpPr/>
          <p:nvPr/>
        </p:nvSpPr>
        <p:spPr>
          <a:xfrm>
            <a:off x="2240280" y="4736592"/>
            <a:ext cx="164592" cy="164592"/>
          </a:xfrm>
          <a:prstGeom prst="rect">
            <a:avLst/>
          </a:prstGeom>
          <a:solidFill>
            <a:srgbClr val="90E0EF"/>
          </a:solidFill>
          <a:ln w="12700">
            <a:solidFill>
              <a:srgbClr val="90E0EF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2459736" y="47274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M(Mastery)</a:t>
            </a:r>
            <a:endParaRPr lang="en-US" sz="850" dirty="0"/>
          </a:p>
        </p:txBody>
      </p:sp>
      <p:sp>
        <p:nvSpPr>
          <p:cNvPr id="139" name="Shape 137"/>
          <p:cNvSpPr/>
          <p:nvPr/>
        </p:nvSpPr>
        <p:spPr>
          <a:xfrm>
            <a:off x="3977640" y="4736592"/>
            <a:ext cx="164592" cy="164592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4197096" y="47274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O(Operations)</a:t>
            </a:r>
            <a:endParaRPr lang="en-US" sz="850" dirty="0"/>
          </a:p>
        </p:txBody>
      </p:sp>
      <p:sp>
        <p:nvSpPr>
          <p:cNvPr id="141" name="Shape 139"/>
          <p:cNvSpPr/>
          <p:nvPr/>
        </p:nvSpPr>
        <p:spPr>
          <a:xfrm>
            <a:off x="5715000" y="4736592"/>
            <a:ext cx="164592" cy="164592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5934456" y="47274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R(Reach)</a:t>
            </a:r>
            <a:endParaRPr lang="en-US" sz="850" dirty="0"/>
          </a:p>
        </p:txBody>
      </p:sp>
      <p:sp>
        <p:nvSpPr>
          <p:cNvPr id="143" name="Shape 141"/>
          <p:cNvSpPr/>
          <p:nvPr/>
        </p:nvSpPr>
        <p:spPr>
          <a:xfrm>
            <a:off x="7452360" y="4736592"/>
            <a:ext cx="164592" cy="164592"/>
          </a:xfrm>
          <a:prstGeom prst="rec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7671816" y="47274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A2(Assets)</a:t>
            </a:r>
            <a:endParaRPr lang="en-US" sz="850" dirty="0"/>
          </a:p>
        </p:txBody>
      </p:sp>
      <p:sp>
        <p:nvSpPr>
          <p:cNvPr id="145" name="Text 143"/>
          <p:cNvSpPr/>
          <p:nvPr/>
        </p:nvSpPr>
        <p:spPr>
          <a:xfrm>
            <a:off x="8321040" y="480974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28016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1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AMORA Score — 头部企业雷达图对比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73152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宇树 vs Tesla Optimus vs Figure AI vs UBTECH — 五维能力可视化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0" cy="0"/>
          </a:xfrm>
          <a:prstGeom prst="polygon">
            <a:avLst/>
          </a:prstGeom>
          <a:ln w="6350">
            <a:solidFill>
              <a:srgbClr val="2D4A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0"/>
            <a:ext cx="0" cy="0"/>
          </a:xfrm>
          <a:prstGeom prst="polygon">
            <a:avLst/>
          </a:prstGeom>
          <a:ln w="6350">
            <a:solidFill>
              <a:srgbClr val="2D4A6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0"/>
            <a:ext cx="0" cy="0"/>
          </a:xfrm>
          <a:prstGeom prst="polygon">
            <a:avLst/>
          </a:prstGeom>
          <a:ln w="6350">
            <a:solidFill>
              <a:srgbClr val="2D4A6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0"/>
            <a:ext cx="0" cy="0"/>
          </a:xfrm>
          <a:prstGeom prst="polygon">
            <a:avLst/>
          </a:prstGeom>
          <a:ln w="6350">
            <a:solidFill>
              <a:srgbClr val="2D4A6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0"/>
            <a:ext cx="0" cy="0"/>
          </a:xfrm>
          <a:prstGeom prst="polygon">
            <a:avLst/>
          </a:prstGeom>
          <a:ln w="6350">
            <a:solidFill>
              <a:srgbClr val="2D4A6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00400" y="1005840"/>
            <a:ext cx="9144" cy="2011680"/>
          </a:xfrm>
          <a:prstGeom prst="rect">
            <a:avLst/>
          </a:prstGeom>
          <a:solidFill>
            <a:srgbClr val="2D4A61">
              <a:alpha val="30000"/>
            </a:srgbClr>
          </a:solidFill>
          <a:ln w="12700">
            <a:solidFill>
              <a:srgbClr val="2D4A6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0" y="2395877"/>
            <a:ext cx="1913221" cy="621643"/>
          </a:xfrm>
          <a:prstGeom prst="rect">
            <a:avLst/>
          </a:prstGeom>
          <a:solidFill>
            <a:srgbClr val="2D4A61">
              <a:alpha val="30000"/>
            </a:srgbClr>
          </a:solidFill>
          <a:ln w="12700">
            <a:solidFill>
              <a:srgbClr val="2D4A6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00400" y="3017520"/>
            <a:ext cx="1182436" cy="1627483"/>
          </a:xfrm>
          <a:prstGeom prst="rect">
            <a:avLst/>
          </a:prstGeom>
          <a:solidFill>
            <a:srgbClr val="2D4A61">
              <a:alpha val="30000"/>
            </a:srgbClr>
          </a:solidFill>
          <a:ln w="12700">
            <a:solidFill>
              <a:srgbClr val="2D4A6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017964" y="3017520"/>
            <a:ext cx="1182436" cy="1627483"/>
          </a:xfrm>
          <a:prstGeom prst="rect">
            <a:avLst/>
          </a:prstGeom>
          <a:solidFill>
            <a:srgbClr val="2D4A61">
              <a:alpha val="30000"/>
            </a:srgbClr>
          </a:solidFill>
          <a:ln w="12700">
            <a:solidFill>
              <a:srgbClr val="2D4A6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87179" y="2395877"/>
            <a:ext cx="1913221" cy="621643"/>
          </a:xfrm>
          <a:prstGeom prst="rect">
            <a:avLst/>
          </a:prstGeom>
          <a:solidFill>
            <a:srgbClr val="2D4A61">
              <a:alpha val="30000"/>
            </a:srgbClr>
          </a:solidFill>
          <a:ln w="12700">
            <a:solidFill>
              <a:srgbClr val="2D4A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51760" y="566928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Advancement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825875" y="2146515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Mastery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995437" y="4702341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308083" y="4702341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77645" y="2146515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 rot="1973057">
            <a:off x="3200400" y="1307592"/>
            <a:ext cx="2096010" cy="9144"/>
          </a:xfrm>
          <a:prstGeom prst="rect">
            <a:avLst/>
          </a:prstGeom>
          <a:solidFill>
            <a:srgbClr val="FFD166">
              <a:alpha val="70000"/>
            </a:srgbClr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6531992">
            <a:off x="4960564" y="2445608"/>
            <a:ext cx="2152279" cy="9144"/>
          </a:xfrm>
          <a:prstGeom prst="rect">
            <a:avLst/>
          </a:prstGeom>
          <a:solidFill>
            <a:srgbClr val="FFD166">
              <a:alpha val="70000"/>
            </a:srgbClr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-10522273">
            <a:off x="4264592" y="4482255"/>
            <a:ext cx="2016719" cy="9144"/>
          </a:xfrm>
          <a:prstGeom prst="rect">
            <a:avLst/>
          </a:prstGeom>
          <a:solidFill>
            <a:srgbClr val="FFD166">
              <a:alpha val="70000"/>
            </a:srgbClr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-6883704">
            <a:off x="2254451" y="4319507"/>
            <a:ext cx="2083613" cy="9144"/>
          </a:xfrm>
          <a:prstGeom prst="rect">
            <a:avLst/>
          </a:prstGeom>
          <a:solidFill>
            <a:srgbClr val="FFD166">
              <a:alpha val="70000"/>
            </a:srgbClr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-1897641">
            <a:off x="1382840" y="2426959"/>
            <a:ext cx="2134598" cy="9144"/>
          </a:xfrm>
          <a:prstGeom prst="rect">
            <a:avLst/>
          </a:prstGeom>
          <a:solidFill>
            <a:srgbClr val="FFD166">
              <a:alpha val="70000"/>
            </a:srgbClr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136392" y="1243584"/>
            <a:ext cx="128016" cy="128016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896556" y="2381600"/>
            <a:ext cx="128016" cy="128016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200584" y="4418247"/>
            <a:ext cx="128016" cy="128016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190443" y="4255499"/>
            <a:ext cx="128016" cy="128016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18832" y="2362951"/>
            <a:ext cx="128016" cy="128016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801089" y="2850080"/>
            <a:ext cx="822960" cy="256032"/>
          </a:xfrm>
          <a:prstGeom prst="rect">
            <a:avLst/>
          </a:prstGeom>
          <a:solidFill>
            <a:srgbClr val="FFD166">
              <a:alpha val="80000"/>
            </a:srgbClr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801089" y="285008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宇树科技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 rot="2287824">
            <a:off x="3200400" y="1106424"/>
            <a:ext cx="2189019" cy="9144"/>
          </a:xfrm>
          <a:prstGeom prst="rect">
            <a:avLst/>
          </a:prstGeom>
          <a:solidFill>
            <a:srgbClr val="FF9F1C">
              <a:alpha val="75000"/>
            </a:srgbClr>
          </a:solidFill>
          <a:ln w="12700">
            <a:solidFill>
              <a:srgbClr val="FF9F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rot="7065722">
            <a:off x="4922299" y="2458041"/>
            <a:ext cx="1919694" cy="9144"/>
          </a:xfrm>
          <a:prstGeom prst="rect">
            <a:avLst/>
          </a:prstGeom>
          <a:solidFill>
            <a:srgbClr val="FF9F1C">
              <a:alpha val="75000"/>
            </a:srgbClr>
          </a:solidFill>
          <a:ln w="12700">
            <a:solidFill>
              <a:srgbClr val="FF9F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rot="10093213">
            <a:off x="4028105" y="4156758"/>
            <a:ext cx="1992993" cy="9144"/>
          </a:xfrm>
          <a:prstGeom prst="rect">
            <a:avLst/>
          </a:prstGeom>
          <a:solidFill>
            <a:srgbClr val="FF9F1C">
              <a:alpha val="75000"/>
            </a:srgbClr>
          </a:solidFill>
          <a:ln w="12700">
            <a:solidFill>
              <a:srgbClr val="FF9F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-6076296">
            <a:off x="2077086" y="4563629"/>
            <a:ext cx="2083613" cy="9144"/>
          </a:xfrm>
          <a:prstGeom prst="rect">
            <a:avLst/>
          </a:prstGeom>
          <a:solidFill>
            <a:srgbClr val="FF9F1C">
              <a:alpha val="75000"/>
            </a:srgbClr>
          </a:solidFill>
          <a:ln w="12700">
            <a:solidFill>
              <a:srgbClr val="FF9F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rot="-2563704">
            <a:off x="1669823" y="2520205"/>
            <a:ext cx="2083613" cy="9144"/>
          </a:xfrm>
          <a:prstGeom prst="rect">
            <a:avLst/>
          </a:prstGeom>
          <a:solidFill>
            <a:srgbClr val="FF9F1C">
              <a:alpha val="75000"/>
            </a:srgbClr>
          </a:solidFill>
          <a:ln w="12700">
            <a:solidFill>
              <a:srgbClr val="FF9F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136392" y="1042416"/>
            <a:ext cx="128016" cy="128016"/>
          </a:xfrm>
          <a:prstGeom prst="ellipse">
            <a:avLst/>
          </a:prstGeom>
          <a:solidFill>
            <a:srgbClr val="FF9F1C"/>
          </a:solidFill>
          <a:ln w="12700">
            <a:solidFill>
              <a:srgbClr val="FF9F1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858291" y="2394033"/>
            <a:ext cx="128016" cy="128016"/>
          </a:xfrm>
          <a:prstGeom prst="ellipse">
            <a:avLst/>
          </a:prstGeom>
          <a:solidFill>
            <a:srgbClr val="FF9F1C"/>
          </a:solidFill>
          <a:ln w="12700">
            <a:solidFill>
              <a:srgbClr val="FF9F1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964097" y="4092750"/>
            <a:ext cx="128016" cy="128016"/>
          </a:xfrm>
          <a:prstGeom prst="ellipse">
            <a:avLst/>
          </a:prstGeom>
          <a:solidFill>
            <a:srgbClr val="FF9F1C"/>
          </a:solidFill>
          <a:ln w="12700">
            <a:solidFill>
              <a:srgbClr val="FF9F1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13078" y="4499621"/>
            <a:ext cx="128016" cy="128016"/>
          </a:xfrm>
          <a:prstGeom prst="ellipse">
            <a:avLst/>
          </a:prstGeom>
          <a:solidFill>
            <a:srgbClr val="FF9F1C"/>
          </a:solidFill>
          <a:ln w="12700">
            <a:solidFill>
              <a:srgbClr val="FF9F1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605815" y="2456197"/>
            <a:ext cx="128016" cy="128016"/>
          </a:xfrm>
          <a:prstGeom prst="ellipse">
            <a:avLst/>
          </a:prstGeom>
          <a:solidFill>
            <a:srgbClr val="FF9F1C"/>
          </a:solidFill>
          <a:ln w="12700">
            <a:solidFill>
              <a:srgbClr val="FF9F1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768063" y="2814708"/>
            <a:ext cx="822960" cy="256032"/>
          </a:xfrm>
          <a:prstGeom prst="rect">
            <a:avLst/>
          </a:prstGeom>
          <a:solidFill>
            <a:srgbClr val="FF9F1C">
              <a:alpha val="80000"/>
            </a:srgbClr>
          </a:solidFill>
          <a:ln w="12700">
            <a:solidFill>
              <a:srgbClr val="FF9F1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768063" y="281470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9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Tesla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 rot="2295120">
            <a:off x="3200400" y="1207008"/>
            <a:ext cx="2070862" cy="9144"/>
          </a:xfrm>
          <a:prstGeom prst="rect">
            <a:avLst/>
          </a:prstGeom>
          <a:solidFill>
            <a:srgbClr val="EF476F">
              <a:alpha val="80000"/>
            </a:srgbClr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rot="7465971">
            <a:off x="4826638" y="2489123"/>
            <a:ext cx="1725910" cy="9144"/>
          </a:xfrm>
          <a:prstGeom prst="rect">
            <a:avLst/>
          </a:prstGeom>
          <a:solidFill>
            <a:srgbClr val="EF476F">
              <a:alpha val="80000"/>
            </a:srgbClr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rot="9942036">
            <a:off x="3850740" y="3912636"/>
            <a:ext cx="1647325" cy="9144"/>
          </a:xfrm>
          <a:prstGeom prst="rect">
            <a:avLst/>
          </a:prstGeom>
          <a:solidFill>
            <a:srgbClr val="EF476F">
              <a:alpha val="80000"/>
            </a:srgbClr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rot="-6623300">
            <a:off x="2254451" y="4319507"/>
            <a:ext cx="1952715" cy="9144"/>
          </a:xfrm>
          <a:prstGeom prst="rect">
            <a:avLst/>
          </a:prstGeom>
          <a:solidFill>
            <a:srgbClr val="EF476F">
              <a:alpha val="80000"/>
            </a:srgbClr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rot="-2295120">
            <a:off x="1574162" y="2489123"/>
            <a:ext cx="2070862" cy="9144"/>
          </a:xfrm>
          <a:prstGeom prst="rect">
            <a:avLst/>
          </a:prstGeom>
          <a:solidFill>
            <a:srgbClr val="EF476F">
              <a:alpha val="80000"/>
            </a:srgbClr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136392" y="1143000"/>
            <a:ext cx="128016" cy="128016"/>
          </a:xfrm>
          <a:prstGeom prst="ellips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762630" y="2425115"/>
            <a:ext cx="128016" cy="128016"/>
          </a:xfrm>
          <a:prstGeom prst="ellips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786732" y="3848628"/>
            <a:ext cx="128016" cy="128016"/>
          </a:xfrm>
          <a:prstGeom prst="ellips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190443" y="4255499"/>
            <a:ext cx="128016" cy="128016"/>
          </a:xfrm>
          <a:prstGeom prst="ellips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510154" y="2425115"/>
            <a:ext cx="128016" cy="128016"/>
          </a:xfrm>
          <a:prstGeom prst="ellips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729798" y="2737175"/>
            <a:ext cx="822960" cy="256032"/>
          </a:xfrm>
          <a:prstGeom prst="rect">
            <a:avLst/>
          </a:prstGeom>
          <a:solidFill>
            <a:srgbClr val="EF476F">
              <a:alpha val="80000"/>
            </a:srgbClr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729798" y="2737175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AI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 rot="2016700">
            <a:off x="3200400" y="1408176"/>
            <a:ext cx="1952715" cy="9144"/>
          </a:xfrm>
          <a:prstGeom prst="rect">
            <a:avLst/>
          </a:prstGeom>
          <a:solidFill>
            <a:srgbClr val="00B4D8">
              <a:alpha val="85000"/>
            </a:srgbClr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rot="7001697">
            <a:off x="4826638" y="2489123"/>
            <a:ext cx="1830160" cy="9144"/>
          </a:xfrm>
          <a:prstGeom prst="rect">
            <a:avLst/>
          </a:prstGeom>
          <a:solidFill>
            <a:srgbClr val="00B4D8">
              <a:alpha val="85000"/>
            </a:srgbClr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rot="10568730">
            <a:off x="4004456" y="4124209"/>
            <a:ext cx="1694717" cy="9144"/>
          </a:xfrm>
          <a:prstGeom prst="rect">
            <a:avLst/>
          </a:prstGeom>
          <a:solidFill>
            <a:srgbClr val="00B4D8">
              <a:alpha val="85000"/>
            </a:srgbClr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rot="-6316962">
            <a:off x="2313573" y="4238132"/>
            <a:ext cx="1716462" cy="9144"/>
          </a:xfrm>
          <a:prstGeom prst="rect">
            <a:avLst/>
          </a:prstGeom>
          <a:solidFill>
            <a:srgbClr val="00B4D8">
              <a:alpha val="85000"/>
            </a:srgbClr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rot="-2474563">
            <a:off x="1861145" y="2582370"/>
            <a:ext cx="1781105" cy="9144"/>
          </a:xfrm>
          <a:prstGeom prst="rect">
            <a:avLst/>
          </a:prstGeom>
          <a:solidFill>
            <a:srgbClr val="00B4D8">
              <a:alpha val="85000"/>
            </a:srgbClr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3136392" y="1344168"/>
            <a:ext cx="128016" cy="128016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762630" y="2425115"/>
            <a:ext cx="128016" cy="128016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940448" y="4060201"/>
            <a:ext cx="128016" cy="128016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2249565" y="4174124"/>
            <a:ext cx="128016" cy="128016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1797137" y="2518362"/>
            <a:ext cx="128016" cy="128016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2829763" y="2822098"/>
            <a:ext cx="822960" cy="256032"/>
          </a:xfrm>
          <a:prstGeom prst="rect">
            <a:avLst/>
          </a:prstGeom>
          <a:solidFill>
            <a:srgbClr val="00B4D8">
              <a:alpha val="80000"/>
            </a:srgbClr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2829763" y="282209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UBTECH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6217920" y="1115568"/>
            <a:ext cx="2468880" cy="3657600"/>
          </a:xfrm>
          <a:prstGeom prst="rect">
            <a:avLst/>
          </a:prstGeom>
          <a:solidFill>
            <a:srgbClr val="1A2E42"/>
          </a:solidFill>
          <a:ln w="12700">
            <a:solidFill>
              <a:srgbClr val="2D4A6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69" name="Shape 67"/>
          <p:cNvSpPr/>
          <p:nvPr/>
        </p:nvSpPr>
        <p:spPr>
          <a:xfrm>
            <a:off x="6217920" y="1115568"/>
            <a:ext cx="2468880" cy="54864"/>
          </a:xfrm>
          <a:prstGeom prst="rect">
            <a:avLst/>
          </a:prstGeom>
          <a:solidFill>
            <a:srgbClr val="C77DFF"/>
          </a:solidFill>
          <a:ln w="12700">
            <a:solidFill>
              <a:srgbClr val="C77DF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309360" y="12070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评分说明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6309360" y="1572768"/>
            <a:ext cx="2286000" cy="548640"/>
          </a:xfrm>
          <a:prstGeom prst="rect">
            <a:avLst/>
          </a:prstGeom>
          <a:solidFill>
            <a:srgbClr val="1A2E42"/>
          </a:solidFill>
          <a:ln w="6350">
            <a:solidFill>
              <a:srgbClr val="2D4A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72" name="Shape 70"/>
          <p:cNvSpPr/>
          <p:nvPr/>
        </p:nvSpPr>
        <p:spPr>
          <a:xfrm>
            <a:off x="6309360" y="1572768"/>
            <a:ext cx="54864" cy="5486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6419088" y="160934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(Advancement)</a:t>
            </a:r>
            <a:endParaRPr lang="en-US" sz="950" dirty="0"/>
          </a:p>
        </p:txBody>
      </p:sp>
      <p:sp>
        <p:nvSpPr>
          <p:cNvPr id="74" name="Text 72"/>
          <p:cNvSpPr/>
          <p:nvPr/>
        </p:nvSpPr>
        <p:spPr>
          <a:xfrm>
            <a:off x="6419088" y="1847088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技术壁垒：算法/硬件/专利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6309360" y="2194560"/>
            <a:ext cx="2286000" cy="548640"/>
          </a:xfrm>
          <a:prstGeom prst="rect">
            <a:avLst/>
          </a:prstGeom>
          <a:solidFill>
            <a:srgbClr val="1A2E42"/>
          </a:solidFill>
          <a:ln w="6350">
            <a:solidFill>
              <a:srgbClr val="2D4A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76" name="Shape 74"/>
          <p:cNvSpPr/>
          <p:nvPr/>
        </p:nvSpPr>
        <p:spPr>
          <a:xfrm>
            <a:off x="6309360" y="2194560"/>
            <a:ext cx="54864" cy="548640"/>
          </a:xfrm>
          <a:prstGeom prst="rect">
            <a:avLst/>
          </a:prstGeom>
          <a:solidFill>
            <a:srgbClr val="90E0EF"/>
          </a:solidFill>
          <a:ln w="12700">
            <a:solidFill>
              <a:srgbClr val="90E0EF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419088" y="2231136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(Mastery)</a:t>
            </a:r>
            <a:endParaRPr lang="en-US" sz="950" dirty="0"/>
          </a:p>
        </p:txBody>
      </p:sp>
      <p:sp>
        <p:nvSpPr>
          <p:cNvPr id="78" name="Text 76"/>
          <p:cNvSpPr/>
          <p:nvPr/>
        </p:nvSpPr>
        <p:spPr>
          <a:xfrm>
            <a:off x="6419088" y="2468880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人才优势：核心团队/融资</a:t>
            </a:r>
            <a:endParaRPr lang="en-US" sz="900" dirty="0"/>
          </a:p>
        </p:txBody>
      </p:sp>
      <p:sp>
        <p:nvSpPr>
          <p:cNvPr id="79" name="Shape 77"/>
          <p:cNvSpPr/>
          <p:nvPr/>
        </p:nvSpPr>
        <p:spPr>
          <a:xfrm>
            <a:off x="6309360" y="2816352"/>
            <a:ext cx="2286000" cy="548640"/>
          </a:xfrm>
          <a:prstGeom prst="rect">
            <a:avLst/>
          </a:prstGeom>
          <a:solidFill>
            <a:srgbClr val="1A2E42"/>
          </a:solidFill>
          <a:ln w="6350">
            <a:solidFill>
              <a:srgbClr val="2D4A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80" name="Shape 78"/>
          <p:cNvSpPr/>
          <p:nvPr/>
        </p:nvSpPr>
        <p:spPr>
          <a:xfrm>
            <a:off x="6309360" y="2816352"/>
            <a:ext cx="54864" cy="548640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6419088" y="2852928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(Operations)</a:t>
            </a:r>
            <a:endParaRPr lang="en-US" sz="950" dirty="0"/>
          </a:p>
        </p:txBody>
      </p:sp>
      <p:sp>
        <p:nvSpPr>
          <p:cNvPr id="82" name="Text 80"/>
          <p:cNvSpPr/>
          <p:nvPr/>
        </p:nvSpPr>
        <p:spPr>
          <a:xfrm>
            <a:off x="6419088" y="3090672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商业落地：出货量/客户/收入</a:t>
            </a:r>
            <a:endParaRPr lang="en-US" sz="900" dirty="0"/>
          </a:p>
        </p:txBody>
      </p:sp>
      <p:sp>
        <p:nvSpPr>
          <p:cNvPr id="83" name="Shape 81"/>
          <p:cNvSpPr/>
          <p:nvPr/>
        </p:nvSpPr>
        <p:spPr>
          <a:xfrm>
            <a:off x="6309360" y="3438144"/>
            <a:ext cx="2286000" cy="548640"/>
          </a:xfrm>
          <a:prstGeom prst="rect">
            <a:avLst/>
          </a:prstGeom>
          <a:solidFill>
            <a:srgbClr val="1A2E42"/>
          </a:solidFill>
          <a:ln w="6350">
            <a:solidFill>
              <a:srgbClr val="2D4A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84" name="Shape 82"/>
          <p:cNvSpPr/>
          <p:nvPr/>
        </p:nvSpPr>
        <p:spPr>
          <a:xfrm>
            <a:off x="6309360" y="3438144"/>
            <a:ext cx="54864" cy="54864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6419088" y="3474720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(Reach)</a:t>
            </a:r>
            <a:endParaRPr lang="en-US" sz="950" dirty="0"/>
          </a:p>
        </p:txBody>
      </p:sp>
      <p:sp>
        <p:nvSpPr>
          <p:cNvPr id="86" name="Text 84"/>
          <p:cNvSpPr/>
          <p:nvPr/>
        </p:nvSpPr>
        <p:spPr>
          <a:xfrm>
            <a:off x="6419088" y="371246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全球化：境外收入/合作伙伴</a:t>
            </a:r>
            <a:endParaRPr lang="en-US" sz="900" dirty="0"/>
          </a:p>
        </p:txBody>
      </p:sp>
      <p:sp>
        <p:nvSpPr>
          <p:cNvPr id="87" name="Shape 85"/>
          <p:cNvSpPr/>
          <p:nvPr/>
        </p:nvSpPr>
        <p:spPr>
          <a:xfrm>
            <a:off x="6309360" y="4059936"/>
            <a:ext cx="2286000" cy="548640"/>
          </a:xfrm>
          <a:prstGeom prst="rect">
            <a:avLst/>
          </a:prstGeom>
          <a:solidFill>
            <a:srgbClr val="1A2E42"/>
          </a:solidFill>
          <a:ln w="6350">
            <a:solidFill>
              <a:srgbClr val="2D4A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88" name="Shape 86"/>
          <p:cNvSpPr/>
          <p:nvPr/>
        </p:nvSpPr>
        <p:spPr>
          <a:xfrm>
            <a:off x="6309360" y="4059936"/>
            <a:ext cx="54864" cy="548640"/>
          </a:xfrm>
          <a:prstGeom prst="rec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6419088" y="4096512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 (Assets)</a:t>
            </a:r>
            <a:endParaRPr lang="en-US" sz="950" dirty="0"/>
          </a:p>
        </p:txBody>
      </p:sp>
      <p:sp>
        <p:nvSpPr>
          <p:cNvPr id="90" name="Text 88"/>
          <p:cNvSpPr/>
          <p:nvPr/>
        </p:nvSpPr>
        <p:spPr>
          <a:xfrm>
            <a:off x="6419088" y="4334256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可持续：毛利/净利/现金流</a:t>
            </a:r>
            <a:endParaRPr lang="en-US" sz="900" dirty="0"/>
          </a:p>
        </p:txBody>
      </p:sp>
      <p:sp>
        <p:nvSpPr>
          <p:cNvPr id="91" name="Shape 89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02920" y="480974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AMORA Insights  |  Humanoid Robot Index 2026  |  Data Cut-off: Q1 2026</a:t>
            </a:r>
            <a:endParaRPr lang="en-US" sz="900" dirty="0"/>
          </a:p>
        </p:txBody>
      </p:sp>
      <p:sp>
        <p:nvSpPr>
          <p:cNvPr id="93" name="Text 91"/>
          <p:cNvSpPr/>
          <p:nvPr/>
        </p:nvSpPr>
        <p:spPr>
          <a:xfrm>
            <a:off x="8321040" y="480974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22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28016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1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Investment Recommendations  投资建议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73152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高确信 / 期权价值 / 零部件三层逻辑 · 催化剂清单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115568"/>
            <a:ext cx="2679192" cy="3200400"/>
          </a:xfrm>
          <a:prstGeom prst="rect">
            <a:avLst/>
          </a:prstGeom>
          <a:solidFill>
            <a:srgbClr val="1A2E42"/>
          </a:solidFill>
          <a:ln w="12700">
            <a:solidFill>
              <a:srgbClr val="2D4A6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115568"/>
            <a:ext cx="2679192" cy="64008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115568"/>
            <a:ext cx="64008" cy="320040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0936" y="1207008"/>
            <a:ext cx="2496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🥇 高确信标的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0936" y="1572768"/>
            <a:ext cx="2423160" cy="18288"/>
          </a:xfrm>
          <a:prstGeom prst="rect">
            <a:avLst/>
          </a:prstGeom>
          <a:solidFill>
            <a:srgbClr val="2D4A61"/>
          </a:solidFill>
          <a:ln w="12700">
            <a:solidFill>
              <a:srgbClr val="2D4A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0936" y="1645920"/>
            <a:ext cx="2496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代表标的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30936" y="1828800"/>
            <a:ext cx="2496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宇树科技（IPO）· Figure AI（二级）· NVIDIA（生态）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0936" y="2322576"/>
            <a:ext cx="2496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核心逻辑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30936" y="2505456"/>
            <a:ext cx="2496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规模盈利 + 营收可见性 + 估值合理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30936" y="2999232"/>
            <a:ext cx="2496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风险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30936" y="3182112"/>
            <a:ext cx="24963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估值已部分反映预期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0936" y="4041648"/>
            <a:ext cx="2496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操作建议: IPO 参与 / 二级建仓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73552" y="1115568"/>
            <a:ext cx="2679192" cy="3200400"/>
          </a:xfrm>
          <a:prstGeom prst="rect">
            <a:avLst/>
          </a:prstGeom>
          <a:solidFill>
            <a:srgbClr val="1A2E42"/>
          </a:solidFill>
          <a:ln w="12700">
            <a:solidFill>
              <a:srgbClr val="2D4A6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73552" y="1115568"/>
            <a:ext cx="2679192" cy="64008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73552" y="1115568"/>
            <a:ext cx="64008" cy="3200400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01568" y="1207008"/>
            <a:ext cx="2496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🥈 期权价值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401568" y="1572768"/>
            <a:ext cx="2423160" cy="18288"/>
          </a:xfrm>
          <a:prstGeom prst="rect">
            <a:avLst/>
          </a:prstGeom>
          <a:solidFill>
            <a:srgbClr val="2D4A61"/>
          </a:solidFill>
          <a:ln w="12700">
            <a:solidFill>
              <a:srgbClr val="2D4A6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01568" y="1645920"/>
            <a:ext cx="2496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代表标的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401568" y="1828800"/>
            <a:ext cx="2496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智元智元（IPO前）· 傅利叶 · 1X Technologies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3401568" y="2322576"/>
            <a:ext cx="2496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核心逻辑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3401568" y="2505456"/>
            <a:ext cx="2496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技术有亮点 + 估值弹性大 + 中国供应链成本优势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401568" y="2999232"/>
            <a:ext cx="2496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风险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3401568" y="3182112"/>
            <a:ext cx="24963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亏损持续，IPO 时间不确定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401568" y="4041648"/>
            <a:ext cx="2496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操作建议: 早期跟进，关注融资节点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044184" y="1115568"/>
            <a:ext cx="2679192" cy="3200400"/>
          </a:xfrm>
          <a:prstGeom prst="rect">
            <a:avLst/>
          </a:prstGeom>
          <a:solidFill>
            <a:srgbClr val="1A2E42"/>
          </a:solidFill>
          <a:ln w="12700">
            <a:solidFill>
              <a:srgbClr val="2D4A6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044184" y="1115568"/>
            <a:ext cx="2679192" cy="640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044184" y="1115568"/>
            <a:ext cx="64008" cy="32004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172200" y="1207008"/>
            <a:ext cx="2496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🥉 零部件阿尔法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172200" y="1572768"/>
            <a:ext cx="2423160" cy="18288"/>
          </a:xfrm>
          <a:prstGeom prst="rect">
            <a:avLst/>
          </a:prstGeom>
          <a:solidFill>
            <a:srgbClr val="2D4A61"/>
          </a:solidFill>
          <a:ln w="12700">
            <a:solidFill>
              <a:srgbClr val="2D4A6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172200" y="1645920"/>
            <a:ext cx="2496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代表标的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172200" y="1828800"/>
            <a:ext cx="2496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绿的谐波（减速器）· 华为昇腾（AI芯片）· 汇川（关节电机）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172200" y="2322576"/>
            <a:ext cx="2496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核心逻辑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172200" y="2505456"/>
            <a:ext cx="2496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不依赖单一客户 · 国产替代逻辑强 · 收入可见性好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172200" y="2999232"/>
            <a:ext cx="2496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风险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6172200" y="3182112"/>
            <a:ext cx="24963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人形订单占比仍低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172200" y="4041648"/>
            <a:ext cx="2496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操作建议: 左侧布局，等待规模放量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02920" y="4434840"/>
            <a:ext cx="8549640" cy="621792"/>
          </a:xfrm>
          <a:prstGeom prst="rect">
            <a:avLst/>
          </a:prstGeom>
          <a:solidFill>
            <a:srgbClr val="0077A8"/>
          </a:solidFill>
          <a:ln w="12700">
            <a:solidFill>
              <a:srgbClr val="2D4A6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640080" y="446227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 近期催化剂：宇树 IPO 定价（Q2 2026） · Figure AI 新一轮融资 · 特斯拉 Optimus 工厂部署公告 · 工信部人形机器人专项政策落地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8321040" y="480974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22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28016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1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Risk Factors  风险因素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73152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技术 / 商业化 / 监管 / 地缘政治 · 完整风险矩阵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115568"/>
            <a:ext cx="2697480" cy="1627632"/>
          </a:xfrm>
          <a:prstGeom prst="rect">
            <a:avLst/>
          </a:prstGeom>
          <a:solidFill>
            <a:srgbClr val="1A2E42"/>
          </a:solidFill>
          <a:ln w="12700">
            <a:solidFill>
              <a:srgbClr val="2D4A6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115568"/>
            <a:ext cx="2697480" cy="64008"/>
          </a:xfrm>
          <a:prstGeom prst="rec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0700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🔬 技术风险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514600" y="1225296"/>
            <a:ext cx="594360" cy="256032"/>
          </a:xfrm>
          <a:prstGeom prst="rect">
            <a:avLst/>
          </a:prstGeom>
          <a:solidFill>
            <a:srgbClr val="EF476F">
              <a:alpha val="70000"/>
            </a:srgbClr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14600" y="1225296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风险 高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94360" y="1536192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Sim2Real Gap 持续，泛化性能难达标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94360" y="1901952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触觉传感器无突破，灵巧手实用性受限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94360" y="2267712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大模型推理成本高，实时控制延迟问题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291840" y="1115568"/>
            <a:ext cx="2697480" cy="1627632"/>
          </a:xfrm>
          <a:prstGeom prst="rect">
            <a:avLst/>
          </a:prstGeom>
          <a:solidFill>
            <a:srgbClr val="1A2E42"/>
          </a:solidFill>
          <a:ln w="12700">
            <a:solidFill>
              <a:srgbClr val="2D4A6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91840" y="1115568"/>
            <a:ext cx="2697480" cy="64008"/>
          </a:xfrm>
          <a:prstGeom prst="rect">
            <a:avLst/>
          </a:prstGeom>
          <a:solidFill>
            <a:srgbClr val="FF9F1C"/>
          </a:solidFill>
          <a:ln w="12700">
            <a:solidFill>
              <a:srgbClr val="FF9F1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83280" y="120700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商业化风险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303520" y="1225296"/>
            <a:ext cx="594360" cy="256032"/>
          </a:xfrm>
          <a:prstGeom prst="rect">
            <a:avLst/>
          </a:prstGeom>
          <a:solidFill>
            <a:srgbClr val="FF9F1C">
              <a:alpha val="70000"/>
            </a:srgbClr>
          </a:solidFill>
          <a:ln w="12700">
            <a:solidFill>
              <a:srgbClr val="FF9F1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03520" y="1225296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9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风险 高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383280" y="1536192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客户以科研为主，真实工业买单能力未形成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3383280" y="1901952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单台成本仍高于人工替代 ROI 临界点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3383280" y="2267712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量产一致性差，故障率高影响口碑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080760" y="1115568"/>
            <a:ext cx="2697480" cy="1627632"/>
          </a:xfrm>
          <a:prstGeom prst="rect">
            <a:avLst/>
          </a:prstGeom>
          <a:solidFill>
            <a:srgbClr val="1A2E42"/>
          </a:solidFill>
          <a:ln w="12700">
            <a:solidFill>
              <a:srgbClr val="2D4A6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080760" y="1115568"/>
            <a:ext cx="2697480" cy="64008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72200" y="120700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⚖️ 监管风险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092440" y="1225296"/>
            <a:ext cx="594360" cy="256032"/>
          </a:xfrm>
          <a:prstGeom prst="rect">
            <a:avLst/>
          </a:prstGeom>
          <a:solidFill>
            <a:srgbClr val="FFD166">
              <a:alpha val="70000"/>
            </a:srgbClr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92440" y="1225296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风险 中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172200" y="1536192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欧盟 AI Act 对人形机器人安全标准趋严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6172200" y="1901952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工厂部署需新增安全认证流程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172200" y="2267712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数据跨境传输限制影响全球化模型训练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02920" y="2834640"/>
            <a:ext cx="2697480" cy="1627632"/>
          </a:xfrm>
          <a:prstGeom prst="rect">
            <a:avLst/>
          </a:prstGeom>
          <a:solidFill>
            <a:srgbClr val="1A2E42"/>
          </a:solidFill>
          <a:ln w="12700">
            <a:solidFill>
              <a:srgbClr val="2D4A6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02920" y="2834640"/>
            <a:ext cx="2697480" cy="64008"/>
          </a:xfrm>
          <a:prstGeom prst="rect">
            <a:avLst/>
          </a:prstGeom>
          <a:solidFill>
            <a:srgbClr val="C77DFF"/>
          </a:solidFill>
          <a:ln w="12700">
            <a:solidFill>
              <a:srgbClr val="C77D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" y="292608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地缘风险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2514600" y="2944368"/>
            <a:ext cx="594360" cy="256032"/>
          </a:xfrm>
          <a:prstGeom prst="rect">
            <a:avLst/>
          </a:prstGeom>
          <a:solidFill>
            <a:srgbClr val="C77DFF">
              <a:alpha val="70000"/>
            </a:srgbClr>
          </a:solidFill>
          <a:ln w="12700">
            <a:solidFill>
              <a:srgbClr val="C77D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514600" y="2944368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77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风险 中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594360" y="3255264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NVIDIA H100/H200 出口管制持续收紧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594360" y="3621024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中国供应链面临美国实体清单风险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594360" y="3986784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技术人才流动受限（国籍审查趋严）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3291840" y="2834640"/>
            <a:ext cx="2697480" cy="1627632"/>
          </a:xfrm>
          <a:prstGeom prst="rect">
            <a:avLst/>
          </a:prstGeom>
          <a:solidFill>
            <a:srgbClr val="1A2E42"/>
          </a:solidFill>
          <a:ln w="12700">
            <a:solidFill>
              <a:srgbClr val="2D4A6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3291840" y="2834640"/>
            <a:ext cx="2697480" cy="64008"/>
          </a:xfrm>
          <a:prstGeom prst="rect">
            <a:avLst/>
          </a:prstGeom>
          <a:solidFill>
            <a:srgbClr val="90E0EF"/>
          </a:solidFill>
          <a:ln w="12700">
            <a:solidFill>
              <a:srgbClr val="90E0E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83280" y="292608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🏭 供应链风险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303520" y="2944368"/>
            <a:ext cx="594360" cy="256032"/>
          </a:xfrm>
          <a:prstGeom prst="rect">
            <a:avLst/>
          </a:prstGeom>
          <a:solidFill>
            <a:srgbClr val="90E0EF">
              <a:alpha val="70000"/>
            </a:srgbClr>
          </a:solidFill>
          <a:ln w="12700">
            <a:solidFill>
              <a:srgbClr val="90E0E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03520" y="2944368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风险 中高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3383280" y="3255264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谐波减速器 / 行星滚柱丝杠进口依赖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3383280" y="3621024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高端轴承国产替代进度低于预期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3383280" y="3986784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关键芯片（TI/ADI）供应波动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080760" y="2834640"/>
            <a:ext cx="2697480" cy="1627632"/>
          </a:xfrm>
          <a:prstGeom prst="rect">
            <a:avLst/>
          </a:prstGeom>
          <a:solidFill>
            <a:srgbClr val="1A2E42"/>
          </a:solidFill>
          <a:ln w="12700">
            <a:solidFill>
              <a:srgbClr val="2D4A6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6080760" y="2834640"/>
            <a:ext cx="2697480" cy="640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172200" y="292608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💹 估值风险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8092440" y="2944368"/>
            <a:ext cx="594360" cy="256032"/>
          </a:xfrm>
          <a:prstGeom prst="rect">
            <a:avLst/>
          </a:prstGeom>
          <a:solidFill>
            <a:srgbClr val="00B4D8">
              <a:alpha val="70000"/>
            </a:srgbClr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092440" y="2944368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风险 高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6172200" y="3255264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Figure AI 26亿估值远超收入倍数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6172200" y="3621024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一级市场定价与二级流动性错配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6172200" y="3986784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AI 赛道整体降温可能拖累估值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02920" y="480974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AMORA Insights  |  Humanoid Robot Index 2026  |  Data Cut-off: Q1 2026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321040" y="480974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22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28016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1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Key Catalysts  关键催化剂与时间节点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73152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H1 密集事件窗口 — 影响行业估值与投资节奏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115568"/>
            <a:ext cx="3977640" cy="868680"/>
          </a:xfrm>
          <a:prstGeom prst="rect">
            <a:avLst/>
          </a:prstGeom>
          <a:solidFill>
            <a:srgbClr val="1A2E42"/>
          </a:solidFill>
          <a:ln w="6350">
            <a:solidFill>
              <a:srgbClr val="2D4A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115568"/>
            <a:ext cx="64008" cy="868680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0936" y="117043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Q1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508760" y="1207008"/>
            <a:ext cx="594360" cy="219456"/>
          </a:xfrm>
          <a:prstGeom prst="rect">
            <a:avLst/>
          </a:prstGeom>
          <a:solidFill>
            <a:srgbClr val="FFD166">
              <a:alpha val="70000"/>
            </a:srgbClr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08760" y="120700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30936" y="1463040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宇树科技通过港交所上市聆讯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474720" y="117043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★★★★★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663440" y="1115568"/>
            <a:ext cx="3977640" cy="868680"/>
          </a:xfrm>
          <a:prstGeom prst="rect">
            <a:avLst/>
          </a:prstGeom>
          <a:solidFill>
            <a:srgbClr val="1A2E42"/>
          </a:solidFill>
          <a:ln w="6350">
            <a:solidFill>
              <a:srgbClr val="2D4A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63440" y="1115568"/>
            <a:ext cx="64008" cy="8686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91456" y="117043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Q1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669280" y="1207008"/>
            <a:ext cx="594360" cy="219456"/>
          </a:xfrm>
          <a:prstGeom prst="rect">
            <a:avLst/>
          </a:prstGeom>
          <a:solidFill>
            <a:srgbClr val="00B4D8">
              <a:alpha val="70000"/>
            </a:srgbClr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0" y="120700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产品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791456" y="1463040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AI 发布 Figure 02 商业版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635240" y="117043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★★★★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02920" y="2084832"/>
            <a:ext cx="3977640" cy="868680"/>
          </a:xfrm>
          <a:prstGeom prst="rect">
            <a:avLst/>
          </a:prstGeom>
          <a:solidFill>
            <a:srgbClr val="1A2E42"/>
          </a:solidFill>
          <a:ln w="6350">
            <a:solidFill>
              <a:srgbClr val="2D4A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02920" y="2084832"/>
            <a:ext cx="64008" cy="86868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0936" y="2139696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Q2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1508760" y="2176272"/>
            <a:ext cx="594360" cy="219456"/>
          </a:xfrm>
          <a:prstGeom prst="rect">
            <a:avLst/>
          </a:prstGeom>
          <a:solidFill>
            <a:srgbClr val="06D6A0">
              <a:alpha val="70000"/>
            </a:srgbClr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508760" y="2176272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落地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30936" y="2432304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Tesla Optimus 德国工厂部署公告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474720" y="2139696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★★★★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663440" y="2084832"/>
            <a:ext cx="3977640" cy="868680"/>
          </a:xfrm>
          <a:prstGeom prst="rect">
            <a:avLst/>
          </a:prstGeom>
          <a:solidFill>
            <a:srgbClr val="1A2E42"/>
          </a:solidFill>
          <a:ln w="6350">
            <a:solidFill>
              <a:srgbClr val="2D4A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63440" y="2084832"/>
            <a:ext cx="64008" cy="868680"/>
          </a:xfrm>
          <a:prstGeom prst="rect">
            <a:avLst/>
          </a:prstGeom>
          <a:solidFill>
            <a:srgbClr val="90E0EF"/>
          </a:solidFill>
          <a:ln w="12700">
            <a:solidFill>
              <a:srgbClr val="90E0E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91456" y="2139696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Q2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669280" y="2176272"/>
            <a:ext cx="594360" cy="219456"/>
          </a:xfrm>
          <a:prstGeom prst="rect">
            <a:avLst/>
          </a:prstGeom>
          <a:solidFill>
            <a:srgbClr val="90E0EF">
              <a:alpha val="70000"/>
            </a:srgbClr>
          </a:solidFill>
          <a:ln w="12700">
            <a:solidFill>
              <a:srgbClr val="90E0E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0" y="2176272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政策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791456" y="2432304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工信部人形机器人专项政策出台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635240" y="2139696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★★★★★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054096"/>
            <a:ext cx="3977640" cy="868680"/>
          </a:xfrm>
          <a:prstGeom prst="rect">
            <a:avLst/>
          </a:prstGeom>
          <a:solidFill>
            <a:srgbClr val="1A2E42"/>
          </a:solidFill>
          <a:ln w="6350">
            <a:solidFill>
              <a:srgbClr val="2D4A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502920" y="3054096"/>
            <a:ext cx="64008" cy="868680"/>
          </a:xfrm>
          <a:prstGeom prst="rect">
            <a:avLst/>
          </a:prstGeom>
          <a:solidFill>
            <a:srgbClr val="FF9F1C"/>
          </a:solidFill>
          <a:ln w="12700">
            <a:solidFill>
              <a:srgbClr val="FF9F1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0936" y="310896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9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Q2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508760" y="3145536"/>
            <a:ext cx="594360" cy="219456"/>
          </a:xfrm>
          <a:prstGeom prst="rect">
            <a:avLst/>
          </a:prstGeom>
          <a:solidFill>
            <a:srgbClr val="FF9F1C">
              <a:alpha val="70000"/>
            </a:srgbClr>
          </a:solidFill>
          <a:ln w="12700">
            <a:solidFill>
              <a:srgbClr val="FF9F1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508760" y="3145536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9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融资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30936" y="3401568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AI / Agility 新一轮融资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3474720" y="310896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★★★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3054096"/>
            <a:ext cx="3977640" cy="868680"/>
          </a:xfrm>
          <a:prstGeom prst="rect">
            <a:avLst/>
          </a:prstGeom>
          <a:solidFill>
            <a:srgbClr val="1A2E42"/>
          </a:solidFill>
          <a:ln w="6350">
            <a:solidFill>
              <a:srgbClr val="2D4A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4663440" y="3054096"/>
            <a:ext cx="64008" cy="86868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791456" y="310896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Q3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669280" y="3145536"/>
            <a:ext cx="594360" cy="219456"/>
          </a:xfrm>
          <a:prstGeom prst="rect">
            <a:avLst/>
          </a:prstGeom>
          <a:solidFill>
            <a:srgbClr val="06D6A0">
              <a:alpha val="70000"/>
            </a:srgbClr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669280" y="3145536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产能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4791456" y="3401568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宇树 H1 产能 7.5 万台/年扩张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7635240" y="310896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★★★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02920" y="4023360"/>
            <a:ext cx="3977640" cy="868680"/>
          </a:xfrm>
          <a:prstGeom prst="rect">
            <a:avLst/>
          </a:prstGeom>
          <a:solidFill>
            <a:srgbClr val="1A2E42"/>
          </a:solidFill>
          <a:ln w="6350">
            <a:solidFill>
              <a:srgbClr val="2D4A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502920" y="4023360"/>
            <a:ext cx="64008" cy="868680"/>
          </a:xfrm>
          <a:prstGeom prst="rect">
            <a:avLst/>
          </a:prstGeom>
          <a:solidFill>
            <a:srgbClr val="C77DFF"/>
          </a:solidFill>
          <a:ln w="12700">
            <a:solidFill>
              <a:srgbClr val="C77D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0936" y="4078224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77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H2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1508760" y="4114800"/>
            <a:ext cx="594360" cy="219456"/>
          </a:xfrm>
          <a:prstGeom prst="rect">
            <a:avLst/>
          </a:prstGeom>
          <a:solidFill>
            <a:srgbClr val="C77DFF">
              <a:alpha val="70000"/>
            </a:srgbClr>
          </a:solidFill>
          <a:ln w="12700">
            <a:solidFill>
              <a:srgbClr val="C77D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508760" y="4114800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77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生态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630936" y="4370832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 Thor 人形机器人 SDK 发布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474720" y="407822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★★★★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663440" y="4023360"/>
            <a:ext cx="3977640" cy="868680"/>
          </a:xfrm>
          <a:prstGeom prst="rect">
            <a:avLst/>
          </a:prstGeom>
          <a:solidFill>
            <a:srgbClr val="1A2E42"/>
          </a:solidFill>
          <a:ln w="6350">
            <a:solidFill>
              <a:srgbClr val="2D4A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4663440" y="4023360"/>
            <a:ext cx="64008" cy="868680"/>
          </a:xfrm>
          <a:prstGeom prst="rect">
            <a:avLst/>
          </a:prstGeom>
          <a:solidFill>
            <a:srgbClr val="90E0EF"/>
          </a:solidFill>
          <a:ln w="12700">
            <a:solidFill>
              <a:srgbClr val="90E0E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791456" y="4078224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H2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669280" y="4114800"/>
            <a:ext cx="594360" cy="219456"/>
          </a:xfrm>
          <a:prstGeom prst="rect">
            <a:avLst/>
          </a:prstGeom>
          <a:solidFill>
            <a:srgbClr val="90E0EF">
              <a:alpha val="70000"/>
            </a:srgbClr>
          </a:solidFill>
          <a:ln w="12700">
            <a:solidFill>
              <a:srgbClr val="90E0E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669280" y="4114800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供应链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4791456" y="4370832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国产谐波减速器批量通过验证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7635240" y="407822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★★★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502920" y="4617720"/>
            <a:ext cx="8549640" cy="438912"/>
          </a:xfrm>
          <a:prstGeom prst="rect">
            <a:avLst/>
          </a:prstGeom>
          <a:solidFill>
            <a:srgbClr val="0077A8"/>
          </a:solidFill>
          <a:ln w="12700">
            <a:solidFill>
              <a:srgbClr val="2D4A6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62" name="Text 60"/>
          <p:cNvSpPr/>
          <p:nvPr/>
        </p:nvSpPr>
        <p:spPr>
          <a:xfrm>
            <a:off x="640080" y="4645152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核心判断：2026 H1 是人形机器人行业最重要的催化剂窗口，宇树 IPO + 政策落地 + 特斯拉部署三重叠加，可能触发板块性行情。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8321040" y="480974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22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28016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1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China vs US  中美深度对比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73152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技术路线 / 商业模式 / 资本效率 / 供应链 — 全维度竞争格局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115568"/>
            <a:ext cx="3474720" cy="658368"/>
          </a:xfrm>
          <a:prstGeom prst="rect">
            <a:avLst/>
          </a:prstGeom>
          <a:solidFill>
            <a:srgbClr val="1A2E42"/>
          </a:solidFill>
          <a:ln w="12700">
            <a:solidFill>
              <a:srgbClr val="2D4A6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115568"/>
            <a:ext cx="1645920" cy="658368"/>
          </a:xfrm>
          <a:prstGeom prst="rect">
            <a:avLst/>
          </a:prstGeom>
          <a:solidFill>
            <a:srgbClr val="EF476F">
              <a:alpha val="80000"/>
            </a:srgbClr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115568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476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🇨🇳 中国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331720" y="1115568"/>
            <a:ext cx="457200" cy="658368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31720" y="1115568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880360" y="1115568"/>
            <a:ext cx="1097280" cy="658368"/>
          </a:xfrm>
          <a:prstGeom prst="rect">
            <a:avLst/>
          </a:prstGeom>
          <a:solidFill>
            <a:srgbClr val="00B4D8">
              <a:alpha val="80000"/>
            </a:srgbClr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80360" y="1115568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🇺🇸 美国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02920" y="1874520"/>
            <a:ext cx="8549640" cy="356616"/>
          </a:xfrm>
          <a:prstGeom prst="rect">
            <a:avLst/>
          </a:prstGeom>
          <a:solidFill>
            <a:srgbClr val="1A2E42"/>
          </a:solidFill>
          <a:ln w="6350">
            <a:solidFill>
              <a:srgbClr val="2D4A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66928" y="1874520"/>
            <a:ext cx="13716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技术路线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920240" y="1874520"/>
            <a:ext cx="33832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快速跟随 + 本地化微创新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349240" y="1965960"/>
            <a:ext cx="18288" cy="173736"/>
          </a:xfrm>
          <a:prstGeom prst="rect">
            <a:avLst/>
          </a:prstGeom>
          <a:solidFill>
            <a:srgbClr val="2D4A61"/>
          </a:solidFill>
          <a:ln w="12700">
            <a:solidFill>
              <a:srgbClr val="2D4A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0" y="1874520"/>
            <a:ext cx="34747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原创性突破 + 平台型生态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2258568"/>
            <a:ext cx="8549640" cy="356616"/>
          </a:xfrm>
          <a:prstGeom prst="rect">
            <a:avLst/>
          </a:prstGeom>
          <a:solidFill>
            <a:srgbClr val="16213E"/>
          </a:solidFill>
          <a:ln w="6350">
            <a:solidFill>
              <a:srgbClr val="2D4A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66928" y="2258568"/>
            <a:ext cx="13716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代表玩家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920240" y="2258568"/>
            <a:ext cx="33832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宇树 / 智元 / 傅利叶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349240" y="2350008"/>
            <a:ext cx="18288" cy="173736"/>
          </a:xfrm>
          <a:prstGeom prst="rect">
            <a:avLst/>
          </a:prstGeom>
          <a:solidFill>
            <a:srgbClr val="2D4A61"/>
          </a:solidFill>
          <a:ln w="12700">
            <a:solidFill>
              <a:srgbClr val="2D4A6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0" y="2258568"/>
            <a:ext cx="34747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Tesla / Figure / Agility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02920" y="2642616"/>
            <a:ext cx="8549640" cy="356616"/>
          </a:xfrm>
          <a:prstGeom prst="rect">
            <a:avLst/>
          </a:prstGeom>
          <a:solidFill>
            <a:srgbClr val="1A2E42"/>
          </a:solidFill>
          <a:ln w="6350">
            <a:solidFill>
              <a:srgbClr val="2D4A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66928" y="2642616"/>
            <a:ext cx="13716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资本效率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920240" y="2642616"/>
            <a:ext cx="33832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¥42亿 IPO / ¥6亿净利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349240" y="2734056"/>
            <a:ext cx="18288" cy="173736"/>
          </a:xfrm>
          <a:prstGeom prst="rect">
            <a:avLst/>
          </a:prstGeom>
          <a:solidFill>
            <a:srgbClr val="2D4A61"/>
          </a:solidFill>
          <a:ln w="12700">
            <a:solidFill>
              <a:srgbClr val="2D4A6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0" y="2642616"/>
            <a:ext cx="34747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$26亿估值 / 仍亏损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02920" y="3026664"/>
            <a:ext cx="8549640" cy="356616"/>
          </a:xfrm>
          <a:prstGeom prst="rect">
            <a:avLst/>
          </a:prstGeom>
          <a:solidFill>
            <a:srgbClr val="16213E"/>
          </a:solidFill>
          <a:ln w="6350">
            <a:solidFill>
              <a:srgbClr val="2D4A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66928" y="3026664"/>
            <a:ext cx="13716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制造优势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0240" y="3026664"/>
            <a:ext cx="33832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供应链完整 / 成本低 50%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349240" y="3118104"/>
            <a:ext cx="18288" cy="173736"/>
          </a:xfrm>
          <a:prstGeom prst="rect">
            <a:avLst/>
          </a:prstGeom>
          <a:solidFill>
            <a:srgbClr val="2D4A61"/>
          </a:solidFill>
          <a:ln w="12700">
            <a:solidFill>
              <a:srgbClr val="2D4A6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0" y="3026664"/>
            <a:ext cx="34747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精密制造 / 高端材料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02920" y="3410712"/>
            <a:ext cx="8549640" cy="356616"/>
          </a:xfrm>
          <a:prstGeom prst="rect">
            <a:avLst/>
          </a:prstGeom>
          <a:solidFill>
            <a:srgbClr val="1A2E42"/>
          </a:solidFill>
          <a:ln w="6350">
            <a:solidFill>
              <a:srgbClr val="2D4A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566928" y="3410712"/>
            <a:ext cx="13716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数据闭环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920240" y="3410712"/>
            <a:ext cx="33832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追赶中 / 真实场景数据少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349240" y="3502152"/>
            <a:ext cx="18288" cy="173736"/>
          </a:xfrm>
          <a:prstGeom prst="rect">
            <a:avLst/>
          </a:prstGeom>
          <a:solidFill>
            <a:srgbClr val="2D4A61"/>
          </a:solidFill>
          <a:ln w="12700">
            <a:solidFill>
              <a:srgbClr val="2D4A6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0" y="3410712"/>
            <a:ext cx="34747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特斯拉车队数据 / 优势明显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502920" y="3794760"/>
            <a:ext cx="8549640" cy="356616"/>
          </a:xfrm>
          <a:prstGeom prst="rect">
            <a:avLst/>
          </a:prstGeom>
          <a:solidFill>
            <a:srgbClr val="16213E"/>
          </a:solidFill>
          <a:ln w="6350">
            <a:solidFill>
              <a:srgbClr val="2D4A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566928" y="3794760"/>
            <a:ext cx="13716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政策支持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920240" y="3794760"/>
            <a:ext cx="33832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专项政策 + 补贴预期强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349240" y="3886200"/>
            <a:ext cx="18288" cy="173736"/>
          </a:xfrm>
          <a:prstGeom prst="rect">
            <a:avLst/>
          </a:prstGeom>
          <a:solidFill>
            <a:srgbClr val="2D4A61"/>
          </a:solidFill>
          <a:ln w="12700">
            <a:solidFill>
              <a:srgbClr val="2D4A6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486400" y="3794760"/>
            <a:ext cx="34747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CHIPS Act + AI Initiative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02920" y="4178808"/>
            <a:ext cx="8549640" cy="356616"/>
          </a:xfrm>
          <a:prstGeom prst="rect">
            <a:avLst/>
          </a:prstGeom>
          <a:solidFill>
            <a:srgbClr val="1A2E42"/>
          </a:solidFill>
          <a:ln w="6350">
            <a:solidFill>
              <a:srgbClr val="2D4A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566928" y="4178808"/>
            <a:ext cx="13716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商业化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920240" y="4178808"/>
            <a:ext cx="33832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规模出货第一 / 科研为主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349240" y="4270248"/>
            <a:ext cx="18288" cy="173736"/>
          </a:xfrm>
          <a:prstGeom prst="rect">
            <a:avLst/>
          </a:prstGeom>
          <a:solidFill>
            <a:srgbClr val="2D4A61"/>
          </a:solidFill>
          <a:ln w="12700">
            <a:solidFill>
              <a:srgbClr val="2D4A6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486400" y="4178808"/>
            <a:ext cx="34747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愿景驱动 / 工厂落地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502920" y="4562856"/>
            <a:ext cx="8549640" cy="356616"/>
          </a:xfrm>
          <a:prstGeom prst="rect">
            <a:avLst/>
          </a:prstGeom>
          <a:solidFill>
            <a:srgbClr val="16213E"/>
          </a:solidFill>
          <a:ln w="6350">
            <a:solidFill>
              <a:srgbClr val="2D4A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566928" y="4562856"/>
            <a:ext cx="13716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全球化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1920240" y="4562856"/>
            <a:ext cx="33832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境外收入 &gt;35%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5349240" y="4654296"/>
            <a:ext cx="18288" cy="173736"/>
          </a:xfrm>
          <a:prstGeom prst="rect">
            <a:avLst/>
          </a:prstGeom>
          <a:solidFill>
            <a:srgbClr val="2D4A61"/>
          </a:solidFill>
          <a:ln w="12700">
            <a:solidFill>
              <a:srgbClr val="2D4A6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486400" y="4562856"/>
            <a:ext cx="34747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全球品牌影响力更强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02920" y="480974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AMORA Insights  |  Humanoid Robot Index 2026  |  Data Cut-off: Q1 2026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8321040" y="480974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22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463040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28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Humanoid Robot Index 2026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02920" y="685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D1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结论与行动建议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15568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行业评分 7.2/10  |  宇树综合第一 8.9分  |  处于商业化临界点前夜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8549640" cy="768096"/>
          </a:xfrm>
          <a:prstGeom prst="rect">
            <a:avLst/>
          </a:prstGeom>
          <a:solidFill>
            <a:srgbClr val="1A2E42"/>
          </a:solidFill>
          <a:ln w="12700">
            <a:solidFill>
              <a:srgbClr val="2D4A6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572768"/>
            <a:ext cx="73152" cy="76809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" y="1700784"/>
            <a:ext cx="402336" cy="40233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700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70432" y="164592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格局未定，卡位窗口仍在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1993392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真正工业替代客户占比不足 15%，意味着绝大多数市场尚未被任何人占据，先发优势尚未固化。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02920" y="2414016"/>
            <a:ext cx="8549640" cy="768096"/>
          </a:xfrm>
          <a:prstGeom prst="rect">
            <a:avLst/>
          </a:prstGeom>
          <a:solidFill>
            <a:srgbClr val="1A2E42"/>
          </a:solidFill>
          <a:ln w="12700">
            <a:solidFill>
              <a:srgbClr val="2D4A6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" y="2414016"/>
            <a:ext cx="73152" cy="768096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2542032"/>
            <a:ext cx="402336" cy="402336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25420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70432" y="2487168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数据闭环比技术参数更重要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2834640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谁能更快积累真实场景运行数据，谁就掌握了训练下一代模型的主动权——这不是硬件竞赛，是数据竞赛。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2920" y="3255264"/>
            <a:ext cx="8549640" cy="768096"/>
          </a:xfrm>
          <a:prstGeom prst="rect">
            <a:avLst/>
          </a:prstGeom>
          <a:solidFill>
            <a:srgbClr val="1A2E42"/>
          </a:solidFill>
          <a:ln w="12700">
            <a:solidFill>
              <a:srgbClr val="2D4A6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02920" y="3255264"/>
            <a:ext cx="73152" cy="768096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8368" y="3383280"/>
            <a:ext cx="402336" cy="402336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33832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70432" y="3328416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中国制造优势被低估，美国算法优势被高估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170432" y="3675888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宇树 60.3% 毛利率、5500 台出货量证明了中国制造密度的商业可行性；美国供应链空心化风险正在累积。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2920" y="4096512"/>
            <a:ext cx="8549640" cy="768096"/>
          </a:xfrm>
          <a:prstGeom prst="rect">
            <a:avLst/>
          </a:prstGeom>
          <a:solidFill>
            <a:srgbClr val="1A2E42"/>
          </a:solidFill>
          <a:ln w="12700">
            <a:solidFill>
              <a:srgbClr val="2D4A6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02920" y="4096512"/>
            <a:ext cx="73152" cy="768096"/>
          </a:xfrm>
          <a:prstGeom prst="rec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368" y="4224528"/>
            <a:ext cx="402336" cy="402336"/>
          </a:xfrm>
          <a:prstGeom prst="rec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8368" y="42245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170432" y="4169664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是关键验证年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170432" y="4517136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宇树 IPO 定价 + 特斯拉工厂部署 + 工信部政策三重催化剂叠加，将重塑行业估值基准和投资逻辑。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321040" y="480974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22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28016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1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Appendix  附录与免责声明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73152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数据来源 · 评分方法论 · 评级说明 · 免责声明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115568"/>
            <a:ext cx="3840480" cy="2194560"/>
          </a:xfrm>
          <a:prstGeom prst="rect">
            <a:avLst/>
          </a:prstGeom>
          <a:solidFill>
            <a:srgbClr val="1A2E42"/>
          </a:solidFill>
          <a:ln w="12700">
            <a:solidFill>
              <a:srgbClr val="2D4A6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115568"/>
            <a:ext cx="3840480" cy="5486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20700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数据来源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1536192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宇树科技港交所招股书（2026年3月版）</a:t>
            </a:r>
            <a:endParaRPr lang="en-US" sz="9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UBTECH 年报（港交所披露）</a:t>
            </a:r>
            <a:endParaRPr lang="en-US" sz="9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Agility Robotics SEC 文件（10-K / 8-K）</a:t>
            </a:r>
            <a:endParaRPr lang="en-US" sz="9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IDTechEx / FutureMarkets 等第三方研究</a:t>
            </a:r>
            <a:endParaRPr lang="en-US" sz="9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工信部、IFR 国际机器人联合会数据</a:t>
            </a:r>
            <a:endParaRPr lang="en-US" sz="9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公开新闻与公司官方渠道披露</a:t>
            </a:r>
            <a:endParaRPr lang="en-US" sz="9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AMORA 数据库（截至 Q1 2026）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26280" y="1115568"/>
            <a:ext cx="4114800" cy="2194560"/>
          </a:xfrm>
          <a:prstGeom prst="rect">
            <a:avLst/>
          </a:prstGeom>
          <a:solidFill>
            <a:srgbClr val="1A2E42"/>
          </a:solidFill>
          <a:ln w="12700">
            <a:solidFill>
              <a:srgbClr val="2D4A6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26280" y="1115568"/>
            <a:ext cx="4114800" cy="54864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0" y="120700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AMORA Score 评分方法论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663440" y="1536192"/>
            <a:ext cx="3840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 (Advancement): 专利数 / 算法论文 / 硬件参数</a:t>
            </a:r>
            <a:endParaRPr lang="en-US" sz="9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 (Mastery): 核心团队背景 / 融资规模 / 估值倍数</a:t>
            </a:r>
            <a:endParaRPr lang="en-US" sz="9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 (Operations): 出货量 / 客户数 / 营收规模</a:t>
            </a:r>
            <a:endParaRPr lang="en-US" sz="9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 (Reach): 境外收入占比 / 国际合作伙伴</a:t>
            </a:r>
            <a:endParaRPr lang="en-US" sz="9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A2 (Assets): 毛利率 / 净利率 / 现金流</a:t>
            </a:r>
            <a:endParaRPr lang="en-US" sz="950" dirty="0"/>
          </a:p>
          <a:p>
            <a:pPr indent="0" marL="0">
              <a:spcAft>
                <a:spcPts val="400"/>
              </a:spcAft>
              <a:buNone/>
            </a:pPr>
            <a:endParaRPr lang="en-US" sz="9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综合评分 = 加权平均（各维度 1-10 分）</a:t>
            </a:r>
            <a:endParaRPr lang="en-US" sz="9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评分截止日期：2026年3月31日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02920" y="3456432"/>
            <a:ext cx="8138160" cy="1115568"/>
          </a:xfrm>
          <a:prstGeom prst="rect">
            <a:avLst/>
          </a:prstGeom>
          <a:solidFill>
            <a:srgbClr val="16213E"/>
          </a:solidFill>
          <a:ln w="12700">
            <a:solidFill>
              <a:srgbClr val="2D4A6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02920" y="3456432"/>
            <a:ext cx="8138160" cy="54864"/>
          </a:xfrm>
          <a:prstGeom prst="rec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547872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免责声明 / Disclaimer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" y="3822192"/>
            <a:ext cx="7863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DA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本报告由 AMORA Insights 编制，仅供机构投资者参考，不构成任何投资建议。所有数据来源于公开渠道，AMORA 对数据准确性不作保证。评分为主观判断，存在固有偏差风险。投资人形机器人行业涉及技术、商业化、监管等多重不确定性，请咨询持牌投资顾问。AMORA Insights 及关联公司可能持有报告中提及标的的多头或空头头寸。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02920" y="4645152"/>
            <a:ext cx="8138160" cy="411480"/>
          </a:xfrm>
          <a:prstGeom prst="rect">
            <a:avLst/>
          </a:prstGeom>
          <a:solidFill>
            <a:srgbClr val="0077A8"/>
          </a:solidFill>
          <a:ln w="12700">
            <a:solidFill>
              <a:srgbClr val="2D4A6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0080" y="4681728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AMORA Insights  |  www.amorainsights.com  |  research@amorainsights.com  |  Data Cut-off: Q1 2026  |  Copyright © 2026 AMORA Insights Ltd.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321040" y="480974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595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0D4FF"/>
                </a:solidFill>
                <a:latin typeface="Calibri"/>
              </a:rPr>
              <a:t>M - Mapping  China Supply Chain Ecosystem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457200"/>
            <a:ext cx="8595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Calibri"/>
              </a:rPr>
              <a:t>China's Supply Chain Atlas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41832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99"/>
                </a:solidFill>
                <a:latin typeface="Calibri"/>
              </a:rPr>
              <a:t>30+ Domestic Suppliers  |  Pearl River &amp; Yangtze Delta  |  Full Actuator Ecosystem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61288"/>
            <a:ext cx="8595360" cy="13716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4864608"/>
            <a:ext cx="7772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  <a:latin typeface="Calibri"/>
              </a:rPr>
              <a:t>AMORA Insights  |  Humanoid Robot Index 2026  |  Data Cut-off: Q1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486460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888899"/>
                </a:solidFill>
                <a:latin typeface="Calibri"/>
              </a:rPr>
              <a:t>9 / 27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1325880"/>
            <a:ext cx="4251960" cy="256032"/>
          </a:xfrm>
          <a:prstGeom prst="rect">
            <a:avLst/>
          </a:prstGeom>
          <a:solidFill>
            <a:srgbClr val="00191E"/>
          </a:solidFill>
          <a:ln w="952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362456"/>
            <a:ext cx="4023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0D4FF"/>
                </a:solidFill>
                <a:latin typeface="Calibri"/>
              </a:rPr>
              <a:t>Vision System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1618488"/>
            <a:ext cx="4251960" cy="246888"/>
          </a:xfrm>
          <a:prstGeom prst="rect">
            <a:avLst/>
          </a:prstGeom>
          <a:solidFill>
            <a:srgbClr val="1A1A32"/>
          </a:solidFill>
          <a:ln w="3810">
            <a:solidFill>
              <a:srgbClr val="30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1655064"/>
            <a:ext cx="228600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Hesai (合眸)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1655064"/>
            <a:ext cx="128016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  <a:latin typeface="Calibri"/>
              </a:rPr>
              <a:t>AT128 LiDAR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1664208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6B6B"/>
                </a:solidFill>
                <a:latin typeface="Calibri"/>
              </a:rPr>
              <a:t>Listed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2880" y="1892807"/>
            <a:ext cx="4251960" cy="246888"/>
          </a:xfrm>
          <a:prstGeom prst="rect">
            <a:avLst/>
          </a:prstGeom>
          <a:solidFill>
            <a:srgbClr val="1A1A32"/>
          </a:solidFill>
          <a:ln w="3810">
            <a:solidFill>
              <a:srgbClr val="30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1929384"/>
            <a:ext cx="228600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RoboSense (速腾)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0" y="1929384"/>
            <a:ext cx="128016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  <a:latin typeface="Calibri"/>
              </a:rPr>
              <a:t>M1/M2 LiDAR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1938527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6B6B"/>
                </a:solidFill>
                <a:latin typeface="Calibri"/>
              </a:rPr>
              <a:t>Listed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67128"/>
            <a:ext cx="4251960" cy="246888"/>
          </a:xfrm>
          <a:prstGeom prst="rect">
            <a:avLst/>
          </a:prstGeom>
          <a:solidFill>
            <a:srgbClr val="1A1A32"/>
          </a:solidFill>
          <a:ln w="3810">
            <a:solidFill>
              <a:srgbClr val="30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2203704"/>
            <a:ext cx="228600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Orbbec (奥比中光)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20" y="2203704"/>
            <a:ext cx="128016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  <a:latin typeface="Calibri"/>
              </a:rPr>
              <a:t>3D Depth Camera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2212848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6B6B"/>
                </a:solidFill>
                <a:latin typeface="Calibri"/>
              </a:rPr>
              <a:t>Listed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2441448"/>
            <a:ext cx="4251960" cy="246888"/>
          </a:xfrm>
          <a:prstGeom prst="rect">
            <a:avLst/>
          </a:prstGeom>
          <a:solidFill>
            <a:srgbClr val="1A1A32"/>
          </a:solidFill>
          <a:ln w="3810">
            <a:solidFill>
              <a:srgbClr val="30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" y="2478024"/>
            <a:ext cx="228600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DJI Livox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0320" y="2478024"/>
            <a:ext cx="128016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  <a:latin typeface="Calibri"/>
              </a:rPr>
              <a:t>Horizon/Avia LiDAR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31920" y="2487168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888899"/>
                </a:solidFill>
                <a:latin typeface="Calibri"/>
              </a:rPr>
              <a:t>Private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0" y="1325880"/>
            <a:ext cx="4251960" cy="256032"/>
          </a:xfrm>
          <a:prstGeom prst="rect">
            <a:avLst/>
          </a:prstGeom>
          <a:solidFill>
            <a:srgbClr val="0E0516"/>
          </a:solidFill>
          <a:ln w="9525"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3440" y="1362456"/>
            <a:ext cx="4023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7B2CBF"/>
                </a:solidFill>
                <a:latin typeface="Calibri"/>
              </a:rPr>
              <a:t>Compute &amp; AI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0" y="1618488"/>
            <a:ext cx="4251960" cy="246888"/>
          </a:xfrm>
          <a:prstGeom prst="rect">
            <a:avLst/>
          </a:prstGeom>
          <a:solidFill>
            <a:srgbClr val="1A1A32"/>
          </a:solidFill>
          <a:ln w="3810">
            <a:solidFill>
              <a:srgbClr val="30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63440" y="1655064"/>
            <a:ext cx="228600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Horizon Robotics (地平线)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0" y="1655064"/>
            <a:ext cx="128016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  <a:latin typeface="Calibri"/>
              </a:rPr>
              <a:t>Journey 5/6 SoC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1664208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6B6B"/>
                </a:solidFill>
                <a:latin typeface="Calibri"/>
              </a:rPr>
              <a:t>Listed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0" y="1892807"/>
            <a:ext cx="4251960" cy="246888"/>
          </a:xfrm>
          <a:prstGeom prst="rect">
            <a:avLst/>
          </a:prstGeom>
          <a:solidFill>
            <a:srgbClr val="1A1A32"/>
          </a:solidFill>
          <a:ln w="3810">
            <a:solidFill>
              <a:srgbClr val="30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63440" y="1929384"/>
            <a:ext cx="228600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Black Sesame (黑芝麻)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1929384"/>
            <a:ext cx="128016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  <a:latin typeface="Calibri"/>
              </a:rPr>
              <a:t>A1000 Chip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0" y="1938527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6B6B"/>
                </a:solidFill>
                <a:latin typeface="Calibri"/>
              </a:rPr>
              <a:t>Listed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0" y="2167128"/>
            <a:ext cx="4251960" cy="246888"/>
          </a:xfrm>
          <a:prstGeom prst="rect">
            <a:avLst/>
          </a:prstGeom>
          <a:solidFill>
            <a:srgbClr val="1A1A32"/>
          </a:solidFill>
          <a:ln w="3810">
            <a:solidFill>
              <a:srgbClr val="30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663440" y="2203704"/>
            <a:ext cx="228600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CATL (宁德时代)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49440" y="2203704"/>
            <a:ext cx="128016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  <a:latin typeface="Calibri"/>
              </a:rPr>
              <a:t>Robot Battery Pack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1040" y="2212848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6B6B"/>
                </a:solidFill>
                <a:latin typeface="Calibri"/>
              </a:rPr>
              <a:t>Listed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0" y="2441448"/>
            <a:ext cx="4251960" cy="246888"/>
          </a:xfrm>
          <a:prstGeom prst="rect">
            <a:avLst/>
          </a:prstGeom>
          <a:solidFill>
            <a:srgbClr val="1A1A32"/>
          </a:solidFill>
          <a:ln w="3810">
            <a:solidFill>
              <a:srgbClr val="30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63440" y="2478024"/>
            <a:ext cx="228600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EVE Energy (亿纬)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49440" y="2478024"/>
            <a:ext cx="128016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  <a:latin typeface="Calibri"/>
              </a:rPr>
              <a:t>Cylindrical Cells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1040" y="2487168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6B6B"/>
                </a:solidFill>
                <a:latin typeface="Calibri"/>
              </a:rPr>
              <a:t>Listed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82880" y="2944368"/>
            <a:ext cx="4251960" cy="256032"/>
          </a:xfrm>
          <a:prstGeom prst="rect">
            <a:avLst/>
          </a:prstGeom>
          <a:solidFill>
            <a:srgbClr val="001E10"/>
          </a:solidFill>
          <a:ln w="9525">
            <a:solidFill>
              <a:srgbClr val="00FF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4320" y="2980944"/>
            <a:ext cx="4023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0FF88"/>
                </a:solidFill>
                <a:latin typeface="Calibri"/>
              </a:rPr>
              <a:t>Actuators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82880" y="3236976"/>
            <a:ext cx="4251960" cy="246888"/>
          </a:xfrm>
          <a:prstGeom prst="rect">
            <a:avLst/>
          </a:prstGeom>
          <a:solidFill>
            <a:srgbClr val="1A1A32"/>
          </a:solidFill>
          <a:ln w="3810">
            <a:solidFill>
              <a:srgbClr val="30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74320" y="3273552"/>
            <a:ext cx="228600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Leaderdrive (绿的谐波)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60320" y="3273552"/>
            <a:ext cx="128016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  <a:latin typeface="Calibri"/>
              </a:rPr>
              <a:t>Harmonic Reducer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931920" y="3282696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6B6B"/>
                </a:solidFill>
                <a:latin typeface="Calibri"/>
              </a:rPr>
              <a:t>Listed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82880" y="3511296"/>
            <a:ext cx="4251960" cy="246888"/>
          </a:xfrm>
          <a:prstGeom prst="rect">
            <a:avLst/>
          </a:prstGeom>
          <a:solidFill>
            <a:srgbClr val="1A1A32"/>
          </a:solidFill>
          <a:ln w="3810">
            <a:solidFill>
              <a:srgbClr val="30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74320" y="3547872"/>
            <a:ext cx="228600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Estun (埃斯顿)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560320" y="3547872"/>
            <a:ext cx="128016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  <a:latin typeface="Calibri"/>
              </a:rPr>
              <a:t>Servo Motors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931920" y="3557015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6B6B"/>
                </a:solidFill>
                <a:latin typeface="Calibri"/>
              </a:rPr>
              <a:t>Listed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82880" y="3785615"/>
            <a:ext cx="4251960" cy="246888"/>
          </a:xfrm>
          <a:prstGeom prst="rect">
            <a:avLst/>
          </a:prstGeom>
          <a:solidFill>
            <a:srgbClr val="1A1A32"/>
          </a:solidFill>
          <a:ln w="3810">
            <a:solidFill>
              <a:srgbClr val="30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4320" y="3822191"/>
            <a:ext cx="228600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Inovance (汇川)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60320" y="3822191"/>
            <a:ext cx="128016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  <a:latin typeface="Calibri"/>
              </a:rPr>
              <a:t>Servo Systems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831335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6B6B"/>
                </a:solidFill>
                <a:latin typeface="Calibri"/>
              </a:rPr>
              <a:t>Listed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82880" y="4059935"/>
            <a:ext cx="4251960" cy="246888"/>
          </a:xfrm>
          <a:prstGeom prst="rect">
            <a:avLst/>
          </a:prstGeom>
          <a:solidFill>
            <a:srgbClr val="1A1A32"/>
          </a:solidFill>
          <a:ln w="3810">
            <a:solidFill>
              <a:srgbClr val="30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74320" y="4096511"/>
            <a:ext cx="228600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Welling (威灵)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560320" y="4096511"/>
            <a:ext cx="128016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  <a:latin typeface="Calibri"/>
              </a:rPr>
              <a:t>Precision Motors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931920" y="4105655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888899"/>
                </a:solidFill>
                <a:latin typeface="Calibri"/>
              </a:rPr>
              <a:t>Private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0" y="2944368"/>
            <a:ext cx="4251960" cy="256032"/>
          </a:xfrm>
          <a:prstGeom prst="rect">
            <a:avLst/>
          </a:prstGeom>
          <a:solidFill>
            <a:srgbClr val="1E1601"/>
          </a:solidFill>
          <a:ln w="9525">
            <a:solidFill>
              <a:srgbClr val="FFB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663440" y="2980944"/>
            <a:ext cx="4023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BE0B"/>
                </a:solidFill>
                <a:latin typeface="Calibri"/>
              </a:rPr>
              <a:t>Dexterous Hand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72000" y="3236976"/>
            <a:ext cx="4251960" cy="246888"/>
          </a:xfrm>
          <a:prstGeom prst="rect">
            <a:avLst/>
          </a:prstGeom>
          <a:solidFill>
            <a:srgbClr val="1A1A32"/>
          </a:solidFill>
          <a:ln w="3810">
            <a:solidFill>
              <a:srgbClr val="30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663440" y="3273552"/>
            <a:ext cx="228600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Inspire Robots (因时)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3273552"/>
            <a:ext cx="128016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  <a:latin typeface="Calibri"/>
              </a:rPr>
              <a:t>RH56DFX Hand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21040" y="3282696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888899"/>
                </a:solidFill>
                <a:latin typeface="Calibri"/>
              </a:rPr>
              <a:t>Private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572000" y="3511296"/>
            <a:ext cx="4251960" cy="246888"/>
          </a:xfrm>
          <a:prstGeom prst="rect">
            <a:avLst/>
          </a:prstGeom>
          <a:solidFill>
            <a:srgbClr val="1A1A32"/>
          </a:solidFill>
          <a:ln w="3810">
            <a:solidFill>
              <a:srgbClr val="30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663440" y="3547872"/>
            <a:ext cx="228600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Paxini (帕西米)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949440" y="3547872"/>
            <a:ext cx="128016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  <a:latin typeface="Calibri"/>
              </a:rPr>
              <a:t>Tactile Sensors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321040" y="3557015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888899"/>
                </a:solidFill>
                <a:latin typeface="Calibri"/>
              </a:rPr>
              <a:t>Private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572000" y="3785615"/>
            <a:ext cx="4251960" cy="246888"/>
          </a:xfrm>
          <a:prstGeom prst="rect">
            <a:avLst/>
          </a:prstGeom>
          <a:solidFill>
            <a:srgbClr val="1A1A32"/>
          </a:solidFill>
          <a:ln w="3810">
            <a:solidFill>
              <a:srgbClr val="30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663440" y="3822191"/>
            <a:ext cx="228600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DH-Robotics (大寰)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949440" y="3822191"/>
            <a:ext cx="128016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  <a:latin typeface="Calibri"/>
              </a:rPr>
              <a:t>Electric Grippers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321040" y="3831335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888899"/>
                </a:solidFill>
                <a:latin typeface="Calibri"/>
              </a:rPr>
              <a:t>Private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82880" y="4562856"/>
            <a:ext cx="4251960" cy="256032"/>
          </a:xfrm>
          <a:prstGeom prst="rect">
            <a:avLst/>
          </a:prstGeom>
          <a:solidFill>
            <a:srgbClr val="1E000D"/>
          </a:solidFill>
          <a:ln w="9525">
            <a:solidFill>
              <a:srgbClr val="FF0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74320" y="4599432"/>
            <a:ext cx="4023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006E"/>
                </a:solidFill>
                <a:latin typeface="Calibri"/>
              </a:rPr>
              <a:t>Force Sensing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82880" y="4855464"/>
            <a:ext cx="4251960" cy="246888"/>
          </a:xfrm>
          <a:prstGeom prst="rect">
            <a:avLst/>
          </a:prstGeom>
          <a:solidFill>
            <a:srgbClr val="1A1A32"/>
          </a:solidFill>
          <a:ln w="3810">
            <a:solidFill>
              <a:srgbClr val="30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74320" y="4892040"/>
            <a:ext cx="228600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Unitree (宇树)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560320" y="4892040"/>
            <a:ext cx="128016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  <a:latin typeface="Calibri"/>
              </a:rPr>
              <a:t>Proprietary F/T Sensor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931920" y="4901184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FFBE0B"/>
                </a:solidFill>
                <a:latin typeface="Calibri"/>
              </a:rPr>
              <a:t>IPO 2026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82880" y="5129784"/>
            <a:ext cx="4251960" cy="246888"/>
          </a:xfrm>
          <a:prstGeom prst="rect">
            <a:avLst/>
          </a:prstGeom>
          <a:solidFill>
            <a:srgbClr val="1A1A32"/>
          </a:solidFill>
          <a:ln w="3810">
            <a:solidFill>
              <a:srgbClr val="30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274320" y="5166360"/>
            <a:ext cx="228600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Tacter (坤维)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560320" y="5166360"/>
            <a:ext cx="128016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  <a:latin typeface="Calibri"/>
              </a:rPr>
              <a:t>6-Axis F/T Sensor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931920" y="5175504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888899"/>
                </a:solidFill>
                <a:latin typeface="Calibri"/>
              </a:rPr>
              <a:t>Private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572000" y="1325880"/>
            <a:ext cx="4251960" cy="256032"/>
          </a:xfrm>
          <a:prstGeom prst="rect">
            <a:avLst/>
          </a:prstGeom>
          <a:solidFill>
            <a:srgbClr val="0A2814"/>
          </a:solidFill>
          <a:ln w="9525">
            <a:solidFill>
              <a:srgbClr val="00FF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681728" y="1362456"/>
            <a:ext cx="4023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0FF88"/>
                </a:solidFill>
                <a:latin typeface="Calibri"/>
              </a:rPr>
              <a:t>Leading OEMs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572000" y="1618488"/>
            <a:ext cx="4251960" cy="246888"/>
          </a:xfrm>
          <a:prstGeom prst="rect">
            <a:avLst/>
          </a:prstGeom>
          <a:solidFill>
            <a:srgbClr val="1A1A32"/>
          </a:solidFill>
          <a:ln w="3810">
            <a:solidFill>
              <a:srgbClr val="30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681728" y="1655064"/>
            <a:ext cx="20116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FF88"/>
                </a:solidFill>
                <a:latin typeface="Calibri"/>
              </a:rPr>
              <a:t>Unitree (宇树科技)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693408" y="1655064"/>
            <a:ext cx="2029968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88899"/>
                </a:solidFill>
                <a:latin typeface="Calibri"/>
              </a:rPr>
              <a:t>5,500+ units 2024  |  Global #1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572000" y="1883664"/>
            <a:ext cx="4251960" cy="246888"/>
          </a:xfrm>
          <a:prstGeom prst="rect">
            <a:avLst/>
          </a:prstGeom>
          <a:solidFill>
            <a:srgbClr val="1A1A32"/>
          </a:solidFill>
          <a:ln w="3810">
            <a:solidFill>
              <a:srgbClr val="30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4681728" y="1920240"/>
            <a:ext cx="20116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FF"/>
                </a:solidFill>
                <a:latin typeface="Calibri"/>
              </a:rPr>
              <a:t>AgiBot (智元机器人)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693408" y="1920240"/>
            <a:ext cx="2029968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88899"/>
                </a:solidFill>
                <a:latin typeface="Calibri"/>
              </a:rPr>
              <a:t>Series B+  |  Domestic leader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572000" y="2148840"/>
            <a:ext cx="4251960" cy="246888"/>
          </a:xfrm>
          <a:prstGeom prst="rect">
            <a:avLst/>
          </a:prstGeom>
          <a:solidFill>
            <a:srgbClr val="1A1A32"/>
          </a:solidFill>
          <a:ln w="3810">
            <a:solidFill>
              <a:srgbClr val="30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681728" y="2185416"/>
            <a:ext cx="20116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CCCDD"/>
                </a:solidFill>
                <a:latin typeface="Calibri"/>
              </a:rPr>
              <a:t>Fourier Intelligence (傅里叶)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693408" y="2185416"/>
            <a:ext cx="2029968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88899"/>
                </a:solidFill>
                <a:latin typeface="Calibri"/>
              </a:rPr>
              <a:t>GR-1/GR-2  |  Medical+Industry</a:t>
            </a:r>
          </a:p>
        </p:txBody>
      </p:sp>
      <p:sp>
        <p:nvSpPr>
          <p:cNvPr id="97" name="Rectangle 96"/>
          <p:cNvSpPr/>
          <p:nvPr/>
        </p:nvSpPr>
        <p:spPr>
          <a:xfrm>
            <a:off x="4572000" y="2414015"/>
            <a:ext cx="4251960" cy="246888"/>
          </a:xfrm>
          <a:prstGeom prst="rect">
            <a:avLst/>
          </a:prstGeom>
          <a:solidFill>
            <a:srgbClr val="1A1A32"/>
          </a:solidFill>
          <a:ln w="3810">
            <a:solidFill>
              <a:srgbClr val="30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681728" y="2450591"/>
            <a:ext cx="20116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CCCDD"/>
                </a:solidFill>
                <a:latin typeface="Calibri"/>
              </a:rPr>
              <a:t>Leju Robotics (乐聚)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693408" y="2450591"/>
            <a:ext cx="2029968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88899"/>
                </a:solidFill>
                <a:latin typeface="Calibri"/>
              </a:rPr>
              <a:t>Robovie series  |  Tier-1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572000" y="2679191"/>
            <a:ext cx="4251960" cy="246888"/>
          </a:xfrm>
          <a:prstGeom prst="rect">
            <a:avLst/>
          </a:prstGeom>
          <a:solidFill>
            <a:srgbClr val="1A1A32"/>
          </a:solidFill>
          <a:ln w="3810">
            <a:solidFill>
              <a:srgbClr val="30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681728" y="2715768"/>
            <a:ext cx="20116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6B6B"/>
                </a:solidFill>
                <a:latin typeface="Calibri"/>
              </a:rPr>
              <a:t>UBTECH (优必选)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693408" y="2715768"/>
            <a:ext cx="2029968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88899"/>
                </a:solidFill>
                <a:latin typeface="Calibri"/>
              </a:rPr>
              <a:t>Walker X/S  |  HKEX Listed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4572000" y="2944368"/>
            <a:ext cx="4251960" cy="246888"/>
          </a:xfrm>
          <a:prstGeom prst="rect">
            <a:avLst/>
          </a:prstGeom>
          <a:solidFill>
            <a:srgbClr val="1A1A32"/>
          </a:solidFill>
          <a:ln w="3810">
            <a:solidFill>
              <a:srgbClr val="30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4681728" y="2980944"/>
            <a:ext cx="20116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88899"/>
                </a:solidFill>
                <a:latin typeface="Calibri"/>
              </a:rPr>
              <a:t>AiDimension (星动纪元)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693408" y="2980944"/>
            <a:ext cx="2029968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88899"/>
                </a:solidFill>
                <a:latin typeface="Calibri"/>
              </a:rPr>
              <a:t>X1 series  |  Series A 2024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572000" y="3319272"/>
            <a:ext cx="4251960" cy="1115568"/>
          </a:xfrm>
          <a:prstGeom prst="rect">
            <a:avLst/>
          </a:prstGeom>
          <a:solidFill>
            <a:srgbClr val="101028"/>
          </a:solidFill>
          <a:ln w="952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709160" y="3374136"/>
            <a:ext cx="3931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0D4FF"/>
                </a:solidFill>
                <a:latin typeface="Calibri"/>
              </a:rPr>
              <a:t>Core Advantages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736592" y="3611879"/>
            <a:ext cx="138988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BE0B"/>
                </a:solidFill>
                <a:latin typeface="Calibri"/>
              </a:rPr>
              <a:t>Manufacturing Density: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126480" y="3611879"/>
            <a:ext cx="257860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D"/>
                </a:solidFill>
                <a:latin typeface="Calibri"/>
              </a:rPr>
              <a:t>Full ecosystem within 100km; Pearl River + Yangtze Delta cluster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736592" y="3803904"/>
            <a:ext cx="138988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BE0B"/>
                </a:solidFill>
                <a:latin typeface="Calibri"/>
              </a:rPr>
              <a:t>Cost Leadership: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126480" y="3803904"/>
            <a:ext cx="257860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D"/>
                </a:solidFill>
                <a:latin typeface="Calibri"/>
              </a:rPr>
              <a:t>35% of US cost at 100K scale - 65% structural advantage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736592" y="3995928"/>
            <a:ext cx="138988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BE0B"/>
                </a:solidFill>
                <a:latin typeface="Calibri"/>
              </a:rPr>
              <a:t>Actuator Mastery: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126480" y="3995928"/>
            <a:ext cx="257860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D"/>
                </a:solidFill>
                <a:latin typeface="Calibri"/>
              </a:rPr>
              <a:t>30+ domestic suppliers, most complete globally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736592" y="4187952"/>
            <a:ext cx="138988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BE0B"/>
                </a:solidFill>
                <a:latin typeface="Calibri"/>
              </a:rPr>
              <a:t>Speed Advantage: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126480" y="4187952"/>
            <a:ext cx="257860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D"/>
                </a:solidFill>
                <a:latin typeface="Calibri"/>
              </a:rPr>
              <a:t>Unitree 5,500+ deployed vs Tesla Optimus &lt;50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595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0D4FF"/>
                </a:solidFill>
                <a:latin typeface="Calibri"/>
              </a:rPr>
              <a:t>M - Mapping  US Supply Chain Ecosystem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457200"/>
            <a:ext cx="8595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Calibri"/>
              </a:rPr>
              <a:t>US Supply Chain Atlas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41832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99"/>
                </a:solidFill>
                <a:latin typeface="Calibri"/>
              </a:rPr>
              <a:t>NVIDIA CUDA Platform Moat  |  70% Critical Component Import Dependency  |  $2B+ VC Funding 2024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61288"/>
            <a:ext cx="8595360" cy="13716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4864608"/>
            <a:ext cx="7772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  <a:latin typeface="Calibri"/>
              </a:rPr>
              <a:t>AMORA Insights  |  Humanoid Robot Index 2026  |  Data Cut-off: Q1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486460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888899"/>
                </a:solidFill>
                <a:latin typeface="Calibri"/>
              </a:rPr>
              <a:t>10 / 27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1325880"/>
            <a:ext cx="2834640" cy="256032"/>
          </a:xfrm>
          <a:prstGeom prst="rect">
            <a:avLst/>
          </a:prstGeom>
          <a:solidFill>
            <a:srgbClr val="0E0516"/>
          </a:solidFill>
          <a:ln w="9525"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362456"/>
            <a:ext cx="2651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7B2CBF"/>
                </a:solidFill>
                <a:latin typeface="Calibri"/>
              </a:rPr>
              <a:t>Platform &amp; AI Layer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1627632"/>
            <a:ext cx="2834640" cy="493776"/>
          </a:xfrm>
          <a:prstGeom prst="rect">
            <a:avLst/>
          </a:prstGeom>
          <a:solidFill>
            <a:srgbClr val="1A1A32"/>
          </a:solidFill>
          <a:ln w="3810">
            <a:solidFill>
              <a:srgbClr val="30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1664208"/>
            <a:ext cx="2651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NVIDIA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1874519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B2CBF"/>
                </a:solidFill>
                <a:latin typeface="Calibri"/>
              </a:rPr>
              <a:t>Jetson Orin/Thor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1975104"/>
            <a:ext cx="2651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88899"/>
                </a:solidFill>
                <a:latin typeface="Calibri"/>
              </a:rPr>
              <a:t>Universal AI compute standard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2880" y="2157984"/>
            <a:ext cx="2834640" cy="493776"/>
          </a:xfrm>
          <a:prstGeom prst="rect">
            <a:avLst/>
          </a:prstGeom>
          <a:solidFill>
            <a:srgbClr val="1A1A32"/>
          </a:solidFill>
          <a:ln w="3810">
            <a:solidFill>
              <a:srgbClr val="30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2194560"/>
            <a:ext cx="2651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OpenAI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2404872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B2CBF"/>
                </a:solidFill>
                <a:latin typeface="Calibri"/>
              </a:rPr>
              <a:t>GPT-4V / VLA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2505456"/>
            <a:ext cx="2651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88899"/>
                </a:solidFill>
                <a:latin typeface="Calibri"/>
              </a:rPr>
              <a:t>Figure AI backbone partner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688336"/>
            <a:ext cx="2834640" cy="493776"/>
          </a:xfrm>
          <a:prstGeom prst="rect">
            <a:avLst/>
          </a:prstGeom>
          <a:solidFill>
            <a:srgbClr val="1A1A32"/>
          </a:solidFill>
          <a:ln w="3810">
            <a:solidFill>
              <a:srgbClr val="30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2724912"/>
            <a:ext cx="2651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Google DeepMind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2935224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B2CBF"/>
                </a:solidFill>
                <a:latin typeface="Calibri"/>
              </a:rPr>
              <a:t>RT-X / Gemini Robotics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3035808"/>
            <a:ext cx="2651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88899"/>
                </a:solidFill>
                <a:latin typeface="Calibri"/>
              </a:rPr>
              <a:t>Open embodied AI research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3218687"/>
            <a:ext cx="2834640" cy="493776"/>
          </a:xfrm>
          <a:prstGeom prst="rect">
            <a:avLst/>
          </a:prstGeom>
          <a:solidFill>
            <a:srgbClr val="1A1A32"/>
          </a:solidFill>
          <a:ln w="3810">
            <a:solidFill>
              <a:srgbClr val="30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" y="3255263"/>
            <a:ext cx="2651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Microsoft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3465575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B2CBF"/>
                </a:solidFill>
                <a:latin typeface="Calibri"/>
              </a:rPr>
              <a:t>Azure Robotics Platform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3566159"/>
            <a:ext cx="2651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88899"/>
                </a:solidFill>
                <a:latin typeface="Calibri"/>
              </a:rPr>
              <a:t>Enterprise cloud infrastructure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82880" y="3749039"/>
            <a:ext cx="2834640" cy="493776"/>
          </a:xfrm>
          <a:prstGeom prst="rect">
            <a:avLst/>
          </a:prstGeom>
          <a:solidFill>
            <a:srgbClr val="1A1A32"/>
          </a:solidFill>
          <a:ln w="3810">
            <a:solidFill>
              <a:srgbClr val="30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320" y="3785615"/>
            <a:ext cx="2651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Meta AI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3995927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B2CBF"/>
                </a:solidFill>
                <a:latin typeface="Calibri"/>
              </a:rPr>
              <a:t>PyTorch + Habitat Sim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4096511"/>
            <a:ext cx="2651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88899"/>
                </a:solidFill>
                <a:latin typeface="Calibri"/>
              </a:rPr>
              <a:t>Open-source simulation tools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2880" y="4279392"/>
            <a:ext cx="2834640" cy="493776"/>
          </a:xfrm>
          <a:prstGeom prst="rect">
            <a:avLst/>
          </a:prstGeom>
          <a:solidFill>
            <a:srgbClr val="1A1A32"/>
          </a:solidFill>
          <a:ln w="3810">
            <a:solidFill>
              <a:srgbClr val="30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4320" y="4315968"/>
            <a:ext cx="2651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Tesla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" y="4526279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B2CBF"/>
                </a:solidFill>
                <a:latin typeface="Calibri"/>
              </a:rPr>
              <a:t>Dojo + FSD Chip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4626864"/>
            <a:ext cx="2651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88899"/>
                </a:solidFill>
                <a:latin typeface="Calibri"/>
              </a:rPr>
              <a:t>Proprietary, Optimus-only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54680" y="1325880"/>
            <a:ext cx="2834640" cy="256032"/>
          </a:xfrm>
          <a:prstGeom prst="rect">
            <a:avLst/>
          </a:prstGeom>
          <a:solidFill>
            <a:srgbClr val="09141D"/>
          </a:solidFill>
          <a:ln w="9525">
            <a:solidFill>
              <a:srgbClr val="4DAB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46120" y="1362456"/>
            <a:ext cx="2651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4DABF7"/>
                </a:solidFill>
                <a:latin typeface="Calibri"/>
              </a:rPr>
              <a:t>OEM Leaders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54680" y="1627632"/>
            <a:ext cx="2834640" cy="493776"/>
          </a:xfrm>
          <a:prstGeom prst="rect">
            <a:avLst/>
          </a:prstGeom>
          <a:solidFill>
            <a:srgbClr val="1A1A32"/>
          </a:solidFill>
          <a:ln w="3810">
            <a:solidFill>
              <a:srgbClr val="30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46120" y="1664208"/>
            <a:ext cx="2651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Tesla Optimus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46120" y="1874519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DABF7"/>
                </a:solidFill>
                <a:latin typeface="Calibri"/>
              </a:rPr>
              <a:t>$20K target BOM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46120" y="1975104"/>
            <a:ext cx="2651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88899"/>
                </a:solidFill>
                <a:latin typeface="Calibri"/>
              </a:rPr>
              <a:t>22 DOF  |  &lt;50 deployed  |  FSD chipset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154680" y="2157984"/>
            <a:ext cx="2834640" cy="493776"/>
          </a:xfrm>
          <a:prstGeom prst="rect">
            <a:avLst/>
          </a:prstGeom>
          <a:solidFill>
            <a:srgbClr val="1A1A32"/>
          </a:solidFill>
          <a:ln w="3810">
            <a:solidFill>
              <a:srgbClr val="30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46120" y="2194560"/>
            <a:ext cx="2651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Boston Dynamics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46120" y="2404872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DABF7"/>
                </a:solidFill>
                <a:latin typeface="Calibri"/>
              </a:rPr>
              <a:t>Atlas (electric)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46120" y="2505456"/>
            <a:ext cx="2651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88899"/>
                </a:solidFill>
                <a:latin typeface="Calibri"/>
              </a:rPr>
              <a:t>29 DOF  |  Hyundai owned  |  R&amp;D focus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54680" y="2688336"/>
            <a:ext cx="2834640" cy="493776"/>
          </a:xfrm>
          <a:prstGeom prst="rect">
            <a:avLst/>
          </a:prstGeom>
          <a:solidFill>
            <a:srgbClr val="1A1A32"/>
          </a:solidFill>
          <a:ln w="3810">
            <a:solidFill>
              <a:srgbClr val="30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246120" y="2724912"/>
            <a:ext cx="2651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Figure AI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46120" y="2935224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DABF7"/>
                </a:solidFill>
                <a:latin typeface="Calibri"/>
              </a:rPr>
              <a:t>$675M raised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246120" y="3035808"/>
            <a:ext cx="2651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88899"/>
                </a:solidFill>
                <a:latin typeface="Calibri"/>
              </a:rPr>
              <a:t>Figure 02  |  BMW pilot  |  OpenAI VLA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154680" y="3218687"/>
            <a:ext cx="2834640" cy="493776"/>
          </a:xfrm>
          <a:prstGeom prst="rect">
            <a:avLst/>
          </a:prstGeom>
          <a:solidFill>
            <a:srgbClr val="1A1A32"/>
          </a:solidFill>
          <a:ln w="3810">
            <a:solidFill>
              <a:srgbClr val="30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246120" y="3255263"/>
            <a:ext cx="2651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Agility Robotics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46120" y="3465575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DABF7"/>
                </a:solidFill>
                <a:latin typeface="Calibri"/>
              </a:rPr>
              <a:t>Digit v5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46120" y="3566159"/>
            <a:ext cx="2651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88899"/>
                </a:solidFill>
                <a:latin typeface="Calibri"/>
              </a:rPr>
              <a:t>NASDAQ listed  |  Amazon warehouse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154680" y="3749039"/>
            <a:ext cx="2834640" cy="493776"/>
          </a:xfrm>
          <a:prstGeom prst="rect">
            <a:avLst/>
          </a:prstGeom>
          <a:solidFill>
            <a:srgbClr val="1A1A32"/>
          </a:solidFill>
          <a:ln w="3810">
            <a:solidFill>
              <a:srgbClr val="30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246120" y="3785615"/>
            <a:ext cx="2651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1X Technologies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46120" y="3995927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DABF7"/>
                </a:solidFill>
                <a:latin typeface="Calibri"/>
              </a:rPr>
              <a:t>NEO B2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246120" y="4096511"/>
            <a:ext cx="2651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88899"/>
                </a:solidFill>
                <a:latin typeface="Calibri"/>
              </a:rPr>
              <a:t>OpenAI backed  |  Norway/US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54680" y="4279392"/>
            <a:ext cx="2834640" cy="493776"/>
          </a:xfrm>
          <a:prstGeom prst="rect">
            <a:avLst/>
          </a:prstGeom>
          <a:solidFill>
            <a:srgbClr val="1A1A32"/>
          </a:solidFill>
          <a:ln w="3810">
            <a:solidFill>
              <a:srgbClr val="30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246120" y="4315968"/>
            <a:ext cx="2651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Apptronik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246120" y="4526279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DABF7"/>
                </a:solidFill>
                <a:latin typeface="Calibri"/>
              </a:rPr>
              <a:t>Apollo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246120" y="4626864"/>
            <a:ext cx="2651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88899"/>
                </a:solidFill>
                <a:latin typeface="Calibri"/>
              </a:rPr>
              <a:t>Mercedes-Benz manufacturing pilot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126480" y="1325880"/>
            <a:ext cx="2834640" cy="256032"/>
          </a:xfrm>
          <a:prstGeom prst="rect">
            <a:avLst/>
          </a:prstGeom>
          <a:solidFill>
            <a:srgbClr val="00191E"/>
          </a:solidFill>
          <a:ln w="952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217920" y="1362456"/>
            <a:ext cx="2651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0D4FF"/>
                </a:solidFill>
                <a:latin typeface="Calibri"/>
              </a:rPr>
              <a:t>Component Suppliers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126480" y="1627632"/>
            <a:ext cx="2834640" cy="493776"/>
          </a:xfrm>
          <a:prstGeom prst="rect">
            <a:avLst/>
          </a:prstGeom>
          <a:solidFill>
            <a:srgbClr val="1A1A32"/>
          </a:solidFill>
          <a:ln w="3810">
            <a:solidFill>
              <a:srgbClr val="30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217920" y="1664208"/>
            <a:ext cx="2651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ATI Industrial Automation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17920" y="1874519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D4FF"/>
                </a:solidFill>
                <a:latin typeface="Calibri"/>
              </a:rPr>
              <a:t>6-Axis F/T Sensors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17920" y="1975104"/>
            <a:ext cx="2651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88899"/>
                </a:solidFill>
                <a:latin typeface="Calibri"/>
              </a:rPr>
              <a:t>60%+ global market share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126480" y="2157984"/>
            <a:ext cx="2834640" cy="493776"/>
          </a:xfrm>
          <a:prstGeom prst="rect">
            <a:avLst/>
          </a:prstGeom>
          <a:solidFill>
            <a:srgbClr val="1A1A32"/>
          </a:solidFill>
          <a:ln w="3810">
            <a:solidFill>
              <a:srgbClr val="30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217920" y="2194560"/>
            <a:ext cx="2651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Moog Inc.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2404872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D4FF"/>
                </a:solidFill>
                <a:latin typeface="Calibri"/>
              </a:rPr>
              <a:t>Servo Actuators / Drives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217920" y="2505456"/>
            <a:ext cx="2651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88899"/>
                </a:solidFill>
                <a:latin typeface="Calibri"/>
              </a:rPr>
              <a:t>Aerospace &amp; defense grade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26480" y="2688336"/>
            <a:ext cx="2834640" cy="493776"/>
          </a:xfrm>
          <a:prstGeom prst="rect">
            <a:avLst/>
          </a:prstGeom>
          <a:solidFill>
            <a:srgbClr val="1A1A32"/>
          </a:solidFill>
          <a:ln w="3810">
            <a:solidFill>
              <a:srgbClr val="30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217920" y="2724912"/>
            <a:ext cx="2651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Harmonic Drive LLC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217920" y="2935224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D4FF"/>
                </a:solidFill>
                <a:latin typeface="Calibri"/>
              </a:rPr>
              <a:t>Precision Gearboxes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217920" y="3035808"/>
            <a:ext cx="2651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88899"/>
                </a:solidFill>
                <a:latin typeface="Calibri"/>
              </a:rPr>
              <a:t>High-end robot standard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126480" y="3218687"/>
            <a:ext cx="2834640" cy="493776"/>
          </a:xfrm>
          <a:prstGeom prst="rect">
            <a:avLst/>
          </a:prstGeom>
          <a:solidFill>
            <a:srgbClr val="1A1A32"/>
          </a:solidFill>
          <a:ln w="3810">
            <a:solidFill>
              <a:srgbClr val="30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217920" y="3255263"/>
            <a:ext cx="2651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Intel RealSense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465575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D4FF"/>
                </a:solidFill>
                <a:latin typeface="Calibri"/>
              </a:rPr>
              <a:t>D435/D455 Depth Cam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17920" y="3566159"/>
            <a:ext cx="2651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88899"/>
                </a:solidFill>
                <a:latin typeface="Calibri"/>
              </a:rPr>
              <a:t>Most US robots use this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26480" y="3749039"/>
            <a:ext cx="2834640" cy="493776"/>
          </a:xfrm>
          <a:prstGeom prst="rect">
            <a:avLst/>
          </a:prstGeom>
          <a:solidFill>
            <a:srgbClr val="1A1A32"/>
          </a:solidFill>
          <a:ln w="3810">
            <a:solidFill>
              <a:srgbClr val="30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217920" y="3785615"/>
            <a:ext cx="2651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Qualcomm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217920" y="3995927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D4FF"/>
                </a:solidFill>
                <a:latin typeface="Calibri"/>
              </a:rPr>
              <a:t>RB5/RB6 Platform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217920" y="4096511"/>
            <a:ext cx="2651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88899"/>
                </a:solidFill>
                <a:latin typeface="Calibri"/>
              </a:rPr>
              <a:t>Mid-range robot compute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26480" y="4279392"/>
            <a:ext cx="2834640" cy="493776"/>
          </a:xfrm>
          <a:prstGeom prst="rect">
            <a:avLst/>
          </a:prstGeom>
          <a:solidFill>
            <a:srgbClr val="1A1A32"/>
          </a:solidFill>
          <a:ln w="3810">
            <a:solidFill>
              <a:srgbClr val="30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217920" y="4315968"/>
            <a:ext cx="2651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Synapticon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217920" y="4526279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D4FF"/>
                </a:solidFill>
                <a:latin typeface="Calibri"/>
              </a:rPr>
              <a:t>Servo Drives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626864"/>
            <a:ext cx="2651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88899"/>
                </a:solidFill>
                <a:latin typeface="Calibri"/>
              </a:rPr>
              <a:t>Motion control specialist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82880" y="4608576"/>
            <a:ext cx="8778240" cy="256032"/>
          </a:xfrm>
          <a:prstGeom prst="rect">
            <a:avLst/>
          </a:prstGeom>
          <a:solidFill>
            <a:srgbClr val="280A14"/>
          </a:solidFill>
          <a:ln w="9525">
            <a:solidFill>
              <a:srgbClr val="FF0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20040" y="4636008"/>
            <a:ext cx="8503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006E"/>
                </a:solidFill>
                <a:latin typeface="Calibri"/>
              </a:rPr>
              <a:t>Critical Vulnerability:  70% import dependency on key components — ATI force sensors, Harmonic Drive gearboxes, TSMC chips, CATL batteries. All US OEMs combined &lt;100 units deployed in 2024.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595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0D4FF"/>
                </a:solidFill>
                <a:latin typeface="Calibri"/>
              </a:rPr>
              <a:t>M - Mapping  China vs US Supply Chain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457200"/>
            <a:ext cx="8595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Calibri"/>
              </a:rPr>
              <a:t>Supply Chain Competitive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41832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99"/>
                </a:solidFill>
                <a:latin typeface="Calibri"/>
              </a:rPr>
              <a:t>7 Dimensions  |  Manufacturing Scale vs Platform Control  |  2027 Convergence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61288"/>
            <a:ext cx="8595360" cy="13716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4864608"/>
            <a:ext cx="7772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  <a:latin typeface="Calibri"/>
              </a:rPr>
              <a:t>AMORA Insights  |  Humanoid Robot Index 2026  |  Data Cut-off: Q1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486460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888899"/>
                </a:solidFill>
                <a:latin typeface="Calibri"/>
              </a:rPr>
              <a:t>11 / 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1261872"/>
            <a:ext cx="3063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F6B6B"/>
                </a:solidFill>
                <a:latin typeface="Calibri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7560" y="1261872"/>
            <a:ext cx="2468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BE0B"/>
                </a:solidFill>
                <a:latin typeface="Calibri"/>
              </a:rPr>
              <a:t>DIMENSION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1261872"/>
            <a:ext cx="3063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DABF7"/>
                </a:solidFill>
                <a:latin typeface="Calibri"/>
              </a:rPr>
              <a:t>US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1490472"/>
            <a:ext cx="8778240" cy="448056"/>
          </a:xfrm>
          <a:prstGeom prst="rect">
            <a:avLst/>
          </a:prstGeom>
          <a:solidFill>
            <a:srgbClr val="14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37560" y="1554480"/>
            <a:ext cx="2468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BE0B"/>
                </a:solidFill>
                <a:latin typeface="Calibri"/>
              </a:rPr>
              <a:t>Manufacturing Scale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1609343"/>
            <a:ext cx="2880360" cy="201168"/>
          </a:xfrm>
          <a:prstGeom prst="rect">
            <a:avLst/>
          </a:prstGeom>
          <a:solidFill>
            <a:srgbClr val="2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72618" y="1609343"/>
            <a:ext cx="2736341" cy="201168"/>
          </a:xfrm>
          <a:prstGeom prst="rect">
            <a:avLst/>
          </a:prstGeom>
          <a:solidFill>
            <a:srgbClr val="CC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8600" y="1627631"/>
            <a:ext cx="2880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95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89320" y="1609343"/>
            <a:ext cx="2880360" cy="201168"/>
          </a:xfrm>
          <a:prstGeom prst="rect">
            <a:avLst/>
          </a:prstGeom>
          <a:solidFill>
            <a:srgbClr val="2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89320" y="1609343"/>
            <a:ext cx="576072" cy="201168"/>
          </a:xfrm>
          <a:prstGeom prst="rect">
            <a:avLst/>
          </a:prstGeom>
          <a:solidFill>
            <a:srgbClr val="33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89320" y="1627631"/>
            <a:ext cx="2880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20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2880" y="1965960"/>
            <a:ext cx="8778240" cy="448056"/>
          </a:xfrm>
          <a:prstGeom prst="rect">
            <a:avLst/>
          </a:prstGeom>
          <a:solidFill>
            <a:srgbClr val="101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7560" y="2029967"/>
            <a:ext cx="2468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BE0B"/>
                </a:solidFill>
                <a:latin typeface="Calibri"/>
              </a:rPr>
              <a:t>Actuator Ecosystem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8600" y="2084831"/>
            <a:ext cx="2880360" cy="201168"/>
          </a:xfrm>
          <a:prstGeom prst="rect">
            <a:avLst/>
          </a:prstGeom>
          <a:solidFill>
            <a:srgbClr val="2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6635" y="2084831"/>
            <a:ext cx="2592324" cy="201168"/>
          </a:xfrm>
          <a:prstGeom prst="rect">
            <a:avLst/>
          </a:prstGeom>
          <a:solidFill>
            <a:srgbClr val="CC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28600" y="2103120"/>
            <a:ext cx="2880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90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89320" y="2084831"/>
            <a:ext cx="2880360" cy="201168"/>
          </a:xfrm>
          <a:prstGeom prst="rect">
            <a:avLst/>
          </a:prstGeom>
          <a:solidFill>
            <a:srgbClr val="2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989320" y="2084831"/>
            <a:ext cx="864108" cy="201168"/>
          </a:xfrm>
          <a:prstGeom prst="rect">
            <a:avLst/>
          </a:prstGeom>
          <a:solidFill>
            <a:srgbClr val="33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89320" y="2103120"/>
            <a:ext cx="2880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30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82880" y="2441448"/>
            <a:ext cx="8778240" cy="448056"/>
          </a:xfrm>
          <a:prstGeom prst="rect">
            <a:avLst/>
          </a:prstGeom>
          <a:solidFill>
            <a:srgbClr val="14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37560" y="2505456"/>
            <a:ext cx="2468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BE0B"/>
                </a:solidFill>
                <a:latin typeface="Calibri"/>
              </a:rPr>
              <a:t>AI &amp; Compute Platform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28600" y="2560320"/>
            <a:ext cx="2880360" cy="201168"/>
          </a:xfrm>
          <a:prstGeom prst="rect">
            <a:avLst/>
          </a:prstGeom>
          <a:solidFill>
            <a:srgbClr val="2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100834" y="2560320"/>
            <a:ext cx="1008125" cy="201168"/>
          </a:xfrm>
          <a:prstGeom prst="rect">
            <a:avLst/>
          </a:prstGeom>
          <a:solidFill>
            <a:srgbClr val="CC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8600" y="2578608"/>
            <a:ext cx="2880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35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89320" y="2560320"/>
            <a:ext cx="2880360" cy="201168"/>
          </a:xfrm>
          <a:prstGeom prst="rect">
            <a:avLst/>
          </a:prstGeom>
          <a:solidFill>
            <a:srgbClr val="2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989320" y="2560320"/>
            <a:ext cx="2736341" cy="201168"/>
          </a:xfrm>
          <a:prstGeom prst="rect">
            <a:avLst/>
          </a:prstGeom>
          <a:solidFill>
            <a:srgbClr val="33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89320" y="2578608"/>
            <a:ext cx="2880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95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82880" y="2916936"/>
            <a:ext cx="8778240" cy="448056"/>
          </a:xfrm>
          <a:prstGeom prst="rect">
            <a:avLst/>
          </a:prstGeom>
          <a:solidFill>
            <a:srgbClr val="101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37560" y="2980944"/>
            <a:ext cx="2468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BE0B"/>
                </a:solidFill>
                <a:latin typeface="Calibri"/>
              </a:rPr>
              <a:t>Deployment Volume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28600" y="3035808"/>
            <a:ext cx="2880360" cy="201168"/>
          </a:xfrm>
          <a:prstGeom prst="rect">
            <a:avLst/>
          </a:prstGeom>
          <a:solidFill>
            <a:srgbClr val="2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86207" y="3035808"/>
            <a:ext cx="2822752" cy="201168"/>
          </a:xfrm>
          <a:prstGeom prst="rect">
            <a:avLst/>
          </a:prstGeom>
          <a:solidFill>
            <a:srgbClr val="CC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28600" y="3054096"/>
            <a:ext cx="2880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98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989320" y="3035808"/>
            <a:ext cx="2880360" cy="201168"/>
          </a:xfrm>
          <a:prstGeom prst="rect">
            <a:avLst/>
          </a:prstGeom>
          <a:solidFill>
            <a:srgbClr val="2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989320" y="3035808"/>
            <a:ext cx="432054" cy="201168"/>
          </a:xfrm>
          <a:prstGeom prst="rect">
            <a:avLst/>
          </a:prstGeom>
          <a:solidFill>
            <a:srgbClr val="33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89320" y="3054096"/>
            <a:ext cx="2880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82880" y="3392424"/>
            <a:ext cx="8778240" cy="448056"/>
          </a:xfrm>
          <a:prstGeom prst="rect">
            <a:avLst/>
          </a:prstGeom>
          <a:solidFill>
            <a:srgbClr val="14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37560" y="3456432"/>
            <a:ext cx="2468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BE0B"/>
                </a:solidFill>
                <a:latin typeface="Calibri"/>
              </a:rPr>
              <a:t>Cost Competitiveness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28600" y="3511296"/>
            <a:ext cx="2880360" cy="201168"/>
          </a:xfrm>
          <a:prstGeom prst="rect">
            <a:avLst/>
          </a:prstGeom>
          <a:solidFill>
            <a:srgbClr val="2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59028" y="3511296"/>
            <a:ext cx="2649931" cy="201168"/>
          </a:xfrm>
          <a:prstGeom prst="rect">
            <a:avLst/>
          </a:prstGeom>
          <a:solidFill>
            <a:srgbClr val="CC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28600" y="3529584"/>
            <a:ext cx="2880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92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989320" y="3511296"/>
            <a:ext cx="2880360" cy="201168"/>
          </a:xfrm>
          <a:prstGeom prst="rect">
            <a:avLst/>
          </a:prstGeom>
          <a:solidFill>
            <a:srgbClr val="2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989320" y="3511296"/>
            <a:ext cx="2880360" cy="201168"/>
          </a:xfrm>
          <a:prstGeom prst="rect">
            <a:avLst/>
          </a:prstGeom>
          <a:solidFill>
            <a:srgbClr val="33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989320" y="3529584"/>
            <a:ext cx="2880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100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82880" y="3867912"/>
            <a:ext cx="8778240" cy="448056"/>
          </a:xfrm>
          <a:prstGeom prst="rect">
            <a:avLst/>
          </a:prstGeom>
          <a:solidFill>
            <a:srgbClr val="101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37560" y="3931920"/>
            <a:ext cx="2468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BE0B"/>
                </a:solidFill>
                <a:latin typeface="Calibri"/>
              </a:rPr>
              <a:t>Enterprise Adoption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28600" y="3986784"/>
            <a:ext cx="2880360" cy="201168"/>
          </a:xfrm>
          <a:prstGeom prst="rect">
            <a:avLst/>
          </a:prstGeom>
          <a:solidFill>
            <a:srgbClr val="2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668780" y="3986784"/>
            <a:ext cx="1440180" cy="201168"/>
          </a:xfrm>
          <a:prstGeom prst="rect">
            <a:avLst/>
          </a:prstGeom>
          <a:solidFill>
            <a:srgbClr val="CC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28600" y="4005072"/>
            <a:ext cx="2880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50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989320" y="3986784"/>
            <a:ext cx="2880360" cy="201168"/>
          </a:xfrm>
          <a:prstGeom prst="rect">
            <a:avLst/>
          </a:prstGeom>
          <a:solidFill>
            <a:srgbClr val="2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989320" y="3986784"/>
            <a:ext cx="2073859" cy="201168"/>
          </a:xfrm>
          <a:prstGeom prst="rect">
            <a:avLst/>
          </a:prstGeom>
          <a:solidFill>
            <a:srgbClr val="33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989320" y="4005072"/>
            <a:ext cx="2880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72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82880" y="4343400"/>
            <a:ext cx="8778240" cy="448056"/>
          </a:xfrm>
          <a:prstGeom prst="rect">
            <a:avLst/>
          </a:prstGeom>
          <a:solidFill>
            <a:srgbClr val="14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337560" y="4407408"/>
            <a:ext cx="2468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BE0B"/>
                </a:solidFill>
                <a:latin typeface="Calibri"/>
              </a:rPr>
              <a:t>Geopolitical Risk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28600" y="4462272"/>
            <a:ext cx="2880360" cy="201168"/>
          </a:xfrm>
          <a:prstGeom prst="rect">
            <a:avLst/>
          </a:prstGeom>
          <a:solidFill>
            <a:srgbClr val="2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16635" y="4462272"/>
            <a:ext cx="2592324" cy="201168"/>
          </a:xfrm>
          <a:prstGeom prst="rect">
            <a:avLst/>
          </a:prstGeom>
          <a:solidFill>
            <a:srgbClr val="CC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28600" y="4480560"/>
            <a:ext cx="2880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90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989320" y="4462272"/>
            <a:ext cx="2880360" cy="201168"/>
          </a:xfrm>
          <a:prstGeom prst="rect">
            <a:avLst/>
          </a:prstGeom>
          <a:solidFill>
            <a:srgbClr val="2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989320" y="4462272"/>
            <a:ext cx="806500" cy="201168"/>
          </a:xfrm>
          <a:prstGeom prst="rect">
            <a:avLst/>
          </a:prstGeom>
          <a:solidFill>
            <a:srgbClr val="33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989320" y="4480560"/>
            <a:ext cx="2880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28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82880" y="4818888"/>
            <a:ext cx="8778240" cy="274320"/>
          </a:xfrm>
          <a:prstGeom prst="rect">
            <a:avLst/>
          </a:prstGeom>
          <a:solidFill>
            <a:srgbClr val="1A1A32"/>
          </a:solidFill>
          <a:ln w="63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20040" y="4855464"/>
            <a:ext cx="8503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DD"/>
                </a:solidFill>
                <a:latin typeface="Calibri"/>
              </a:rPr>
              <a:t>Key Insight: China dominates hardware manufacturing (9x deployment gap) while US controls AI platform layer. The 2026-2027 window is decisive — first mover to 100K units wins.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595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0D4FF"/>
                </a:solidFill>
                <a:latin typeface="Calibri"/>
              </a:rPr>
              <a:t>M - Mapping  Cost Curve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457200"/>
            <a:ext cx="8595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Calibri"/>
              </a:rPr>
              <a:t>Scale Economics &amp; Cost Curve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41832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99"/>
                </a:solidFill>
                <a:latin typeface="Calibri"/>
              </a:rPr>
              <a:t>100K Units: China 35 vs US 100  |  65% Cost Advantage  |  Convergence to $10K Target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61288"/>
            <a:ext cx="8595360" cy="13716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4864608"/>
            <a:ext cx="7772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  <a:latin typeface="Calibri"/>
              </a:rPr>
              <a:t>AMORA Insights  |  Humanoid Robot Index 2026  |  Data Cut-off: Q1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486460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888899"/>
                </a:solidFill>
                <a:latin typeface="Calibri"/>
              </a:rPr>
              <a:t>12 / 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325880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888899"/>
                </a:solidFill>
                <a:latin typeface="Calibri"/>
              </a:rPr>
              <a:t>Scale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1325880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6B6B"/>
                </a:solidFill>
                <a:latin typeface="Calibri"/>
              </a:rPr>
              <a:t>China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325880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DABF7"/>
                </a:solidFill>
                <a:latin typeface="Calibri"/>
              </a:rPr>
              <a:t>US (Base=100)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1325880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9775FA"/>
                </a:solidFill>
                <a:latin typeface="Calibri"/>
              </a:rPr>
              <a:t>Japan/EU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1325880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FF88"/>
                </a:solidFill>
                <a:latin typeface="Calibri"/>
              </a:rPr>
              <a:t>Advantage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1554480"/>
            <a:ext cx="8686800" cy="13716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28600" y="1600200"/>
            <a:ext cx="8686800" cy="594360"/>
          </a:xfrm>
          <a:prstGeom prst="rect">
            <a:avLst/>
          </a:prstGeom>
          <a:solidFill>
            <a:srgbClr val="14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1673352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Current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37360" y="1673352"/>
            <a:ext cx="1371600" cy="201168"/>
          </a:xfrm>
          <a:prstGeom prst="rect">
            <a:avLst/>
          </a:prstGeom>
          <a:solidFill>
            <a:srgbClr val="2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37360" y="1673352"/>
            <a:ext cx="891540" cy="201168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37360" y="167335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65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83280" y="1673352"/>
            <a:ext cx="1371600" cy="201168"/>
          </a:xfrm>
          <a:prstGeom prst="rect">
            <a:avLst/>
          </a:prstGeom>
          <a:solidFill>
            <a:srgbClr val="2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383280" y="1673352"/>
            <a:ext cx="1371600" cy="201168"/>
          </a:xfrm>
          <a:prstGeom prst="rect">
            <a:avLst/>
          </a:prstGeom>
          <a:solidFill>
            <a:srgbClr val="4DA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83280" y="167335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100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0" y="1673352"/>
            <a:ext cx="1371600" cy="201168"/>
          </a:xfrm>
          <a:prstGeom prst="rect">
            <a:avLst/>
          </a:prstGeom>
          <a:solidFill>
            <a:srgbClr val="2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0" y="1673352"/>
            <a:ext cx="1303019" cy="201168"/>
          </a:xfrm>
          <a:prstGeom prst="rect">
            <a:avLst/>
          </a:prstGeom>
          <a:solidFill>
            <a:srgbClr val="977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0" y="167335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95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1673352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BE0B"/>
                </a:solidFill>
                <a:latin typeface="Calibri"/>
              </a:rPr>
              <a:t>+35%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1920240"/>
            <a:ext cx="8686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8899"/>
                </a:solidFill>
                <a:latin typeface="Calibri"/>
              </a:rPr>
              <a:t>Current prototypes
Small batch production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8600" y="2221992"/>
            <a:ext cx="8686800" cy="594360"/>
          </a:xfrm>
          <a:prstGeom prst="rect">
            <a:avLst/>
          </a:prstGeom>
          <a:solidFill>
            <a:srgbClr val="101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4320" y="2295144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1K Units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37360" y="2295144"/>
            <a:ext cx="1371600" cy="201168"/>
          </a:xfrm>
          <a:prstGeom prst="rect">
            <a:avLst/>
          </a:prstGeom>
          <a:solidFill>
            <a:srgbClr val="2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737360" y="2295144"/>
            <a:ext cx="795527" cy="201168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737360" y="2295144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58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83280" y="2295144"/>
            <a:ext cx="1371600" cy="201168"/>
          </a:xfrm>
          <a:prstGeom prst="rect">
            <a:avLst/>
          </a:prstGeom>
          <a:solidFill>
            <a:srgbClr val="2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383280" y="2295144"/>
            <a:ext cx="1371600" cy="201168"/>
          </a:xfrm>
          <a:prstGeom prst="rect">
            <a:avLst/>
          </a:prstGeom>
          <a:solidFill>
            <a:srgbClr val="4DA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83280" y="2295144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100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0" y="2295144"/>
            <a:ext cx="1371600" cy="201168"/>
          </a:xfrm>
          <a:prstGeom prst="rect">
            <a:avLst/>
          </a:prstGeom>
          <a:solidFill>
            <a:srgbClr val="2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0" y="2295144"/>
            <a:ext cx="1261872" cy="201168"/>
          </a:xfrm>
          <a:prstGeom prst="rect">
            <a:avLst/>
          </a:prstGeom>
          <a:solidFill>
            <a:srgbClr val="977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0" y="2295144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92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75120" y="2295144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BE0B"/>
                </a:solidFill>
                <a:latin typeface="Calibri"/>
              </a:rPr>
              <a:t>+42%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" y="2542032"/>
            <a:ext cx="8686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8899"/>
                </a:solidFill>
                <a:latin typeface="Calibri"/>
              </a:rPr>
              <a:t>Early adopter
R&amp;D deployment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8600" y="2843784"/>
            <a:ext cx="8686800" cy="594360"/>
          </a:xfrm>
          <a:prstGeom prst="rect">
            <a:avLst/>
          </a:prstGeom>
          <a:solidFill>
            <a:srgbClr val="14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74320" y="2916936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10K Units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737360" y="2916936"/>
            <a:ext cx="1371600" cy="201168"/>
          </a:xfrm>
          <a:prstGeom prst="rect">
            <a:avLst/>
          </a:prstGeom>
          <a:solidFill>
            <a:srgbClr val="2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737360" y="2916936"/>
            <a:ext cx="617220" cy="201168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737360" y="2916936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45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383280" y="2916936"/>
            <a:ext cx="1371600" cy="201168"/>
          </a:xfrm>
          <a:prstGeom prst="rect">
            <a:avLst/>
          </a:prstGeom>
          <a:solidFill>
            <a:srgbClr val="2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383280" y="2916936"/>
            <a:ext cx="1371600" cy="201168"/>
          </a:xfrm>
          <a:prstGeom prst="rect">
            <a:avLst/>
          </a:prstGeom>
          <a:solidFill>
            <a:srgbClr val="4DA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383280" y="2916936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100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0" y="2916936"/>
            <a:ext cx="1371600" cy="201168"/>
          </a:xfrm>
          <a:prstGeom prst="rect">
            <a:avLst/>
          </a:prstGeom>
          <a:solidFill>
            <a:srgbClr val="2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0" y="2916936"/>
            <a:ext cx="1207008" cy="201168"/>
          </a:xfrm>
          <a:prstGeom prst="rect">
            <a:avLst/>
          </a:prstGeom>
          <a:solidFill>
            <a:srgbClr val="977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029200" y="2916936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88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75120" y="2916936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FF88"/>
                </a:solidFill>
                <a:latin typeface="Calibri"/>
              </a:rPr>
              <a:t>+55%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74320" y="3163824"/>
            <a:ext cx="8686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8899"/>
                </a:solidFill>
                <a:latin typeface="Calibri"/>
              </a:rPr>
              <a:t>Industrial pilot
Enterprise deployment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28600" y="3465576"/>
            <a:ext cx="8686800" cy="594360"/>
          </a:xfrm>
          <a:prstGeom prst="rect">
            <a:avLst/>
          </a:prstGeom>
          <a:solidFill>
            <a:srgbClr val="101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74320" y="3538728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100K Units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737360" y="3538728"/>
            <a:ext cx="1371600" cy="201168"/>
          </a:xfrm>
          <a:prstGeom prst="rect">
            <a:avLst/>
          </a:prstGeom>
          <a:solidFill>
            <a:srgbClr val="2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737360" y="3538728"/>
            <a:ext cx="480059" cy="201168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737360" y="3538728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35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383280" y="3538728"/>
            <a:ext cx="1371600" cy="201168"/>
          </a:xfrm>
          <a:prstGeom prst="rect">
            <a:avLst/>
          </a:prstGeom>
          <a:solidFill>
            <a:srgbClr val="2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383280" y="3538728"/>
            <a:ext cx="1371600" cy="201168"/>
          </a:xfrm>
          <a:prstGeom prst="rect">
            <a:avLst/>
          </a:prstGeom>
          <a:solidFill>
            <a:srgbClr val="4DA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383280" y="3538728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100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29200" y="3538728"/>
            <a:ext cx="1371600" cy="201168"/>
          </a:xfrm>
          <a:prstGeom prst="rect">
            <a:avLst/>
          </a:prstGeom>
          <a:solidFill>
            <a:srgbClr val="2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029200" y="3538728"/>
            <a:ext cx="1165860" cy="201168"/>
          </a:xfrm>
          <a:prstGeom prst="rect">
            <a:avLst/>
          </a:prstGeom>
          <a:solidFill>
            <a:srgbClr val="977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029200" y="3538728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85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675120" y="3538728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FF88"/>
                </a:solidFill>
                <a:latin typeface="Calibri"/>
              </a:rPr>
              <a:t>+65%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74320" y="3785615"/>
            <a:ext cx="8686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8899"/>
                </a:solidFill>
                <a:latin typeface="Calibri"/>
              </a:rPr>
              <a:t>Mass manufacturing
Consumer market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28600" y="4233672"/>
            <a:ext cx="2788920" cy="548640"/>
          </a:xfrm>
          <a:prstGeom prst="rect">
            <a:avLst/>
          </a:prstGeom>
          <a:solidFill>
            <a:srgbClr val="1A1A32"/>
          </a:solidFill>
          <a:ln w="762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20040" y="4261104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6B6B"/>
                </a:solidFill>
                <a:latin typeface="Calibri"/>
              </a:rPr>
              <a:t>55%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43000" y="4270248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Cost Advantage at 100K Scale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20040" y="4480560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88899"/>
                </a:solidFill>
                <a:latin typeface="Calibri"/>
              </a:rPr>
              <a:t>35 (China) vs 100 (US). Structural manufacturing moat from vertical integration + labor + volume.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154680" y="4233672"/>
            <a:ext cx="2788920" cy="548640"/>
          </a:xfrm>
          <a:prstGeom prst="rect">
            <a:avLst/>
          </a:prstGeom>
          <a:solidFill>
            <a:srgbClr val="1A1A32"/>
          </a:solidFill>
          <a:ln w="7620">
            <a:solidFill>
              <a:srgbClr val="FFB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246120" y="4261104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BE0B"/>
                </a:solidFill>
                <a:latin typeface="Calibri"/>
              </a:rPr>
              <a:t>2027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069080" y="4270248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Convergence Year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246120" y="4480560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88899"/>
                </a:solidFill>
                <a:latin typeface="Calibri"/>
              </a:rPr>
              <a:t>China closes AI gap via data scale. US reshoring begins. Supply chain competition peaks.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080760" y="4233672"/>
            <a:ext cx="2788920" cy="548640"/>
          </a:xfrm>
          <a:prstGeom prst="rect">
            <a:avLst/>
          </a:prstGeom>
          <a:solidFill>
            <a:srgbClr val="1A1A32"/>
          </a:solidFill>
          <a:ln w="762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172200" y="4261104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D4FF"/>
                </a:solidFill>
                <a:latin typeface="Calibri"/>
              </a:rPr>
              <a:t>$10K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995160" y="4270248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Target Robot BOM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172200" y="4480560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88899"/>
                </a:solidFill>
                <a:latin typeface="Calibri"/>
              </a:rPr>
              <a:t>China's path to $10K robot (from $25K today). Battery + actuators = 60% of BOM, heavily China-advantaged.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595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0D4FF"/>
                </a:solidFill>
                <a:latin typeface="Calibri"/>
              </a:rPr>
              <a:t>M - Mapping  Supply Chain 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457200"/>
            <a:ext cx="8595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Calibri"/>
              </a:rPr>
              <a:t>Convergence Timeline: 2023-2028+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41832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99"/>
                </a:solidFill>
                <a:latin typeface="Calibri"/>
              </a:rPr>
              <a:t>Technology Validation  Pilot Deployment  Critical Inflection  Winner Takes Most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61288"/>
            <a:ext cx="8595360" cy="13716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4864608"/>
            <a:ext cx="7772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  <a:latin typeface="Calibri"/>
              </a:rPr>
              <a:t>AMORA Insights  |  Humanoid Robot Index 2026  |  Data Cut-off: Q1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486460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888899"/>
                </a:solidFill>
                <a:latin typeface="Calibri"/>
              </a:rPr>
              <a:t>13 / 27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298448"/>
            <a:ext cx="16459" cy="3401568"/>
          </a:xfrm>
          <a:prstGeom prst="rect">
            <a:avLst/>
          </a:prstGeom>
          <a:solidFill>
            <a:srgbClr val="303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02920" y="1353312"/>
            <a:ext cx="201168" cy="201168"/>
          </a:xfrm>
          <a:prstGeom prst="ellipse">
            <a:avLst/>
          </a:prstGeom>
          <a:solidFill>
            <a:srgbClr val="00FF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298448"/>
            <a:ext cx="1234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FF88"/>
                </a:solidFill>
                <a:latin typeface="Calibri"/>
              </a:rPr>
              <a:t>2023-2024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1298448"/>
            <a:ext cx="7132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Technology Validation Phase  技术验证期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1527048"/>
            <a:ext cx="7132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CDD"/>
                </a:solidFill>
                <a:latin typeface="Calibri"/>
              </a:rPr>
              <a:t>  •  Both sides demonstrate working prototypes; supply chains remain largely separate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1682495"/>
            <a:ext cx="7132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CDD"/>
                </a:solidFill>
                <a:latin typeface="Calibri"/>
              </a:rPr>
              <a:t>  •  China: Unitree G1 launched; UBTECH Walker S enters production; 3-5 home OEMs funded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7400" y="1837943"/>
            <a:ext cx="7132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CDD"/>
                </a:solidFill>
                <a:latin typeface="Calibri"/>
              </a:rPr>
              <a:t>  •  US: Boston Dynamics Atlas goes electric; Figure raises $75M; Agility IPOs on NASDAQ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1993391"/>
            <a:ext cx="7132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CDD"/>
                </a:solidFill>
                <a:latin typeface="Calibri"/>
              </a:rPr>
              <a:t>  •  NVIDIA Jetson Orin becomes de-facto compute standard for US robotics ecosystem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2121408"/>
            <a:ext cx="8412480" cy="7315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02920" y="2240279"/>
            <a:ext cx="201168" cy="201168"/>
          </a:xfrm>
          <a:prstGeom prst="ellipse">
            <a:avLst/>
          </a:prstGeom>
          <a:solidFill>
            <a:srgbClr val="FFBE0B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2185415"/>
            <a:ext cx="1234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BE0B"/>
                </a:solidFill>
                <a:latin typeface="Calibri"/>
              </a:rPr>
              <a:t>2025 (Now)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2185415"/>
            <a:ext cx="7132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Pilot Deployment Phase  试点部署期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2414015"/>
            <a:ext cx="7132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CDD"/>
                </a:solidFill>
                <a:latin typeface="Calibri"/>
              </a:rPr>
              <a:t>  •  Unitree ships 5,500+ units globally — ALL US OEMs combined still under 100 units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2569463"/>
            <a:ext cx="7132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CDD"/>
                </a:solidFill>
                <a:latin typeface="Calibri"/>
              </a:rPr>
              <a:t>  •  China's manufacturing cost advantage becomes mathematically undeniable at scale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2724911"/>
            <a:ext cx="7132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CDD"/>
                </a:solidFill>
                <a:latin typeface="Calibri"/>
              </a:rPr>
              <a:t>  •  US enterprise pilots: BMW (Figure 1 robot), Amazon (Agility Digit), DHL logistics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2880359"/>
            <a:ext cx="7132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CDD"/>
                </a:solidFill>
                <a:latin typeface="Calibri"/>
              </a:rPr>
              <a:t>  •  Unitree IPO prospectus reveals truth: 73.6% customers = research/education, not industry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3008375"/>
            <a:ext cx="8412480" cy="7315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02920" y="3127248"/>
            <a:ext cx="201168" cy="201168"/>
          </a:xfrm>
          <a:prstGeom prst="ellipse">
            <a:avLst/>
          </a:prstGeom>
          <a:solidFill>
            <a:srgbClr val="FF0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3072384"/>
            <a:ext cx="1234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006E"/>
                </a:solidFill>
                <a:latin typeface="Calibri"/>
              </a:rPr>
              <a:t>2026-2027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3072384"/>
            <a:ext cx="7132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Critical Inflection  关键拐点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57400" y="3300984"/>
            <a:ext cx="7132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CDD"/>
                </a:solidFill>
                <a:latin typeface="Calibri"/>
              </a:rPr>
              <a:t>  •  China's AI platform gap narrows — domestic LLMs trained on 100M+ hours robot data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57400" y="3456432"/>
            <a:ext cx="7132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CDD"/>
                </a:solidFill>
                <a:latin typeface="Calibri"/>
              </a:rPr>
              <a:t>  •  Unitree targets 75,000 units/year capacity; AgiBot targets 10,000+ units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57400" y="3611879"/>
            <a:ext cx="7132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CDD"/>
                </a:solidFill>
                <a:latin typeface="Calibri"/>
              </a:rPr>
              <a:t>  •  US OEMs face manufacturing ceiling: Figure, Agility struggle to exceed 500 units/yr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7400" y="3767328"/>
            <a:ext cx="7132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CDD"/>
                </a:solidFill>
                <a:latin typeface="Calibri"/>
              </a:rPr>
              <a:t>  •  Geopolitical escalation: export controls vs domestic Chinese component substitution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3895344"/>
            <a:ext cx="8412480" cy="7315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02920" y="4014215"/>
            <a:ext cx="201168" cy="201168"/>
          </a:xfrm>
          <a:prstGeom prst="ellipse">
            <a:avLst/>
          </a:prstGeom>
          <a:solidFill>
            <a:srgbClr val="7B2C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3959352"/>
            <a:ext cx="1234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B2CBF"/>
                </a:solidFill>
                <a:latin typeface="Calibri"/>
              </a:rPr>
              <a:t>2028+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57400" y="3959352"/>
            <a:ext cx="7132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Winner Takes Most  赢者通吃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57400" y="4187952"/>
            <a:ext cx="7132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CDD"/>
                </a:solidFill>
                <a:latin typeface="Calibri"/>
              </a:rPr>
              <a:t>  •  First company to 100K units creates insurmountable cost moat (35 vs 100 baseline)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57400" y="4343400"/>
            <a:ext cx="7132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CDD"/>
                </a:solidFill>
                <a:latin typeface="Calibri"/>
              </a:rPr>
              <a:t>  •  Supply chain regionalization solidifies; separate China / US-aligned ecosystems emerge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57400" y="4498848"/>
            <a:ext cx="7132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CDD"/>
                </a:solidFill>
                <a:latin typeface="Calibri"/>
              </a:rPr>
              <a:t>  •  Platform layer remains US-dominated (NVIDIA CUDA + simulation + AI training infra)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057400" y="4654296"/>
            <a:ext cx="7132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CDD"/>
                </a:solidFill>
                <a:latin typeface="Calibri"/>
              </a:rPr>
              <a:t>  •  Robot BOM reaches $10K-15K range; mass commercial and consumer adoption begins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82880" y="4754880"/>
            <a:ext cx="8778240" cy="274320"/>
          </a:xfrm>
          <a:prstGeom prst="rect">
            <a:avLst/>
          </a:prstGeom>
          <a:solidFill>
            <a:srgbClr val="1A1A32"/>
          </a:solidFill>
          <a:ln w="63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0040" y="4791456"/>
            <a:ext cx="85039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DD"/>
                </a:solidFill>
                <a:latin typeface="Calibri"/>
              </a:rPr>
              <a:t>Strategic Insight:  The 2026-2027 window is decisive. China leads hardware deployment 9:1; US controls AI intelligence layer. First mover to 100K units builds insurmountable supply chain moat.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Humanoid Robot Index 2026</dc:title>
  <dc:subject>Global humanoid robot industry benchmarking - Expanded 22 Slides</dc:subject>
  <dc:creator>AMORA Insights</dc:creator>
  <cp:lastModifiedBy>AMORA Insights</cp:lastModifiedBy>
  <cp:revision>1</cp:revision>
  <dcterms:created xsi:type="dcterms:W3CDTF">2026-04-04T08:53:51Z</dcterms:created>
  <dcterms:modified xsi:type="dcterms:W3CDTF">2026-04-04T08:53:51Z</dcterms:modified>
</cp:coreProperties>
</file>