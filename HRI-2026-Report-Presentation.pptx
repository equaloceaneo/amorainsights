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全球人形机器人年出货量（万台）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保守情景</c:v>
                </c:pt>
              </c:strCache>
            </c:strRef>
          </c:tx>
          <c:spPr>
            <a:solidFill>
              <a:srgbClr val="2D4A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1.7</c:v>
                </c:pt>
                <c:pt idx="1">
                  <c:v>3.5</c:v>
                </c:pt>
                <c:pt idx="2">
                  <c:v>8</c:v>
                </c:pt>
                <c:pt idx="3">
                  <c:v>18</c:v>
                </c:pt>
                <c:pt idx="4">
                  <c:v>40</c:v>
                </c:pt>
                <c:pt idx="5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基准情景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1.7</c:v>
                </c:pt>
                <c:pt idx="1">
                  <c:v>5</c:v>
                </c:pt>
                <c:pt idx="2">
                  <c:v>14</c:v>
                </c:pt>
                <c:pt idx="3">
                  <c:v>38</c:v>
                </c:pt>
                <c:pt idx="4">
                  <c:v>100</c:v>
                </c:pt>
                <c:pt idx="5">
                  <c:v>250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激进情景</c:v>
                </c:pt>
              </c:strCache>
            </c:strRef>
          </c:tx>
          <c:spPr>
            <a:solidFill>
              <a:srgbClr val="90E0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1.7</c:v>
                </c:pt>
                <c:pt idx="1">
                  <c:v>7</c:v>
                </c:pt>
                <c:pt idx="2">
                  <c:v>22</c:v>
                </c:pt>
                <c:pt idx="3">
                  <c:v>70</c:v>
                </c:pt>
                <c:pt idx="4">
                  <c:v>200</c:v>
                </c:pt>
                <c:pt idx="5">
                  <c:v>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9B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4A6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9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E42"/>
        </a:solidFill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A2E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315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868680"/>
            <a:ext cx="9034272" cy="7315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1737360"/>
            <a:ext cx="9034272" cy="7315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2606040"/>
            <a:ext cx="9034272" cy="7315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" y="3474720"/>
            <a:ext cx="9034272" cy="7315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" y="4343400"/>
            <a:ext cx="9034272" cy="7315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594360"/>
            <a:ext cx="256032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594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INTELLIGENCE REPORT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1430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Humanoid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502920" y="19659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Robot Index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502920" y="2788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502920" y="35844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Actually Winning?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" y="395020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Cross-Border Benchmarking of 25 Global Players Across the Full Value Chain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800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Data Cut-off: Q1 2026  |  AMORA Report Framework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Report Framework - 5 Dimensions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13816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07008"/>
            <a:ext cx="402336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1795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70432" y="148132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技术先进性 -- 世界模型 · 端到端控制 · 灵巧手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0" y="1280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792224"/>
            <a:ext cx="813816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792224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883664"/>
            <a:ext cx="402336" cy="402336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0432" y="18562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Mapping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70432" y="215798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产业链生态位 -- 供应链全景 · 卡脖子清单 · 中美对比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1956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468880"/>
            <a:ext cx="813816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468880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560320"/>
            <a:ext cx="402336" cy="40233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25328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70432" y="283464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商业化运营 -- 四大场景 · 客户结构 · ROI分析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26334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3145536"/>
            <a:ext cx="813816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3145536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3236976"/>
            <a:ext cx="402336" cy="40233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70432" y="32095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Reach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70432" y="3511296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市场容量 -- 三情景预测 · 细分市场 · 全球化策略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33101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822192"/>
            <a:ext cx="813816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" y="3822192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3913632"/>
            <a:ext cx="402336" cy="40233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70432" y="3886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Assets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170432" y="418795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资本价值 -- 财务对比 · 估值矩阵 · 投资建议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46720" y="39867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Key Findings  |  Industry Rating 7.2/10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138160" cy="548640"/>
          </a:xfrm>
          <a:prstGeom prst="rect">
            <a:avLst/>
          </a:prstGeom>
          <a:solidFill>
            <a:srgbClr val="0077A8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43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3 of 25 tracked companies have deployed 50+ units in real-world settings. The rest are still selling demos."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01368"/>
            <a:ext cx="8138160" cy="86868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01368"/>
            <a:ext cx="54864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29968"/>
            <a:ext cx="402336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189280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中国赢在制造密度，美国赢在算法深度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225856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叙事已不完整：中国正快速补齐算法短板，美国制造护城河被供应链空心化侵蚀。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779776"/>
            <a:ext cx="8138160" cy="86868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779776"/>
            <a:ext cx="54864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08376"/>
            <a:ext cx="402336" cy="40233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287121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真正拉开差距的不是硬件参数，是数据闭环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236976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谁能更快积累真实场景运行数据，谁就掌握了训练下一代模型的主动权。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758184"/>
            <a:ext cx="8138160" cy="86868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758184"/>
            <a:ext cx="54864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986784"/>
            <a:ext cx="402336" cy="40233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384962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关键变量：商业化复制成本，而非技术迭代速度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70432" y="421538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能否从1台原型机做到100台部署，是目前所有玩家面临的共同瓶颈。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-- Advancement  技术先进性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世界模型 · 端到端控制 · 灵巧手 · 中美技术差距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578608" cy="363931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257860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2070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世界模型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" y="1828800"/>
            <a:ext cx="2359152" cy="22860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901952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Transformer 3D 场景表征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Tesla Dojo / NVIDIA Isaac Sim 领先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宇树 Unitree-PI 系列快速追赶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关键差距：Sim2Real 转换效率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00984" y="1115568"/>
            <a:ext cx="2578608" cy="363931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00984" y="1115568"/>
            <a:ext cx="2578608" cy="6400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2070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端到端控制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Control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10712" y="1828800"/>
            <a:ext cx="2359152" cy="22860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901952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VLA（Vision-Language-Action）成主流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Figure-OpenAI / Agility-Amazon 战略绑定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Agibot 智元 强化学习取得突破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真实部署仍受限于 Sim2Real Gap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99048" y="1115568"/>
            <a:ext cx="2578608" cy="363931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99048" y="1115568"/>
            <a:ext cx="2578608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2070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灵巧手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Dexterous Hand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08776" y="1828800"/>
            <a:ext cx="2359152" cy="22860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901952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20-23 DOF 成行业主流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宇树灵巧手售价 $2K，性价比领先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Tesla Optimus 手部自研最深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触觉反馈仍是全行业短板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828032"/>
            <a:ext cx="8138160" cy="20116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8463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核心判断：Tesla Optimus Advancement 9.2/10，但其中50%来自Dojo算力，而非机器人本体技术 -- 需区分看待。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 -- Mapping  产业链生态位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中美供应链全景 · 卡脖子清单 · 关键依赖分析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产业链层级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0" y="1097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主要玩家/产品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852160" y="1097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中国能力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0" y="1097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美国能力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8138160" cy="22860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44752"/>
            <a:ext cx="8138160" cy="52120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517904"/>
            <a:ext cx="457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563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1563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/ RL / Foundation Model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536192"/>
            <a:ext cx="914400" cy="2743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1536192"/>
            <a:ext cx="91440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066544"/>
            <a:ext cx="457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112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算力层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0" y="21122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Jetson Thor / Orin 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89320" y="2084832"/>
            <a:ext cx="914400" cy="2743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06640" y="2084832"/>
            <a:ext cx="91440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2542032"/>
            <a:ext cx="8138160" cy="52120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615184"/>
            <a:ext cx="457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2660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整机OEM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60320" y="26609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/ Tesla / Figure AI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9320" y="2633472"/>
            <a:ext cx="91440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2633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极强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06640" y="2633472"/>
            <a:ext cx="91440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0" y="2633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3163824"/>
            <a:ext cx="457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3209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执行器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560320" y="320954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谐波减速器 / 电机 / 滚柱丝杠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89320" y="3182112"/>
            <a:ext cx="91440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9320" y="3182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06640" y="3182112"/>
            <a:ext cx="914400" cy="2743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06640" y="3182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3639312"/>
            <a:ext cx="8138160" cy="52120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3712464"/>
            <a:ext cx="457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" y="37581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传感器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560320" y="3758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力觉/触觉/视觉/IMU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89320" y="3730752"/>
            <a:ext cx="91440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89320" y="3730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06640" y="3730752"/>
            <a:ext cx="91440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06640" y="3730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2920" y="4261104"/>
            <a:ext cx="457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" y="4306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下游场景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560320" y="43068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工厂 / 物流 / 医疗 / 家庭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989320" y="4279392"/>
            <a:ext cx="91440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89320" y="4279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406640" y="4279392"/>
            <a:ext cx="91440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06640" y="4279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292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卡脖子清单：算力芯片（NVIDIA垄断）· 高精度减速器（日本纳博克）· 高性能电机控制IC · VLA大模型基础训练框架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-- Operations  商业化运营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四大应用场景 · 客户结构 · ROI分析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931920" cy="18288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393192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2252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工厂制造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100584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最成熟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" y="1636776"/>
            <a:ext cx="1371600" cy="256032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636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18-22%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" y="1993392"/>
            <a:ext cx="3712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比亚迪/东风工厂 · 优必选Walker S部署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年替代3名工人，回收期4-5年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挑战：柔性切换成本高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115568"/>
            <a:ext cx="3931920" cy="18288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115568"/>
            <a:ext cx="3931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2252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物流仓储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98080" y="1234440"/>
            <a:ext cx="100584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快速增长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18888" y="1636776"/>
            <a:ext cx="1371600" cy="256032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1636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14-18%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8888" y="1993392"/>
            <a:ext cx="3712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Amazon-Agility Robotics Digit合作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顺丰/菜鸟仓储试点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重复性任务适配度高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081528"/>
            <a:ext cx="3931920" cy="18288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081528"/>
            <a:ext cx="393192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3191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医疗康复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91840" y="3200400"/>
            <a:ext cx="100584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200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高潜力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" y="3602736"/>
            <a:ext cx="1371600" cy="256032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3602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8-12%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" y="3959352"/>
            <a:ext cx="3712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GR-1 康复场景领先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高值耗材+软件订阅商业模式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监管壁垒是主要障碍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081528"/>
            <a:ext cx="3931920" cy="18288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081528"/>
            <a:ext cx="3931920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191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家庭服务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498080" y="3200400"/>
            <a:ext cx="1005840" cy="2743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3200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2030+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18888" y="3602736"/>
            <a:ext cx="1371600" cy="256032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3602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不确定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18888" y="3959352"/>
            <a:ext cx="3712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成本目标$10K-15K（当前3-5倍）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NEO Beta 技术路线最近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消费者信任是关键变量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 -- Reach  市场容量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三情景预测 2025-2030 · 全球出货量 · 市场规模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097280"/>
          <a:ext cx="53949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097280"/>
            <a:ext cx="2926080" cy="795528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1097280"/>
            <a:ext cx="54864" cy="795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1247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1.7万台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080760" y="1527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2025年预测出货量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80760" y="17099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全球，宇树约占32%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43600" y="2002536"/>
            <a:ext cx="2926080" cy="795528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0" y="2002536"/>
            <a:ext cx="54864" cy="795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20299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$3.6B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080760" y="24323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2025年全球市场规模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80760" y="2615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MarketsandMarkets估算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43600" y="2907792"/>
            <a:ext cx="2926080" cy="795528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943600" y="2907792"/>
            <a:ext cx="54864" cy="795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293522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250万台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080760" y="3337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2030年基准情景出货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80760" y="35204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工业场景主导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943600" y="3813048"/>
            <a:ext cx="2926080" cy="795528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43600" y="3813048"/>
            <a:ext cx="54864" cy="795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38404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3.5万亿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6080760" y="42428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中国2030市场估算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080760" y="44256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含软件/服务/配套生态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11480" y="48280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三情景触发条件：保守=2027前无规模化工业客户；基准=Tesla/宇树2.0均进入量产；激进=具身大模型出现，成本跌破$10K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A2 -- Assets  资本价值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主要玩家财务对比 · 资本效率 · 估值矩阵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138160" cy="640080"/>
          </a:xfrm>
          <a:prstGeom prst="rect">
            <a:avLst/>
          </a:prstGeom>
          <a:solidFill>
            <a:srgbClr val="0077A8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430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宇树 vs Figure AI：资本效率相差 125倍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Figure：融资$6.75亿 · 出货&lt;200台 = $338万/台    VS    宇树：融资~$1.5亿 · 出货5,500台 = $2.7万/台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8138160" cy="2377440"/>
        </p:xfrm>
        <a:graphic>
          <a:graphicData uri="http://schemas.openxmlformats.org/drawingml/2006/table">
            <a:tbl>
              <a:tblPr/>
              <a:tblGrid>
                <a:gridCol w="1417320"/>
                <a:gridCol w="1463040"/>
                <a:gridCol w="1325880"/>
                <a:gridCol w="1097280"/>
                <a:gridCol w="1417320"/>
                <a:gridCol w="141732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公司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估值/融资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2025营收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毛利率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资本效率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数据置信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宇树科技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260亿(IPO)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17.08亿元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$2.7万/台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招股书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优必选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$2.0亿(港)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9亿元(估)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35%(估)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年报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Figure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&lt;$1000万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$338万/台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媒体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UBTECH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$1.5亿(港)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7亿元(估)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30%(估)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年报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Boston Dyn.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并入现代汽车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$1亿+(估)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母公司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4343400"/>
            <a:ext cx="260604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" y="4343400"/>
            <a:ext cx="260604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" y="44074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中国商业化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2648" y="46451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宇树·智元·乐聚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当期盈利+规模效应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4343400"/>
            <a:ext cx="260604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4343400"/>
            <a:ext cx="26060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55848" y="44074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美国算法期权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355848" y="46451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Figure·1X·Apptronik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押注具身AI算法护城河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89320" y="4343400"/>
            <a:ext cx="260604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89320" y="4343400"/>
            <a:ext cx="260604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99048" y="44074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供应链零部件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99048" y="46451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执行器·传感器·EMS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确定性最高的价值洼地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AMORA Score  企业评分卡汇总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第一梯队12家企业 · 五维评分 · 2026Q1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15568"/>
          <a:ext cx="8321040" cy="3858768"/>
        </p:xfrm>
        <a:graphic>
          <a:graphicData uri="http://schemas.openxmlformats.org/drawingml/2006/table">
            <a:tbl>
              <a:tblPr/>
              <a:tblGrid>
                <a:gridCol w="1828800"/>
                <a:gridCol w="640080"/>
                <a:gridCol w="640080"/>
                <a:gridCol w="640080"/>
                <a:gridCol w="640080"/>
                <a:gridCol w="640080"/>
                <a:gridCol w="777240"/>
                <a:gridCol w="2514600"/>
              </a:tblGrid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公司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综合评分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[CN] 宇树科技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D6A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8.9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█████░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[US] Tesla Optimus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D6A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8.5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█████░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[US] Boston Dynamics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8.3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█████░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[US] Figure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7.8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█████░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[CN] 优必选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7.7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█████░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[US] Agility Robotics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7.6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█████░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[CN] Agibot 智元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D16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7.1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████░░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[NO] 1X Technologies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D16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7.0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████░░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[CN] Fourier GR-1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DA9B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6.9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████░░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[US] Apptronik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DA9B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6.8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████░░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[CN] UBTECH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DA9B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6.8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████░░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[CN] 乐聚机器人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DA9B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6.5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8DA9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████░░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5029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A=Advancement(技术壁垒) · M=Mastery(人才) · O=Operations(商业落地) · R=Reach(全球化) · Af=Affinity(可持续)  |  数据截止Q1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Investment Conclusions  投资建议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估值逻辑 · 三类机会 · 2026-2027 关键催化剂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2743200" cy="292608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15568"/>
            <a:ext cx="27432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07008"/>
            <a:ext cx="201168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07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CONVICTION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508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中国主机厂（商业化逻辑）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901952"/>
            <a:ext cx="2514600" cy="22860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9659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宇树IPO定价是全行业估值锚，PS 15x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智元/乐聚：下一轮融资估值参照宇树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盈利公司稀缺性溢价，科创板机器人板块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风险：科研教育客户占73.6%，工业替代仍早期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115568"/>
            <a:ext cx="2743200" cy="292608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115568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47288" y="1207008"/>
            <a:ext cx="201168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7288" y="1207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PLAY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47288" y="1508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美国算法公司（期权逻辑）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47288" y="1901952"/>
            <a:ext cx="2514600" cy="22860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19659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Figure AI $39亿估值 = 具身AI算法期权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OpenAI/NVIDIA战略背书构成稀缺性溢价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具身大模型出现时，估值逻辑被验证/颠覆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风险：无盈利路径，依赖融资续命到2028+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115568"/>
            <a:ext cx="2743200" cy="292608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115568"/>
            <a:ext cx="27432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27648" y="1207008"/>
            <a:ext cx="2011680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1207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CERTAINTY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27648" y="1508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供应链零部件（确定性逻辑）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27648" y="1901952"/>
            <a:ext cx="2514600" cy="22860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196596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执行器：谐波减速器/高性能电机（日本领先）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传感器：6轴力觉/触觉传感（全球稀缺）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EMS代工：富士康/立讯精密已切入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风险较低，但增长天花板受限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8321040" cy="7772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160520"/>
            <a:ext cx="8321040" cy="640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2336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2026-2027 关键催化剂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4507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宇树IPO完成</a:t>
            </a:r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Optimus量产</a:t>
            </a:r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具身大模型发布</a:t>
            </a:r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成本跌破$10K</a:t>
            </a:r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中国工业客户规模采购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This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Humanoid Robot Index 2026 by AMORA Insights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报告框架：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7400" y="19202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Report: Advancement / Mapping / Operations / Reach / Assets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覆盖公司：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24688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25家：第一梯队12家（深度评分）+ 第二梯队8家 + 平台层5家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01752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数据截止：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3017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(2026年3月31日)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数据分级：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35661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= 经审计财报/招股书 · L2 = 官方公告/年报 · L3 = 媒体估算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11480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重要声明：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57400" y="4114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本报告所有投资建议仅供参考，不构成投资意见。过往表现不代表未来结果。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800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humanoidrobotindex.com  |  Q1 2026  |  All Rights Reserved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Humanoid Robot Index 2026</dc:title>
  <dc:subject>Global humanoid robot industry benchmarking</dc:subject>
  <dc:creator>AMORA Insights</dc:creator>
  <cp:lastModifiedBy>AMORA Insights</cp:lastModifiedBy>
  <cp:revision>1</cp:revision>
  <dcterms:created xsi:type="dcterms:W3CDTF">2026-04-04T07:45:27Z</dcterms:created>
  <dcterms:modified xsi:type="dcterms:W3CDTF">2026-04-04T07:45:27Z</dcterms:modified>
</cp:coreProperties>
</file>