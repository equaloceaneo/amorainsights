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315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868680"/>
            <a:ext cx="9034272" cy="7315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1737360"/>
            <a:ext cx="9034272" cy="7315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2606040"/>
            <a:ext cx="9034272" cy="7315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" y="3474720"/>
            <a:ext cx="9034272" cy="7315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" y="4343400"/>
            <a:ext cx="9034272" cy="7315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731520"/>
            <a:ext cx="109728" cy="109728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1188720"/>
            <a:ext cx="73152" cy="73152"/>
          </a:xfrm>
          <a:prstGeom prst="ellipse">
            <a:avLst/>
          </a:prstGeom>
          <a:solidFill>
            <a:srgbClr val="90E0EF">
              <a:alpha val="2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1645920"/>
            <a:ext cx="137160" cy="137160"/>
          </a:xfrm>
          <a:prstGeom prst="ellipse">
            <a:avLst/>
          </a:prstGeom>
          <a:solidFill>
            <a:srgbClr val="FFD166">
              <a:alpha val="1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1920240"/>
            <a:ext cx="54864" cy="54864"/>
          </a:xfrm>
          <a:prstGeom prst="ellipse">
            <a:avLst/>
          </a:prstGeom>
          <a:solidFill>
            <a:srgbClr val="C77DFF">
              <a:alpha val="25000"/>
            </a:srgbClr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2286000"/>
            <a:ext cx="91440" cy="91440"/>
          </a:xfrm>
          <a:prstGeom prst="ellipse">
            <a:avLst/>
          </a:prstGeom>
          <a:solidFill>
            <a:srgbClr val="06D6A0">
              <a:alpha val="2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457200"/>
            <a:ext cx="64008" cy="64008"/>
          </a:xfrm>
          <a:prstGeom prst="ellipse">
            <a:avLst/>
          </a:prstGeom>
          <a:solidFill>
            <a:srgbClr val="FF9F1C">
              <a:alpha val="3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594360"/>
            <a:ext cx="2560320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594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INTELLIGENCE REPORT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11430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Humanoid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502920" y="19659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Robot Index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502920" y="27889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502920" y="35844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Actually Winning?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2920" y="395020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Cross-Border Benchmarking of 25 Global Players Across the Full Value Chain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Report Framework — 5 Dimensions | 22 Slides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8138160" cy="62179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07008"/>
            <a:ext cx="402336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11795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70432" y="148132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技术先进性 — 世界模型 · 端到端控制 · 灵巧手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792224"/>
            <a:ext cx="8138160" cy="62179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792224"/>
            <a:ext cx="54864" cy="62179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883664"/>
            <a:ext cx="402336" cy="402336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18562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Mapping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70432" y="215798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产业链生态位 — 供应链全景 · 卡脖子清单 · 中美对比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468880"/>
            <a:ext cx="8138160" cy="62179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468880"/>
            <a:ext cx="54864" cy="6217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560320"/>
            <a:ext cx="402336" cy="40233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70432" y="25328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70432" y="283464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商业化运营 — 四大场景 · 客户结构 · ROI分析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145536"/>
            <a:ext cx="8138160" cy="62179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145536"/>
            <a:ext cx="54864" cy="6217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236976"/>
            <a:ext cx="402336" cy="40233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70432" y="32095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Reach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70432" y="3511296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市场容量 — 三情景预测 · 细分市场 · 全球化策略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822192"/>
            <a:ext cx="8138160" cy="62179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3822192"/>
            <a:ext cx="54864" cy="62179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3913632"/>
            <a:ext cx="402336" cy="40233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70432" y="3886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Assets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70432" y="418795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资本价值 — 财务对比 · 估值矩阵 · 投资建议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Key Findings  |  Industry Rating 7.2/10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8138160" cy="530352"/>
          </a:xfrm>
          <a:prstGeom prst="rect">
            <a:avLst/>
          </a:prstGeom>
          <a:solidFill>
            <a:srgbClr val="0077A8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43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"Only 3 of 25 tracked companies have deployed 50+ units in real-world settings. The rest are still selling demos."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8138160" cy="85039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783080"/>
            <a:ext cx="54864" cy="8503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02536"/>
            <a:ext cx="402336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187452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中国赢在制造密度，美国赢在算法深度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22402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叙事已不完整：中国正快速补齐算法短板，美国制造护城河被供应链空心化侵蚀。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743200"/>
            <a:ext cx="8138160" cy="85039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743200"/>
            <a:ext cx="54864" cy="8503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962656"/>
            <a:ext cx="402336" cy="40233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283464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真正拉开差距的不是硬件参数，是数据闭环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3200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谁能更快积累真实场景运行数据，谁就掌握了训练下一代模型的主动权。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8138160" cy="85039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703320"/>
            <a:ext cx="54864" cy="8503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922776"/>
            <a:ext cx="402336" cy="40233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22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379476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关键变量：商业化复制成本，而非技术迭代速度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70432" y="41605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能否从1台原型机做到100台部署，是目前所有玩家面临的共同瓶颈。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617720"/>
            <a:ext cx="1920240" cy="438912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46177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461772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追踪企业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06040" y="4617720"/>
            <a:ext cx="1920240" cy="438912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606040" y="46177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657600" y="461772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行业评分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4617720"/>
            <a:ext cx="1920240" cy="438912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46177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60720" y="461772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应用场景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12280" y="4617720"/>
            <a:ext cx="1920240" cy="438912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12280" y="46177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863840" y="461772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规模节点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— Advancement  世界模型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3D 场景表征 · Sim2Real Gap · 中美算力竞赛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840480" cy="3584448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38404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252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什么是世界模型？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356616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6420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世界模型（World Model）是机器人感知、推理与物理交互的基础层。它让机器人理解三维空间、物理规律和因果关系，从而在未见过的场景中做出合理决策。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3D 场景重建：NeRF / Gaussian Splatting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物理仿真：NVIDIA Isaac Sim / Mujoco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数据引擎：Tesla Dojo / Figure AI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Sim2Real Gap：仿真与真实的泛化差距仍是最大挑战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115568"/>
            <a:ext cx="4114800" cy="530352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188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🇺🇸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188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Dojo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261872"/>
            <a:ext cx="54864" cy="256032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1188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算力最强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26280" y="1691640"/>
            <a:ext cx="4114800" cy="530352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7647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🇺🇸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17647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Isaac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183794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7647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仿真平台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26280" y="2267712"/>
            <a:ext cx="4114800" cy="530352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23408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🇺🇸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23408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2414016"/>
            <a:ext cx="54864" cy="2560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23408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数据闭环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26280" y="2843784"/>
            <a:ext cx="4114800" cy="530352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17720" y="29169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🇨🇳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29169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Unitree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66560" y="2990088"/>
            <a:ext cx="54864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29169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快速追赶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26280" y="3419856"/>
            <a:ext cx="4114800" cy="530352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17720" y="3493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🇨🇳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20640" y="34930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智元 Agibot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66560" y="3566160"/>
            <a:ext cx="54864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34930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强化学习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26280" y="3995928"/>
            <a:ext cx="4114800" cy="530352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17720" y="40690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🇨🇳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20640" y="40690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傅利叶 Fourier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66560" y="4142232"/>
            <a:ext cx="54864" cy="256032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40690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医疗场景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— Advancement  端到端控制 &amp; 灵巧手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架构 · 触觉反馈 · 23 DOF 临界点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840480" cy="3584448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3840480" cy="6400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252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端到端控制 VLA 架构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356616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6420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= Vision-Language-Action Model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视觉-语言-动作一体化，端到端输出关节控制信号，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无需人工设计控制层级。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代表进展：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Figure x OpenAI：Figure 01 展示多轮对话操控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Agility Robotics：Digit 仓库场景稳定部署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智元智元：强化学习控制精度提升 40%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Boston Dynamics：Atlas 电动版全面转向 AI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核心瓶颈：Sim2Real Gap 导致仿真中表现优异的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模型在真实场景泛化性能下降 30-50%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115568"/>
            <a:ext cx="4023360" cy="3584448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115568"/>
            <a:ext cx="402336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252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灵巧手 20-23 DOF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600200"/>
            <a:ext cx="374904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664208"/>
            <a:ext cx="3657600" cy="6400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664208"/>
            <a:ext cx="54864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17190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Unitree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1719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 DOF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01184" y="1993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 | 成本最优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377440"/>
            <a:ext cx="3657600" cy="6400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377440"/>
            <a:ext cx="54864" cy="64008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2432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Optimus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2432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 DOF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01184" y="27066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 | 触觉传感最深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090672"/>
            <a:ext cx="3657600" cy="6400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090672"/>
            <a:ext cx="54864" cy="6400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31455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智元智元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3145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 DOF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01184" y="34198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 | 刚度调节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803904"/>
            <a:ext cx="3657600" cy="6400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803904"/>
            <a:ext cx="54864" cy="64008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3858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傅利叶 Fourier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38587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 DOF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01184" y="41330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医疗级 | 医疗场景适配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4553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触觉反馈仍是全行业最大短板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— Advancement  技术演进时间轴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关键里程碑 · 中美节点对比 · 2020-2030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7680960" cy="22860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378561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005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91056" y="378561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4005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05456" y="378561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4005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19856" y="378561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4005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34256" y="378561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4005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48656" y="378561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4005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63056" y="378561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4005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77456" y="378561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4005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991856" y="378561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4005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063240"/>
            <a:ext cx="9144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063240"/>
            <a:ext cx="914400" cy="36576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3118104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Dynamics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 Atlas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22376" y="3749040"/>
            <a:ext cx="18288" cy="91440"/>
          </a:xfrm>
          <a:prstGeom prst="rect">
            <a:avLst/>
          </a:prstGeom>
          <a:solidFill>
            <a:srgbClr val="FF9F1C">
              <a:alpha val="5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" y="2971800"/>
            <a:ext cx="9144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188720" y="2971800"/>
            <a:ext cx="914400" cy="36576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07008" y="3026664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AI Day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公布 Optimus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36776" y="3657600"/>
            <a:ext cx="18288" cy="182880"/>
          </a:xfrm>
          <a:prstGeom prst="rect">
            <a:avLst/>
          </a:prstGeom>
          <a:solidFill>
            <a:srgbClr val="FF9F1C">
              <a:alpha val="5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17520" y="2971800"/>
            <a:ext cx="9144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017520" y="2971800"/>
            <a:ext cx="914400" cy="3657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35808" y="3026664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成立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465576" y="3657600"/>
            <a:ext cx="18288" cy="182880"/>
          </a:xfrm>
          <a:prstGeom prst="rect">
            <a:avLst/>
          </a:prstGeom>
          <a:solidFill>
            <a:srgbClr val="EF476F">
              <a:alpha val="5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31920" y="3063240"/>
            <a:ext cx="9144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931920" y="3063240"/>
            <a:ext cx="914400" cy="3657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50208" y="3118104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Figure-OpenAI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战略合作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379976" y="3749040"/>
            <a:ext cx="18288" cy="91440"/>
          </a:xfrm>
          <a:prstGeom prst="rect">
            <a:avLst/>
          </a:prstGeom>
          <a:solidFill>
            <a:srgbClr val="EF476F">
              <a:alpha val="5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2971800"/>
            <a:ext cx="9144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2971800"/>
            <a:ext cx="914400" cy="36576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3026664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 IPO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(NASDAQ)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294376" y="3657600"/>
            <a:ext cx="18288" cy="182880"/>
          </a:xfrm>
          <a:prstGeom prst="rect">
            <a:avLst/>
          </a:prstGeom>
          <a:solidFill>
            <a:srgbClr val="C77DFF">
              <a:alpha val="50000"/>
            </a:srgbClr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75120" y="2971800"/>
            <a:ext cx="9144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675120" y="2971800"/>
            <a:ext cx="914400" cy="36576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93408" y="3026664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级别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室内自主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123176" y="3657600"/>
            <a:ext cx="18288" cy="182880"/>
          </a:xfrm>
          <a:prstGeom prst="rect">
            <a:avLst/>
          </a:prstGeom>
          <a:solidFill>
            <a:srgbClr val="C77DFF">
              <a:alpha val="50000"/>
            </a:srgbClr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88720" y="4206240"/>
            <a:ext cx="91440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188720" y="4828032"/>
            <a:ext cx="914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07008" y="4242816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宇树四足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批量出货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103120" y="4114800"/>
            <a:ext cx="91440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103120" y="4736592"/>
            <a:ext cx="91440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21408" y="4151376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智元成立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(Agibot)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17520" y="4206240"/>
            <a:ext cx="91440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017520" y="4828032"/>
            <a:ext cx="91440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35808" y="4242816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傅利叶成立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(Fourier)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931920" y="4114800"/>
            <a:ext cx="91440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931920" y="4736592"/>
            <a:ext cx="914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50208" y="4151376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H1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人形首发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846320" y="4206240"/>
            <a:ext cx="91440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846320" y="4828032"/>
            <a:ext cx="9144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64608" y="4242816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宇树招股书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披露规模化数据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760720" y="4114800"/>
            <a:ext cx="91440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760720" y="4736592"/>
            <a:ext cx="914400" cy="36576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79008" y="4151376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 VLA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密集突破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02920" y="1115568"/>
            <a:ext cx="182880" cy="18288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1520" y="10972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美国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920240" y="1115568"/>
            <a:ext cx="18288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48840" y="10972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中国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 — Mapping  人形机器人产业链图谱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6层供应链结构 · 中美能力对比 · 卡脖子清单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5943600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78992"/>
            <a:ext cx="73152" cy="60350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338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终端产品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3716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Optimus · Boston Dynamics Atlas · 宇树 H1 · 傅利叶 GR-1 · 智元智元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60720" y="1225296"/>
            <a:ext cx="621792" cy="310896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225296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商业化早期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02920" y="1737360"/>
            <a:ext cx="5943600" cy="603504"/>
          </a:xfrm>
          <a:prstGeom prst="rect">
            <a:avLst/>
          </a:prstGeom>
          <a:solidFill>
            <a:srgbClr val="16213E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737360"/>
            <a:ext cx="73152" cy="603504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7922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核心零部件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02996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关节模组 · 灵巧手 · 传感器融合 · 线束集成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1883664"/>
            <a:ext cx="621792" cy="310896"/>
          </a:xfrm>
          <a:prstGeom prst="rect">
            <a:avLst/>
          </a:prstGeom>
          <a:solidFill>
            <a:srgbClr val="FF9F1C">
              <a:alpha val="8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883664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国产替代中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02920" y="2395728"/>
            <a:ext cx="5943600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395728"/>
            <a:ext cx="73152" cy="60350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4505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关键元器件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26883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无框力矩电机 · 谐波减速器 · 行星滚柱丝杠 · 轴承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0720" y="2542032"/>
            <a:ext cx="621792" cy="310896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542032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卡脖子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054096"/>
            <a:ext cx="5943600" cy="603504"/>
          </a:xfrm>
          <a:prstGeom prst="rect">
            <a:avLst/>
          </a:prstGeom>
          <a:solidFill>
            <a:srgbClr val="16213E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054096"/>
            <a:ext cx="73152" cy="60350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1089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传感器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33467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视觉(深度相机) · 力矩传感 · IMU · 触觉阵列 · 嗅觉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60720" y="3200400"/>
            <a:ext cx="621792" cy="310896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3200400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快速追赶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02920" y="3712464"/>
            <a:ext cx="5943600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3712464"/>
            <a:ext cx="73152" cy="6035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37673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AI &amp; 芯片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" y="40050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大模型 · NVIDIA Thor / Jetson · 特斯拉 FSD 芯片 · 华为昇腾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760720" y="3858768"/>
            <a:ext cx="621792" cy="310896"/>
          </a:xfrm>
          <a:prstGeom prst="rect">
            <a:avLst/>
          </a:prstGeom>
          <a:solidFill>
            <a:srgbClr val="90E0EF">
              <a:alpha val="8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385876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中美分化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02920" y="4370832"/>
            <a:ext cx="5943600" cy="603504"/>
          </a:xfrm>
          <a:prstGeom prst="rect">
            <a:avLst/>
          </a:prstGeom>
          <a:solidFill>
            <a:srgbClr val="16213E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4370832"/>
            <a:ext cx="73152" cy="603504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44256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基础层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8368" y="46634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云计算 · 仿真平台 · 开源框架 · 数据标注 · 算力基础设施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760720" y="4517136"/>
            <a:ext cx="621792" cy="310896"/>
          </a:xfrm>
          <a:prstGeom prst="rect">
            <a:avLst/>
          </a:prstGeom>
          <a:solidFill>
            <a:srgbClr val="C77DFF">
              <a:alpha val="80000"/>
            </a:srgbClr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0" y="4517136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全球化协作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675120" y="1078992"/>
            <a:ext cx="1965960" cy="4041648"/>
          </a:xfrm>
          <a:prstGeom prst="rect">
            <a:avLst/>
          </a:prstGeom>
          <a:solidFill>
            <a:srgbClr val="0A1628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766560" y="115214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中美能力对比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766560" y="1463040"/>
            <a:ext cx="178308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15361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算力/AI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66560" y="17190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★★★☆☆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635240" y="17190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★★★★★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766560" y="19751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制造/供应链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766560" y="21579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★★★★★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635240" y="21579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★★☆☆☆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766560" y="241401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传感器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766560" y="25968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★★★☆☆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635240" y="25968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★★★★☆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766560" y="28529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整机集成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66560" y="30358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★★★★☆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635240" y="30358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★★★★☆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766560" y="32918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商业化落地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766560" y="34747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★★☆☆☆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635240" y="34747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★★★☆☆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766560" y="3730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数据闭环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766560" y="39136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★★☆☆☆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635240" y="39136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★★★★★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02920" y="4617720"/>
            <a:ext cx="8549640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4008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卡脖子环节：谐波减速器（哈默纳科/绿的谐波）、行星滚柱丝杠（瑞士 GSA/中国华茂）、触觉传感器（选代/敏芯微）、高端轴承（NSK/SKF）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 — Mapping  卡脖子清单与国产替代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大核心瓶颈 · 国产化率 · 替代时间窗口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679192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2679192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15568"/>
            <a:ext cx="64008" cy="16916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20700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谐波减速器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" y="146304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进口: 日本哈默纳科(全球70%)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0936" y="166420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国产: 绿的谐波(国产替代)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30936" y="186537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国产率 ~18%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" y="2103120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绿的 RV + 来福谐波已量产，但精度寿命仍差 30%，高端系列依赖日韩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73552" y="1115568"/>
            <a:ext cx="2679192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73552" y="1115568"/>
            <a:ext cx="2679192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73552" y="1115568"/>
            <a:ext cx="64008" cy="16916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120700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行星滚柱丝杠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01568" y="146304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进口: 瑞士 GSA / 德国 INA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01568" y="166420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国产: 中国华茂 / 南京工艺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01568" y="186537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国产率 ~12%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01568" y="2103120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国产刚起步，精度保持性差，人形 1.5m/s 行走要求超出现有国产规格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44184" y="1115568"/>
            <a:ext cx="2679192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44184" y="1115568"/>
            <a:ext cx="2679192" cy="6400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4184" y="1115568"/>
            <a:ext cx="64008" cy="16916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20700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触觉传感器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146304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进口: 美国 Tacter / 德国 Bio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72200" y="166420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国产: 选代传感 / 敏芯微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72200" y="186537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国产率 ~25%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2103120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柔性阵列触觉是真正卡点，单点精度达标但面阵集成能力差距大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2898648"/>
            <a:ext cx="2679192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2898648"/>
            <a:ext cx="2679192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2898648"/>
            <a:ext cx="64008" cy="1691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" y="299008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无框力矩电机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" y="324612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进口: 美国科尔摩根 / 瑞士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0936" y="344728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国产: 步科 / 汇川技术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0936" y="36484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国产率 ~40%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" y="3886200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国内步科、汇川已能覆盖中端需求，高转矩密度系列（&gt;20Nm/kg）依赖进口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73552" y="2898648"/>
            <a:ext cx="2679192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73552" y="2898648"/>
            <a:ext cx="2679192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73552" y="2898648"/>
            <a:ext cx="64008" cy="1691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01568" y="299008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深度视觉传感器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401568" y="324612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进口: Intel RealSense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401568" y="344728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国产: 奥比中光 / 华为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401568" y="36484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国产率 ~50%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401568" y="3886200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消费级够用，工业级（防爆、抗强光）差距缩小，但算法生态差距明显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44184" y="2898648"/>
            <a:ext cx="2679192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44184" y="2898648"/>
            <a:ext cx="2679192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44184" y="2898648"/>
            <a:ext cx="64008" cy="1691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299008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芯片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172200" y="324612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进口: NVIDIA Thor / Jetson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172200" y="344728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国产: 华为昇腾 / 地平线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172200" y="36484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国产率 ~30%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172200" y="3886200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昇腾 910B 单卡算力接近 A100，出口管制加速国产替代，但生态工具链差距仍在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— Operations  四大应用场景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工厂制造 · 仓储物流 · 医疗康复 · 家庭服务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057400" cy="36576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2057400" cy="6400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070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工业制造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572768"/>
            <a:ext cx="187452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645920"/>
            <a:ext cx="868680" cy="256032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459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试点阶段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19751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核心玩家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13969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/ 智元 / BMW 合作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5237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26883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替代 3D/危险岗位 · 解决用工荒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16382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挑战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33284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精度要求高 · 改造成本大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8404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单价: $50K-$150K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4360" y="40416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~15%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42428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部署量: 真实部署: &lt;50台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51760" y="1115568"/>
            <a:ext cx="2057400" cy="36576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51760" y="1115568"/>
            <a:ext cx="20574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12070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仓储物流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0" y="1572768"/>
            <a:ext cx="187452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1645920"/>
            <a:ext cx="868680" cy="256032"/>
          </a:xfrm>
          <a:prstGeom prst="rect">
            <a:avLst/>
          </a:prstGeom>
          <a:solidFill>
            <a:srgbClr val="90E0EF">
              <a:alpha val="8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16459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早期商业化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0" y="19751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核心玩家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43200" y="213969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 / 宇树 / 顺丰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0" y="25237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0" y="26883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替代搬运工 · 7×24h 运转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0" y="316382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挑战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0" y="33284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场景复杂度高 · ROI 争议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0" y="38404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单价: $30K-$80K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43200" y="40416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~20%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0" y="42428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部署量: 真实部署: 100-500台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00600" y="1115568"/>
            <a:ext cx="2057400" cy="36576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1115568"/>
            <a:ext cx="205740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12070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医疗康复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92040" y="1572768"/>
            <a:ext cx="187452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92040" y="1645920"/>
            <a:ext cx="868680" cy="256032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16459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临床前/临床中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92040" y="19751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核心玩家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92040" y="213969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傅利叶 / Exiii / Sanctuary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92040" y="25237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92040" y="26883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老龄化刚需 · 溢价空间高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92040" y="316382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挑战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92040" y="33284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监管周期长 · 技术成熟度低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92040" y="38404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单价: $80K-$200K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92040" y="40416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~12% (长期)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92040" y="42428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部署量: 真实部署: &lt;20台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949440" y="1115568"/>
            <a:ext cx="2057400" cy="36576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949440" y="1115568"/>
            <a:ext cx="2057400" cy="64008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40880" y="12070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家庭服务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040880" y="1572768"/>
            <a:ext cx="187452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40880" y="1645920"/>
            <a:ext cx="868680" cy="256032"/>
          </a:xfrm>
          <a:prstGeom prst="rect">
            <a:avLst/>
          </a:prstGeom>
          <a:solidFill>
            <a:srgbClr val="8DA9BD">
              <a:alpha val="80000"/>
            </a:srgbClr>
          </a:solidFill>
          <a:ln w="12700">
            <a:solidFill>
              <a:srgbClr val="8DA9B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40880" y="16459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愿景阶段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040880" y="19751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核心玩家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040880" y="213969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/ Figure / 小鹏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040880" y="25237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040880" y="26883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全球最大市场 · 技术成熟后爆发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040880" y="316382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挑战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040880" y="33284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安全性要求极高 · 量产成本难题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040880" y="38404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单价: 目标 $20K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040880" y="40416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不明确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040880" y="42428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部署量: 真实部署: 0台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— Operations  客户结构与 ROI 真相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宇树招股书数据揭示：73.6% 为科研教育，真正工业替代极少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8138160" cy="594360"/>
          </a:xfrm>
          <a:prstGeom prst="rect">
            <a:avLst/>
          </a:prstGeom>
          <a:solidFill>
            <a:srgbClr val="0077A8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43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宇树科技 2024 年客户结构（来自招股书）— 揭示行业真实阶段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73.6% 科研教育 + 9.0% 企业导览 + 6.7% 肢体外骨骼 + 4.6% 自动化巡检 + 6.1% 其他 — 真正工业替代客户极少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科研教育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2011680"/>
            <a:ext cx="5486400" cy="292608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2011680"/>
            <a:ext cx="403799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26910" y="192024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73.6%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企业导览/展示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2560320"/>
            <a:ext cx="5486400" cy="292608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2560320"/>
            <a:ext cx="493776" cy="29260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246888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0175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肢体外骨骼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3108960"/>
            <a:ext cx="5486400" cy="292608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3108960"/>
            <a:ext cx="367589" cy="2926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6509" y="301752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6.7%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56616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自动化巡检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0" y="3657600"/>
            <a:ext cx="5486400" cy="292608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3657600"/>
            <a:ext cx="252374" cy="2926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41294" y="356616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4.6%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1148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其他/个人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0" y="4206240"/>
            <a:ext cx="5486400" cy="292608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0" y="4206240"/>
            <a:ext cx="334670" cy="292608"/>
          </a:xfrm>
          <a:prstGeom prst="rect">
            <a:avLst/>
          </a:prstGeom>
          <a:solidFill>
            <a:srgbClr val="8DA9BD"/>
          </a:solidFill>
          <a:ln w="12700">
            <a:solidFill>
              <a:srgbClr val="8DA9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23590" y="411480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DA9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6.1%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12480" y="1115568"/>
            <a:ext cx="274320" cy="36576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49640" y="1115568"/>
            <a:ext cx="91440" cy="36576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9440" y="1115568"/>
            <a:ext cx="1773936" cy="256032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49440" y="1115568"/>
            <a:ext cx="1773936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120700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分析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151790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 IRR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955280" y="151790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15-20%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1901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 IRR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955280" y="19019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&gt;25%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22860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回本周期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55280" y="2286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3-5年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40880" y="26700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人工替代率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955280" y="267004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~60%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40880" y="30540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部署规模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955280" y="305409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3-10台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2920" y="4297680"/>
            <a:ext cx="8183880" cy="50292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02920" y="4297680"/>
            <a:ext cx="64008" cy="502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432511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关键洞察：人形机器人目前本质上是一台「高价科研设备」，而非工业级自动化工具。客户结构揭示真相：73.6% 收入来自科研教育，说明真正工业替代的买单能力尚未形成。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 — Reach  市场容量三情景预测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2025-2035 年出货量与规模预测 | 基准 / 乐观 / 保守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679192" cy="26060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2679192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0700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基准情景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72768"/>
            <a:ext cx="2496312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6420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66420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1.45 万台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13969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213969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 万台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61518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2615184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 万台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309067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309067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万台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3621024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CAGR ~40%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73552" y="1115568"/>
            <a:ext cx="2679192" cy="26060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73552" y="1115568"/>
            <a:ext cx="2679192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20700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乐观情景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64992" y="1572768"/>
            <a:ext cx="2496312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166420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13632" y="166420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1.7 万台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64992" y="213969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13632" y="213969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万台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64992" y="261518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13632" y="2615184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万台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64992" y="309067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13632" y="309067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万台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64992" y="3621024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CAGR ~55%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44184" y="1115568"/>
            <a:ext cx="2679192" cy="26060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44184" y="1115568"/>
            <a:ext cx="2679192" cy="6400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35624" y="120700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保守情景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35624" y="1572768"/>
            <a:ext cx="2496312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35624" y="166420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84264" y="166420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1.2 万台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35624" y="213969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84264" y="213969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万台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35624" y="261518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84264" y="2615184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万台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35624" y="309067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84264" y="309067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万台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35624" y="3621024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CAGR ~25%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" y="3840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全球出货量预测（万台）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05840" y="4005072"/>
            <a:ext cx="292608" cy="109728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35024" y="4005072"/>
            <a:ext cx="292608" cy="10972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664208" y="4005072"/>
            <a:ext cx="292608" cy="109728"/>
          </a:xfrm>
          <a:prstGeom prst="rect">
            <a:avLst/>
          </a:prstGeom>
          <a:solidFill>
            <a:srgbClr val="FF9F1C">
              <a:alpha val="8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5840" y="4114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08860" y="4005072"/>
            <a:ext cx="292608" cy="109728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38044" y="4005072"/>
            <a:ext cx="292608" cy="10972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67228" y="4005072"/>
            <a:ext cx="292608" cy="109728"/>
          </a:xfrm>
          <a:prstGeom prst="rect">
            <a:avLst/>
          </a:prstGeom>
          <a:solidFill>
            <a:srgbClr val="FF9F1C">
              <a:alpha val="8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08860" y="4114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611880" y="3802685"/>
            <a:ext cx="292608" cy="312115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941064" y="3937675"/>
            <a:ext cx="292608" cy="177125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70248" y="4005072"/>
            <a:ext cx="292608" cy="109728"/>
          </a:xfrm>
          <a:prstGeom prst="rect">
            <a:avLst/>
          </a:prstGeom>
          <a:solidFill>
            <a:srgbClr val="FF9F1C">
              <a:alpha val="8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11880" y="4114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914900" y="2944368"/>
            <a:ext cx="292608" cy="1170432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244084" y="3428147"/>
            <a:ext cx="292608" cy="686653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73268" y="3841699"/>
            <a:ext cx="292608" cy="273101"/>
          </a:xfrm>
          <a:prstGeom prst="rect">
            <a:avLst/>
          </a:prstGeom>
          <a:solidFill>
            <a:srgbClr val="FF9F1C">
              <a:alpha val="8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14900" y="4114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02920" y="4334256"/>
            <a:ext cx="822960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58000" y="4114800"/>
            <a:ext cx="201168" cy="146304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86600" y="411480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乐观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589520" y="4114800"/>
            <a:ext cx="201168" cy="146304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18120" y="411480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321040" y="4114800"/>
            <a:ext cx="201168" cy="146304"/>
          </a:xfrm>
          <a:prstGeom prst="rect">
            <a:avLst/>
          </a:prstGeom>
          <a:solidFill>
            <a:srgbClr val="FF9F1C">
              <a:alpha val="8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49640" y="411480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保守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 — Reach  全球化策略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中国市场领跑 · 北美高端定位 · 欧洲细分切入 · 东南亚制造成本洼地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011680" cy="363931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2011680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15568"/>
            <a:ext cx="64008" cy="363931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2070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中国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" y="15727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出货量第一 / 制造成本洼地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30936" y="1920240"/>
            <a:ext cx="1755648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1993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当前状态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30936" y="2176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5500+ 台全球第一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0936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0936" y="2724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规模量产压成本 + 快速迭代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0936" y="3090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0936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内卷加剧 / 估值泡沫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936" y="42793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全球人形机器人出货量第一大国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606040" y="1115568"/>
            <a:ext cx="2011680" cy="363931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06040" y="1115568"/>
            <a:ext cx="20116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1115568"/>
            <a:ext cx="64008" cy="36393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34056" y="12070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北美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34056" y="15727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技术最前沿 / 估值最高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34056" y="1920240"/>
            <a:ext cx="1755648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34056" y="1993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当前状态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34056" y="2176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/ Figure / Agility 三大龙头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34056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34056" y="2724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高端定位 + AI 算法差异化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34056" y="3090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34056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制造成本高 / 量产瓶颈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34056" y="42793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大模型发源地，资本密度最高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1115568"/>
            <a:ext cx="2011680" cy="363931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1115568"/>
            <a:ext cx="201168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1115568"/>
            <a:ext cx="64008" cy="36393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37176" y="12070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🇪🇺 欧洲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37176" y="15727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汽车产业链深度整合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37176" y="1920240"/>
            <a:ext cx="1755648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37176" y="1993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当前状态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37176" y="2176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/ Mercedes + 机器人合作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37176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37176" y="2724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工业自动化场景优先落地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37176" y="3090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37176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人才密度不足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37176" y="42793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汽车制造自动化需求是最大机会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812280" y="1115568"/>
            <a:ext cx="2011680" cy="363931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12280" y="1115568"/>
            <a:ext cx="201168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12280" y="1115568"/>
            <a:ext cx="64008" cy="363931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0296" y="12070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东南亚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940296" y="15727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制造成本 + 新兴市场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40296" y="1920240"/>
            <a:ext cx="1755648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40296" y="1993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当前状态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940296" y="2176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制造业转型期 / 人口老龄化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40296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940296" y="2724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低成本制造 + 服务业探索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940296" y="3090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940296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技术积累薄弱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940296" y="42793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下一个制造业机器人化增长极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 — Assets  核心财务数据对比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营收 / 毛利 / 净利 / 出货量 — 宇树 vs UBTECH vs Agility vs Figure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011680" cy="123444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20116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25296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¥17亿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2025E 营收  同比增长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87752" y="1115568"/>
            <a:ext cx="2011680" cy="123444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87752" y="1115568"/>
            <a:ext cx="201168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225296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60.3%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79192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宇树毛利率  硬件毛利极高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72584" y="1115568"/>
            <a:ext cx="2011680" cy="123444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72584" y="1115568"/>
            <a:ext cx="201168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1225296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5500台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64024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2025 出货  全球第一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57416" y="1115568"/>
            <a:ext cx="2011680" cy="123444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57416" y="1115568"/>
            <a:ext cx="2011680" cy="54864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225296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0E0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¥6亿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48856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2025E 净利  净利率 35%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2514600"/>
            <a:ext cx="9144000" cy="384048"/>
          </a:xfrm>
          <a:prstGeom prst="rect">
            <a:avLst/>
          </a:prstGeom>
          <a:solidFill>
            <a:srgbClr val="0077A8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514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68880" y="2514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2025营收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86200" y="2514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毛利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03520" y="2514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净利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20840" y="2514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出货量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38160" y="2514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估值/融资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2898648"/>
            <a:ext cx="9144000" cy="40233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28986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宇树科技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468880" y="28986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¥17亿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86200" y="28986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60.3%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03520" y="28986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¥6亿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20840" y="28986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5500台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138160" y="289864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42亿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3319272"/>
            <a:ext cx="9144000" cy="40233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33192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UBTECH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468880" y="331927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¥8亿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886200" y="331927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03520" y="331927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亏损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720840" y="331927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~2000台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138160" y="33192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港股上市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3739896"/>
            <a:ext cx="9144000" cy="40233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48640" y="373989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468880" y="373989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886200" y="373989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303520" y="373989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亏损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720840" y="373989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100+台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138160" y="373989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2920" y="4160520"/>
            <a:ext cx="9144000" cy="40233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48640" y="41605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AI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468880" y="416052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$30M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886200" y="416052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303520" y="416052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亏损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720840" y="416052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&lt;50台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138160" y="416052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26亿美元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02920" y="4581144"/>
            <a:ext cx="9144000" cy="40233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48640" y="45811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智元智元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468880" y="458114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未披露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886200" y="458114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303520" y="458114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未披露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720840" y="458114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千台级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138160" y="458114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150亿估值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02920" y="4617720"/>
            <a:ext cx="8549640" cy="43891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02920" y="4617720"/>
            <a:ext cx="64008" cy="43891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8368" y="4645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关键洞察：宇树是唯一实现规模化盈利的人形机器人企业，毛利率 60.3% 远超 UBTECH 的 42%；Agility 和 Figure 均处于严重亏损状态，依赖融资维持运营。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 — Assets  估值矩阵与融资动态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/ EV-Revenue 倍数对比 · 融资轮次 · 资本效率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4937760" cy="36576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493776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070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估值 vs 商业化成熟度象限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80160" y="1600200"/>
            <a:ext cx="384048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1600200"/>
            <a:ext cx="18288" cy="2971800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4553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商业化成熟度 →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估值 ↑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91840" y="1645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高估值·高成熟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71600" y="1645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低估值·高成熟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71600" y="4206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低估值·早期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91840" y="4206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高估值·早期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03320" y="1783080"/>
            <a:ext cx="274320" cy="274320"/>
          </a:xfrm>
          <a:prstGeom prst="ellipse">
            <a:avLst/>
          </a:prstGeom>
          <a:solidFill>
            <a:srgbClr val="FFD166">
              <a:alpha val="70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5544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宇树科技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063240" y="2057400"/>
            <a:ext cx="274320" cy="274320"/>
          </a:xfrm>
          <a:prstGeom prst="ellipse">
            <a:avLst/>
          </a:prstGeom>
          <a:solidFill>
            <a:srgbClr val="00B4D8">
              <a:alpha val="7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1828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UBTECH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23160" y="2606040"/>
            <a:ext cx="274320" cy="274320"/>
          </a:xfrm>
          <a:prstGeom prst="ellipse">
            <a:avLst/>
          </a:prstGeom>
          <a:solidFill>
            <a:srgbClr val="FF9F1C">
              <a:alpha val="70000"/>
            </a:srgbClr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2377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74520" y="3154680"/>
            <a:ext cx="274320" cy="274320"/>
          </a:xfrm>
          <a:prstGeom prst="ellipse">
            <a:avLst/>
          </a:prstGeom>
          <a:solidFill>
            <a:srgbClr val="EF476F">
              <a:alpha val="70000"/>
            </a:srgbClr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4480" y="29260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691640" y="2880360"/>
            <a:ext cx="274320" cy="274320"/>
          </a:xfrm>
          <a:prstGeom prst="ellipse">
            <a:avLst/>
          </a:prstGeom>
          <a:solidFill>
            <a:srgbClr val="90E0EF">
              <a:alpha val="70000"/>
            </a:srgbClr>
          </a:solidFill>
          <a:ln w="19050">
            <a:solidFill>
              <a:srgbClr val="90E0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2651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智元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606040" y="3337560"/>
            <a:ext cx="274320" cy="274320"/>
          </a:xfrm>
          <a:prstGeom prst="ellipse">
            <a:avLst/>
          </a:prstGeom>
          <a:solidFill>
            <a:srgbClr val="C77DFF">
              <a:alpha val="70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3108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623560" y="1115568"/>
            <a:ext cx="3108960" cy="36576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23560" y="1115568"/>
            <a:ext cx="3108960" cy="54864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12070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融资动态（2024-2026）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15000" y="1572768"/>
            <a:ext cx="2926080" cy="45720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15000" y="1572768"/>
            <a:ext cx="54864" cy="4572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24728" y="16093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32320" y="16093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35240" y="16093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$675M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24728" y="18105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B轮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15000" y="2084832"/>
            <a:ext cx="2926080" cy="45720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715000" y="2084832"/>
            <a:ext cx="54864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24728" y="21214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Tech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32320" y="212140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35240" y="21214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$125M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824728" y="23225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B轮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715000" y="2596896"/>
            <a:ext cx="2926080" cy="45720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715000" y="2596896"/>
            <a:ext cx="54864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24728" y="26334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智元智元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132320" y="26334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635240" y="26334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¥15亿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824728" y="2834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A轮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715000" y="3108960"/>
            <a:ext cx="2926080" cy="45720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715000" y="3108960"/>
            <a:ext cx="54864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24728" y="31455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宇树科技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132320" y="31455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635240" y="31455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¥42亿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824728" y="33467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715000" y="3621024"/>
            <a:ext cx="2926080" cy="45720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715000" y="3621024"/>
            <a:ext cx="54864" cy="45720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24728" y="36576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傅利叶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132320" y="3657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635240" y="36576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¥5亿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824728" y="38587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A轮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715000" y="4133088"/>
            <a:ext cx="2926080" cy="45720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715000" y="4133088"/>
            <a:ext cx="54864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24728" y="41696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132320" y="41696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635240" y="4169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$200M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824728" y="43708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IPO+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AMORA Score — 12 企业综合评分卡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A(技术壁垒) · M(人才优势) · O(商业落地) · R(全球化) · A(可持续)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8549640" cy="365760"/>
          </a:xfrm>
          <a:prstGeom prst="rect">
            <a:avLst/>
          </a:prstGeom>
          <a:solidFill>
            <a:srgbClr val="0077A8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1155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59152" y="1115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62072" y="1115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64992" y="1115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67912" y="1115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70832" y="1115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73752" y="1115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76672" y="1115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08192" y="1115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1481328"/>
            <a:ext cx="8549640" cy="31089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14813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宇树科技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59152" y="14813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62072" y="14813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64992" y="14813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67912" y="14813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70832" y="14813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73752" y="14813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76672" y="148132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08192" y="14813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1792224"/>
            <a:ext cx="8549640" cy="31089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0352" y="17922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UBTECH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359152" y="1792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862072" y="1792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64992" y="1792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67912" y="1792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370832" y="1792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73752" y="1792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76672" y="179222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08192" y="1792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▬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2103120"/>
            <a:ext cx="8549640" cy="31089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30352" y="21031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Optimus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359152" y="2103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862072" y="2103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64992" y="2103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867912" y="2103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370832" y="2103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73752" y="2103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376672" y="21031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08192" y="2103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" y="2414016"/>
            <a:ext cx="8549640" cy="31089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30352" y="24140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AI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359152" y="241401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862072" y="241401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364992" y="241401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867912" y="241401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370832" y="241401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873752" y="241401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376672" y="241401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108192" y="241401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02920" y="2724912"/>
            <a:ext cx="8549640" cy="31089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30352" y="27249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智元智元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359152" y="27249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862072" y="27249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364992" y="27249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867912" y="27249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370832" y="27249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873752" y="27249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376672" y="27249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108192" y="27249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02920" y="3035808"/>
            <a:ext cx="8549640" cy="31089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530352" y="30358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Dyn.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2359152" y="30358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2862072" y="30358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3364992" y="30358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3867912" y="30358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4370832" y="30358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4873752" y="30358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376672" y="30358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6108192" y="30358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▬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02920" y="3346704"/>
            <a:ext cx="8549640" cy="31089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530352" y="33467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2359152" y="33467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2862072" y="33467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3364992" y="33467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3867912" y="33467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4370832" y="33467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4873752" y="33467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5376672" y="33467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6108192" y="33467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▬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02920" y="3657600"/>
            <a:ext cx="8549640" cy="31089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530352" y="36576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傅利叶 Fourier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2359152" y="36576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2862072" y="36576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3364992" y="36576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3867912" y="36576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4370832" y="36576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4873752" y="36576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5376672" y="36576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6108192" y="36576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502920" y="3968496"/>
            <a:ext cx="8549640" cy="31089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530352" y="39684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Tech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2359152" y="396849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2862072" y="396849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3364992" y="396849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3867912" y="396849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4370832" y="396849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4873752" y="396849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5376672" y="39684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6108192" y="396849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502920" y="4279392"/>
            <a:ext cx="8549640" cy="31089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530352" y="42793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Sanctuary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2359152" y="42793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🇨🇦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2862072" y="42793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09" name="Text 107"/>
          <p:cNvSpPr/>
          <p:nvPr/>
        </p:nvSpPr>
        <p:spPr>
          <a:xfrm>
            <a:off x="3364992" y="42793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10" name="Text 108"/>
          <p:cNvSpPr/>
          <p:nvPr/>
        </p:nvSpPr>
        <p:spPr>
          <a:xfrm>
            <a:off x="3867912" y="42793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11" name="Text 109"/>
          <p:cNvSpPr/>
          <p:nvPr/>
        </p:nvSpPr>
        <p:spPr>
          <a:xfrm>
            <a:off x="4370832" y="42793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4873752" y="42793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5376672" y="427939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</a:t>
            </a:r>
            <a:endParaRPr lang="en-US" sz="1050" dirty="0"/>
          </a:p>
        </p:txBody>
      </p:sp>
      <p:sp>
        <p:nvSpPr>
          <p:cNvPr id="114" name="Text 112"/>
          <p:cNvSpPr/>
          <p:nvPr/>
        </p:nvSpPr>
        <p:spPr>
          <a:xfrm>
            <a:off x="6108192" y="42793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▬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502920" y="4590288"/>
            <a:ext cx="8549640" cy="31089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6" name="Text 114"/>
          <p:cNvSpPr/>
          <p:nvPr/>
        </p:nvSpPr>
        <p:spPr>
          <a:xfrm>
            <a:off x="530352" y="45902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小鹏 PXES</a:t>
            </a:r>
            <a:endParaRPr lang="en-US" sz="950" dirty="0"/>
          </a:p>
        </p:txBody>
      </p:sp>
      <p:sp>
        <p:nvSpPr>
          <p:cNvPr id="117" name="Text 115"/>
          <p:cNvSpPr/>
          <p:nvPr/>
        </p:nvSpPr>
        <p:spPr>
          <a:xfrm>
            <a:off x="2359152" y="459028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</a:t>
            </a:r>
            <a:endParaRPr lang="en-US" sz="950" dirty="0"/>
          </a:p>
        </p:txBody>
      </p:sp>
      <p:sp>
        <p:nvSpPr>
          <p:cNvPr id="118" name="Text 116"/>
          <p:cNvSpPr/>
          <p:nvPr/>
        </p:nvSpPr>
        <p:spPr>
          <a:xfrm>
            <a:off x="2862072" y="459028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3364992" y="459028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20" name="Text 118"/>
          <p:cNvSpPr/>
          <p:nvPr/>
        </p:nvSpPr>
        <p:spPr>
          <a:xfrm>
            <a:off x="3867912" y="459028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21" name="Text 119"/>
          <p:cNvSpPr/>
          <p:nvPr/>
        </p:nvSpPr>
        <p:spPr>
          <a:xfrm>
            <a:off x="4370832" y="459028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22" name="Text 120"/>
          <p:cNvSpPr/>
          <p:nvPr/>
        </p:nvSpPr>
        <p:spPr>
          <a:xfrm>
            <a:off x="4873752" y="459028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50" dirty="0"/>
          </a:p>
        </p:txBody>
      </p:sp>
      <p:sp>
        <p:nvSpPr>
          <p:cNvPr id="123" name="Text 121"/>
          <p:cNvSpPr/>
          <p:nvPr/>
        </p:nvSpPr>
        <p:spPr>
          <a:xfrm>
            <a:off x="5376672" y="459028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</a:t>
            </a:r>
            <a:endParaRPr lang="en-US" sz="1050" dirty="0"/>
          </a:p>
        </p:txBody>
      </p:sp>
      <p:sp>
        <p:nvSpPr>
          <p:cNvPr id="124" name="Text 122"/>
          <p:cNvSpPr/>
          <p:nvPr/>
        </p:nvSpPr>
        <p:spPr>
          <a:xfrm>
            <a:off x="6108192" y="459028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502920" y="4901184"/>
            <a:ext cx="8549640" cy="31089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6" name="Text 124"/>
          <p:cNvSpPr/>
          <p:nvPr/>
        </p:nvSpPr>
        <p:spPr>
          <a:xfrm>
            <a:off x="530352" y="49011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</a:t>
            </a:r>
            <a:endParaRPr lang="en-US" sz="950" dirty="0"/>
          </a:p>
        </p:txBody>
      </p:sp>
      <p:sp>
        <p:nvSpPr>
          <p:cNvPr id="127" name="Text 125"/>
          <p:cNvSpPr/>
          <p:nvPr/>
        </p:nvSpPr>
        <p:spPr>
          <a:xfrm>
            <a:off x="2359152" y="49011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</a:t>
            </a:r>
            <a:endParaRPr lang="en-US" sz="950" dirty="0"/>
          </a:p>
        </p:txBody>
      </p:sp>
      <p:sp>
        <p:nvSpPr>
          <p:cNvPr id="128" name="Text 126"/>
          <p:cNvSpPr/>
          <p:nvPr/>
        </p:nvSpPr>
        <p:spPr>
          <a:xfrm>
            <a:off x="2862072" y="49011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50" dirty="0"/>
          </a:p>
        </p:txBody>
      </p:sp>
      <p:sp>
        <p:nvSpPr>
          <p:cNvPr id="129" name="Text 127"/>
          <p:cNvSpPr/>
          <p:nvPr/>
        </p:nvSpPr>
        <p:spPr>
          <a:xfrm>
            <a:off x="3364992" y="49011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50" dirty="0"/>
          </a:p>
        </p:txBody>
      </p:sp>
      <p:sp>
        <p:nvSpPr>
          <p:cNvPr id="130" name="Text 128"/>
          <p:cNvSpPr/>
          <p:nvPr/>
        </p:nvSpPr>
        <p:spPr>
          <a:xfrm>
            <a:off x="3867912" y="49011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31" name="Text 129"/>
          <p:cNvSpPr/>
          <p:nvPr/>
        </p:nvSpPr>
        <p:spPr>
          <a:xfrm>
            <a:off x="4370832" y="49011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50" dirty="0"/>
          </a:p>
        </p:txBody>
      </p:sp>
      <p:sp>
        <p:nvSpPr>
          <p:cNvPr id="132" name="Text 130"/>
          <p:cNvSpPr/>
          <p:nvPr/>
        </p:nvSpPr>
        <p:spPr>
          <a:xfrm>
            <a:off x="4873752" y="49011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33" name="Text 131"/>
          <p:cNvSpPr/>
          <p:nvPr/>
        </p:nvSpPr>
        <p:spPr>
          <a:xfrm>
            <a:off x="5376672" y="490118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1050" dirty="0"/>
          </a:p>
        </p:txBody>
      </p:sp>
      <p:sp>
        <p:nvSpPr>
          <p:cNvPr id="134" name="Text 132"/>
          <p:cNvSpPr/>
          <p:nvPr/>
        </p:nvSpPr>
        <p:spPr>
          <a:xfrm>
            <a:off x="6108192" y="49011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50" dirty="0"/>
          </a:p>
        </p:txBody>
      </p:sp>
      <p:sp>
        <p:nvSpPr>
          <p:cNvPr id="135" name="Shape 133"/>
          <p:cNvSpPr/>
          <p:nvPr/>
        </p:nvSpPr>
        <p:spPr>
          <a:xfrm>
            <a:off x="502920" y="4736592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22376" y="47274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A(Advancement)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2240280" y="4736592"/>
            <a:ext cx="164592" cy="16459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459736" y="47274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M(Mastery)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3977640" y="4736592"/>
            <a:ext cx="164592" cy="1645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197096" y="47274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O(Operations)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5715000" y="4736592"/>
            <a:ext cx="164592" cy="1645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934456" y="47274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R(Reach)</a:t>
            </a:r>
            <a:endParaRPr lang="en-US" sz="850" dirty="0"/>
          </a:p>
        </p:txBody>
      </p:sp>
      <p:sp>
        <p:nvSpPr>
          <p:cNvPr id="143" name="Shape 141"/>
          <p:cNvSpPr/>
          <p:nvPr/>
        </p:nvSpPr>
        <p:spPr>
          <a:xfrm>
            <a:off x="7452360" y="4736592"/>
            <a:ext cx="164592" cy="16459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671816" y="47274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A2(Assets)</a:t>
            </a:r>
            <a:endParaRPr lang="en-US" sz="850" dirty="0"/>
          </a:p>
        </p:txBody>
      </p:sp>
      <p:sp>
        <p:nvSpPr>
          <p:cNvPr id="145" name="Text 143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AMORA Score — 头部企业雷达图对比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vs Tesla Optimus vs Figure AI vs UBTECH — 五维能力可视化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0" cy="0"/>
          </a:xfrm>
          <a:prstGeom prst="polygon">
            <a:avLst/>
          </a:prstGeom>
          <a:ln w="6350">
            <a:solidFill>
              <a:srgbClr val="2D4A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0" cy="0"/>
          </a:xfrm>
          <a:prstGeom prst="polygon">
            <a:avLst/>
          </a:prstGeom>
          <a:ln w="6350">
            <a:solidFill>
              <a:srgbClr val="2D4A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0" cy="0"/>
          </a:xfrm>
          <a:prstGeom prst="polygon">
            <a:avLst/>
          </a:prstGeom>
          <a:ln w="6350">
            <a:solidFill>
              <a:srgbClr val="2D4A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0" cy="0"/>
          </a:xfrm>
          <a:prstGeom prst="polygon">
            <a:avLst/>
          </a:prstGeom>
          <a:ln w="6350">
            <a:solidFill>
              <a:srgbClr val="2D4A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0"/>
          </a:xfrm>
          <a:prstGeom prst="polygon">
            <a:avLst/>
          </a:prstGeom>
          <a:ln w="6350">
            <a:solidFill>
              <a:srgbClr val="2D4A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005840"/>
            <a:ext cx="9144" cy="2011680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395877"/>
            <a:ext cx="1913221" cy="621643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3017520"/>
            <a:ext cx="1182436" cy="1627483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7964" y="3017520"/>
            <a:ext cx="1182436" cy="1627483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7179" y="2395877"/>
            <a:ext cx="1913221" cy="621643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5669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25875" y="2146515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95437" y="4702341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08083" y="4702341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645" y="2146515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rot="1973057">
            <a:off x="3200400" y="1307592"/>
            <a:ext cx="2096010" cy="9144"/>
          </a:xfrm>
          <a:prstGeom prst="rect">
            <a:avLst/>
          </a:prstGeom>
          <a:solidFill>
            <a:srgbClr val="FFD166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6531992">
            <a:off x="4960564" y="2445608"/>
            <a:ext cx="2152279" cy="9144"/>
          </a:xfrm>
          <a:prstGeom prst="rect">
            <a:avLst/>
          </a:prstGeom>
          <a:solidFill>
            <a:srgbClr val="FFD166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10522273">
            <a:off x="4264592" y="4482255"/>
            <a:ext cx="2016719" cy="9144"/>
          </a:xfrm>
          <a:prstGeom prst="rect">
            <a:avLst/>
          </a:prstGeom>
          <a:solidFill>
            <a:srgbClr val="FFD166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-6883704">
            <a:off x="2254451" y="4319507"/>
            <a:ext cx="2083613" cy="9144"/>
          </a:xfrm>
          <a:prstGeom prst="rect">
            <a:avLst/>
          </a:prstGeom>
          <a:solidFill>
            <a:srgbClr val="FFD166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-1897641">
            <a:off x="1382840" y="2426959"/>
            <a:ext cx="2134598" cy="9144"/>
          </a:xfrm>
          <a:prstGeom prst="rect">
            <a:avLst/>
          </a:prstGeom>
          <a:solidFill>
            <a:srgbClr val="FFD166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36392" y="1243584"/>
            <a:ext cx="128016" cy="12801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6556" y="2381600"/>
            <a:ext cx="128016" cy="12801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0584" y="4418247"/>
            <a:ext cx="128016" cy="12801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0443" y="4255499"/>
            <a:ext cx="128016" cy="12801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18832" y="2362951"/>
            <a:ext cx="128016" cy="12801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01089" y="2850080"/>
            <a:ext cx="822960" cy="256032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01089" y="2850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宇树科技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 rot="2287824">
            <a:off x="3200400" y="1106424"/>
            <a:ext cx="2189019" cy="9144"/>
          </a:xfrm>
          <a:prstGeom prst="rect">
            <a:avLst/>
          </a:prstGeom>
          <a:solidFill>
            <a:srgbClr val="FF9F1C">
              <a:alpha val="75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7065722">
            <a:off x="4922299" y="2458041"/>
            <a:ext cx="1919694" cy="9144"/>
          </a:xfrm>
          <a:prstGeom prst="rect">
            <a:avLst/>
          </a:prstGeom>
          <a:solidFill>
            <a:srgbClr val="FF9F1C">
              <a:alpha val="75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10093213">
            <a:off x="4028105" y="4156758"/>
            <a:ext cx="1992993" cy="9144"/>
          </a:xfrm>
          <a:prstGeom prst="rect">
            <a:avLst/>
          </a:prstGeom>
          <a:solidFill>
            <a:srgbClr val="FF9F1C">
              <a:alpha val="75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-6076296">
            <a:off x="2077086" y="4563629"/>
            <a:ext cx="2083613" cy="9144"/>
          </a:xfrm>
          <a:prstGeom prst="rect">
            <a:avLst/>
          </a:prstGeom>
          <a:solidFill>
            <a:srgbClr val="FF9F1C">
              <a:alpha val="75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-2563704">
            <a:off x="1669823" y="2520205"/>
            <a:ext cx="2083613" cy="9144"/>
          </a:xfrm>
          <a:prstGeom prst="rect">
            <a:avLst/>
          </a:prstGeom>
          <a:solidFill>
            <a:srgbClr val="FF9F1C">
              <a:alpha val="75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36392" y="1042416"/>
            <a:ext cx="128016" cy="12801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58291" y="2394033"/>
            <a:ext cx="128016" cy="12801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64097" y="4092750"/>
            <a:ext cx="128016" cy="12801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13078" y="4499621"/>
            <a:ext cx="128016" cy="12801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05815" y="2456197"/>
            <a:ext cx="128016" cy="12801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68063" y="2814708"/>
            <a:ext cx="822960" cy="256032"/>
          </a:xfrm>
          <a:prstGeom prst="rect">
            <a:avLst/>
          </a:prstGeom>
          <a:solidFill>
            <a:srgbClr val="FF9F1C">
              <a:alpha val="8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68063" y="28147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 rot="2295120">
            <a:off x="3200400" y="1207008"/>
            <a:ext cx="2070862" cy="9144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7465971">
            <a:off x="4826638" y="2489123"/>
            <a:ext cx="1725910" cy="9144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9942036">
            <a:off x="3850740" y="3912636"/>
            <a:ext cx="1647325" cy="9144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-6623300">
            <a:off x="2254451" y="4319507"/>
            <a:ext cx="1952715" cy="9144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-2295120">
            <a:off x="1574162" y="2489123"/>
            <a:ext cx="2070862" cy="9144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36392" y="1143000"/>
            <a:ext cx="128016" cy="128016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62630" y="2425115"/>
            <a:ext cx="128016" cy="128016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86732" y="3848628"/>
            <a:ext cx="128016" cy="128016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190443" y="4255499"/>
            <a:ext cx="128016" cy="128016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510154" y="2425115"/>
            <a:ext cx="128016" cy="128016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29798" y="2737175"/>
            <a:ext cx="822960" cy="256032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29798" y="2737175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AI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 rot="2016700">
            <a:off x="3200400" y="1408176"/>
            <a:ext cx="1952715" cy="914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7001697">
            <a:off x="4826638" y="2489123"/>
            <a:ext cx="1830160" cy="914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10568730">
            <a:off x="4004456" y="4124209"/>
            <a:ext cx="1694717" cy="914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-6316962">
            <a:off x="2313573" y="4238132"/>
            <a:ext cx="1716462" cy="914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-2474563">
            <a:off x="1861145" y="2582370"/>
            <a:ext cx="1781105" cy="914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136392" y="134416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62630" y="2425115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940448" y="4060201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49565" y="417412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797137" y="251836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829763" y="2822098"/>
            <a:ext cx="822960" cy="256032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29763" y="282209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UBTECH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217920" y="1115568"/>
            <a:ext cx="2468880" cy="36576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217920" y="1115568"/>
            <a:ext cx="2468880" cy="54864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09360" y="12070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评分说明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309360" y="1572768"/>
            <a:ext cx="2286000" cy="54864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309360" y="1572768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19088" y="16093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(Advancement)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419088" y="18470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技术壁垒：算法/硬件/专利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309360" y="2194560"/>
            <a:ext cx="2286000" cy="54864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309360" y="2194560"/>
            <a:ext cx="54864" cy="54864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19088" y="22311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(Mastery)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6419088" y="24688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人才优势：核心团队/融资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309360" y="2816352"/>
            <a:ext cx="2286000" cy="54864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6309360" y="2816352"/>
            <a:ext cx="54864" cy="548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19088" y="28529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(Operations)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6419088" y="30906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商业落地：出货量/客户/收入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309360" y="3438144"/>
            <a:ext cx="2286000" cy="54864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6309360" y="3438144"/>
            <a:ext cx="54864" cy="548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19088" y="34747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(Reach)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6419088" y="3712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全球化：境外收入/合作伙伴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309360" y="4059936"/>
            <a:ext cx="2286000" cy="54864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309360" y="4059936"/>
            <a:ext cx="54864" cy="5486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419088" y="409651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(Assets)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6419088" y="43342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可持续：毛利/净利/现金流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Investment Recommendations  投资建议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高确信 / 期权价值 / 零部件三层逻辑 · 催化剂清单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679192" cy="32004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2679192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15568"/>
            <a:ext cx="64008" cy="3200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20700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高确信标的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" y="1572768"/>
            <a:ext cx="242316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64592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代表标的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30936" y="1828800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宇树科技（IPO）· Figure AI（二级）· NVIDIA（生态）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" y="232257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核心逻辑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30936" y="2505456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规模盈利 + 营收可见性 + 估值合理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" y="2999232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0936" y="3182112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估值已部分反映预期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0936" y="404164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操作建议: IPO 参与 / 二级建仓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73552" y="1115568"/>
            <a:ext cx="2679192" cy="32004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73552" y="1115568"/>
            <a:ext cx="2679192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73552" y="1115568"/>
            <a:ext cx="64008" cy="3200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120700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期权价值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01568" y="1572768"/>
            <a:ext cx="242316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164592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代表标的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01568" y="1828800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智元智元（IPO前）· 傅利叶 · 1X Technologies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01568" y="232257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核心逻辑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01568" y="2505456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技术有亮点 + 估值弹性大 + 中国供应链成本优势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01568" y="2999232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01568" y="3182112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亏损持续，IPO 时间不确定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01568" y="404164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操作建议: 早期跟进，关注融资节点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44184" y="1115568"/>
            <a:ext cx="2679192" cy="32004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44184" y="1115568"/>
            <a:ext cx="2679192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44184" y="1115568"/>
            <a:ext cx="64008" cy="3200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120700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零部件阿尔法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72200" y="1572768"/>
            <a:ext cx="242316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164592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代表标的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72200" y="1828800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绿的谐波（减速器）· 华为昇腾（AI芯片）· 汇川（关节电机）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72200" y="232257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核心逻辑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72200" y="2505456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不依赖单一客户 · 国产替代逻辑强 · 收入可见性好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72200" y="2999232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72200" y="3182112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人形订单占比仍低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72200" y="404164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操作建议: 左侧布局，等待规模放量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" y="4434840"/>
            <a:ext cx="8549640" cy="621792"/>
          </a:xfrm>
          <a:prstGeom prst="rect">
            <a:avLst/>
          </a:prstGeom>
          <a:solidFill>
            <a:srgbClr val="0077A8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0080" y="44622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近期催化剂：宇树 IPO 定价（Q2 2026） · Figure AI 新一轮融资 · 特斯拉 Optimus 工厂部署公告 · 工信部人形机器人专项政策落地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Factors  风险因素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 / 商业化 / 监管 / 地缘政治 · 完整风险矩阵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697480" cy="162763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2697480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070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技术风险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225296"/>
            <a:ext cx="594360" cy="256032"/>
          </a:xfrm>
          <a:prstGeom prst="rect">
            <a:avLst/>
          </a:prstGeom>
          <a:solidFill>
            <a:srgbClr val="EF476F">
              <a:alpha val="7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2252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 高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5361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Sim2Real Gap 持续，泛化性能难达标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19019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触觉传感器无突破，灵巧手实用性受限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22677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大模型推理成本高，实时控制延迟问题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1115568"/>
            <a:ext cx="2697480" cy="162763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115568"/>
            <a:ext cx="2697480" cy="6400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2070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商业化风险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1225296"/>
            <a:ext cx="594360" cy="256032"/>
          </a:xfrm>
          <a:prstGeom prst="rect">
            <a:avLst/>
          </a:prstGeom>
          <a:solidFill>
            <a:srgbClr val="FF9F1C">
              <a:alpha val="7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2252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 高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83280" y="15361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客户以科研为主，真实工业买单能力未形成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83280" y="19019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单台成本仍高于人工替代 ROI 临界点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83280" y="22677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量产一致性差，故障率高影响口碑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80760" y="1115568"/>
            <a:ext cx="2697480" cy="162763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1115568"/>
            <a:ext cx="269748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2070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监管风险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92440" y="1225296"/>
            <a:ext cx="594360" cy="256032"/>
          </a:xfrm>
          <a:prstGeom prst="rect">
            <a:avLst/>
          </a:prstGeom>
          <a:solidFill>
            <a:srgbClr val="FFD166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12252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 中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72200" y="15361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欧盟 AI Act 对人形机器人安全标准趋严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72200" y="19019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工厂部署需新增安全认证流程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72200" y="22677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数据跨境传输限制影响全球化模型训练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2834640"/>
            <a:ext cx="2697480" cy="162763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2834640"/>
            <a:ext cx="2697480" cy="64008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29260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地缘风险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14600" y="2944368"/>
            <a:ext cx="594360" cy="256032"/>
          </a:xfrm>
          <a:prstGeom prst="rect">
            <a:avLst/>
          </a:prstGeom>
          <a:solidFill>
            <a:srgbClr val="C77DFF">
              <a:alpha val="70000"/>
            </a:srgbClr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14600" y="29443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 中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94360" y="325526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NVIDIA H100/H200 出口管制持续收紧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4360" y="36210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中国供应链面临美国实体清单风险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94360" y="39867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技术人才流动受限（国籍审查趋严）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91840" y="2834640"/>
            <a:ext cx="2697480" cy="162763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91840" y="2834640"/>
            <a:ext cx="2697480" cy="6400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29260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供应链风险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303520" y="2944368"/>
            <a:ext cx="594360" cy="256032"/>
          </a:xfrm>
          <a:prstGeom prst="rect">
            <a:avLst/>
          </a:prstGeom>
          <a:solidFill>
            <a:srgbClr val="90E0EF">
              <a:alpha val="7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29443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 中高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83280" y="325526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谐波减速器 / 行星滚柱丝杠进口依赖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383280" y="36210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高端轴承国产替代进度低于预期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383280" y="39867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关键芯片（TI/ADI）供应波动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80760" y="2834640"/>
            <a:ext cx="2697480" cy="162763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80760" y="2834640"/>
            <a:ext cx="26974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29260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💹 估值风险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092440" y="2944368"/>
            <a:ext cx="594360" cy="256032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92440" y="29443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 高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72200" y="325526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Figure AI 26亿估值远超收入倍数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172200" y="36210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一级市场定价与二级流动性错配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172200" y="39867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赛道整体降温可能拖累估值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Catalysts  关键催化剂与时间节点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H1 密集事件窗口 — 影响行业估值与投资节奏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977640" cy="8686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64008" cy="8686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11704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08760" y="1207008"/>
            <a:ext cx="594360" cy="219456"/>
          </a:xfrm>
          <a:prstGeom prst="rect">
            <a:avLst/>
          </a:prstGeom>
          <a:solidFill>
            <a:srgbClr val="FFD166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20700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0936" y="146304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宇树科技通过港交所上市聆讯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11704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115568"/>
            <a:ext cx="3977640" cy="8686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115568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11704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1207008"/>
            <a:ext cx="594360" cy="219456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20700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91456" y="146304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AI 发布 Figure 02 商业版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35240" y="11704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2084832"/>
            <a:ext cx="3977640" cy="8686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2084832"/>
            <a:ext cx="64008" cy="868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" y="21396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508760" y="2176272"/>
            <a:ext cx="594360" cy="219456"/>
          </a:xfrm>
          <a:prstGeom prst="rect">
            <a:avLst/>
          </a:prstGeom>
          <a:solidFill>
            <a:srgbClr val="06D6A0">
              <a:alpha val="7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21762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落地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0936" y="243230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Optimus 德国工厂部署公告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21396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084832"/>
            <a:ext cx="3977640" cy="8686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084832"/>
            <a:ext cx="64008" cy="86868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21396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2176272"/>
            <a:ext cx="594360" cy="219456"/>
          </a:xfrm>
          <a:prstGeom prst="rect">
            <a:avLst/>
          </a:prstGeom>
          <a:solidFill>
            <a:srgbClr val="90E0EF">
              <a:alpha val="7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21762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91456" y="243230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工信部人形机器人专项政策出台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35240" y="21396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054096"/>
            <a:ext cx="3977640" cy="8686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" y="3054096"/>
            <a:ext cx="64008" cy="86868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" y="31089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508760" y="3145536"/>
            <a:ext cx="594360" cy="219456"/>
          </a:xfrm>
          <a:prstGeom prst="rect">
            <a:avLst/>
          </a:prstGeom>
          <a:solidFill>
            <a:srgbClr val="FF9F1C">
              <a:alpha val="7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08760" y="314553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融资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0936" y="340156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AI / Agility 新一轮融资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74720" y="31089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054096"/>
            <a:ext cx="3977640" cy="8686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3054096"/>
            <a:ext cx="64008" cy="868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91456" y="31089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Q3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0" y="3145536"/>
            <a:ext cx="594360" cy="219456"/>
          </a:xfrm>
          <a:prstGeom prst="rect">
            <a:avLst/>
          </a:prstGeom>
          <a:solidFill>
            <a:srgbClr val="06D6A0">
              <a:alpha val="7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14553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产能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91456" y="340156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H1 产能 7.5 万台/年扩张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635240" y="31089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4023360"/>
            <a:ext cx="3977640" cy="8686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02920" y="4023360"/>
            <a:ext cx="64008" cy="86868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" y="40782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508760" y="4114800"/>
            <a:ext cx="594360" cy="219456"/>
          </a:xfrm>
          <a:prstGeom prst="rect">
            <a:avLst/>
          </a:prstGeom>
          <a:solidFill>
            <a:srgbClr val="C77DFF">
              <a:alpha val="70000"/>
            </a:srgbClr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08760" y="411480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30936" y="43708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Thor 人形机器人 SDK 发布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474720" y="40782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63440" y="4023360"/>
            <a:ext cx="3977640" cy="8686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63440" y="4023360"/>
            <a:ext cx="64008" cy="86868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91456" y="40782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669280" y="4114800"/>
            <a:ext cx="594360" cy="219456"/>
          </a:xfrm>
          <a:prstGeom prst="rect">
            <a:avLst/>
          </a:prstGeom>
          <a:solidFill>
            <a:srgbClr val="90E0EF">
              <a:alpha val="7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69280" y="411480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供应链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791456" y="43708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国产谐波减速器批量通过验证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635240" y="40782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02920" y="4617720"/>
            <a:ext cx="8549640" cy="438912"/>
          </a:xfrm>
          <a:prstGeom prst="rect">
            <a:avLst/>
          </a:prstGeom>
          <a:solidFill>
            <a:srgbClr val="0077A8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40080" y="4645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核心判断：2026 H1 是人形机器人行业最重要的催化剂窗口，宇树 IPO + 政策落地 + 特斯拉部署三重叠加，可能触发板块性行情。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China vs US  中美深度对比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技术路线 / 商业模式 / 资本效率 / 供应链 — 全维度竞争格局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47472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1645920" cy="658368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🇨🇳 中国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331720" y="1115568"/>
            <a:ext cx="457200" cy="6583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115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80360" y="1115568"/>
            <a:ext cx="1097280" cy="65836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111556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🇺🇸 美国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1874520"/>
            <a:ext cx="8549640" cy="35661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1874520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技术路线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20240" y="1874520"/>
            <a:ext cx="3383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快速跟随 + 本地化微创新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49240" y="1965960"/>
            <a:ext cx="18288" cy="173736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1874520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原创性突破 + 平台型生态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258568"/>
            <a:ext cx="8549640" cy="35661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" y="2258568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代表玩家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20240" y="2258568"/>
            <a:ext cx="3383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/ 智元 / 傅利叶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49240" y="2350008"/>
            <a:ext cx="18288" cy="173736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2258568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/ Figure / Agility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2642616"/>
            <a:ext cx="8549640" cy="35661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6928" y="2642616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资本效率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240" y="2642616"/>
            <a:ext cx="3383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¥42亿 IPO / ¥6亿净利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49240" y="2734056"/>
            <a:ext cx="18288" cy="173736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2642616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$26亿估值 / 仍亏损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3026664"/>
            <a:ext cx="8549640" cy="35661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6928" y="3026664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制造优势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0240" y="3026664"/>
            <a:ext cx="3383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供应链完整 / 成本低 50%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49240" y="3118104"/>
            <a:ext cx="18288" cy="173736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3026664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精密制造 / 高端材料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3410712"/>
            <a:ext cx="8549640" cy="35661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6928" y="3410712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数据闭环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20240" y="3410712"/>
            <a:ext cx="3383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追赶中 / 真实场景数据少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49240" y="3502152"/>
            <a:ext cx="18288" cy="173736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3410712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特斯拉车队数据 / 优势明显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3794760"/>
            <a:ext cx="8549640" cy="35661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66928" y="3794760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政策支持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920240" y="3794760"/>
            <a:ext cx="3383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专项政策 + 补贴预期强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349240" y="3886200"/>
            <a:ext cx="18288" cy="173736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3794760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Act + AI Initiative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4178808"/>
            <a:ext cx="8549640" cy="35661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66928" y="4178808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商业化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920240" y="4178808"/>
            <a:ext cx="3383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规模出货第一 / 科研为主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49240" y="4270248"/>
            <a:ext cx="18288" cy="173736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0" y="4178808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愿景驱动 / 工厂落地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2920" y="4562856"/>
            <a:ext cx="8549640" cy="35661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66928" y="4562856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全球化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920240" y="4562856"/>
            <a:ext cx="3383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境外收入 &gt;35%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349240" y="4654296"/>
            <a:ext cx="18288" cy="173736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0" y="4562856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全球品牌影响力更强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Humanoid Robot Index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结论与行动建议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行业评分 7.2/10  |  宇树综合第一 8.9分  |  处于商业化临界点前夜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8549640" cy="768096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72768"/>
            <a:ext cx="73152" cy="7680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700784"/>
            <a:ext cx="402336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16459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格局未定，卡位窗口仍在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19933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真正工业替代客户占比不足 15%，意味着绝大多数市场尚未被任何人占据，先发优势尚未固化。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414016"/>
            <a:ext cx="8549640" cy="768096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414016"/>
            <a:ext cx="73152" cy="76809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2542032"/>
            <a:ext cx="402336" cy="40233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70432" y="248716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数据闭环比技术参数更重要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283464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谁能更快积累真实场景运行数据，谁就掌握了训练下一代模型的主动权——这不是硬件竞赛，是数据竞赛。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55264"/>
            <a:ext cx="8549640" cy="768096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255264"/>
            <a:ext cx="73152" cy="76809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383280"/>
            <a:ext cx="402336" cy="40233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0432" y="33284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中国制造优势被低估，美国算法优势被高估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36758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60.3% 毛利率、5500 台出货量证明了中国制造密度的商业可行性；美国供应链空心化风险正在累积。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096512"/>
            <a:ext cx="8549640" cy="768096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096512"/>
            <a:ext cx="73152" cy="76809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4224528"/>
            <a:ext cx="402336" cy="40233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70432" y="416966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是关键验证年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70432" y="451713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IPO 定价 + 特斯拉工厂部署 + 工信部政策三重催化剂叠加，将重塑行业估值基准和投资逻辑。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Appendix  附录与免责声明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 · 评分方法论 · 评级说明 · 免责声明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840480" cy="219456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38404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07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宇树科技港交所招股书（2026年3月版）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UBTECH 年报（港交所披露）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Agility Robotics SEC 文件（10-K / 8-K）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IDTechEx / FutureMarkets 等第三方研究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工信部、IFR 国际机器人联合会数据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公开新闻与公司官方渠道披露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AMORA 数据库（截至 Q1 2026）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26280" y="1115568"/>
            <a:ext cx="4114800" cy="219456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115568"/>
            <a:ext cx="41148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2070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Score 评分方法论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536192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(Advancement): 专利数 / 算法论文 / 硬件参数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 (Mastery): 核心团队背景 / 融资规模 / 估值倍数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(Operations): 出货量 / 客户数 / 营收规模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 (Reach): 境外收入占比 / 国际合作伙伴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A2 (Assets): 毛利率 / 净利率 / 现金流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综合评分 = 加权平均（各维度 1-10 分）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评分截止日期：2026年3月31日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456432"/>
            <a:ext cx="8138160" cy="1115568"/>
          </a:xfrm>
          <a:prstGeom prst="rect">
            <a:avLst/>
          </a:prstGeom>
          <a:solidFill>
            <a:srgbClr val="16213E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456432"/>
            <a:ext cx="8138160" cy="5486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478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免责声明 / Disclaimer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本报告由 AMORA Insights 编制，仅供机构投资者参考，不构成任何投资建议。所有数据来源于公开渠道，AMORA 对数据准确性不作保证。评分为主观判断，存在固有偏差风险。投资人形机器人行业涉及技术、商业化、监管等多重不确定性，请咨询持牌投资顾问。AMORA Insights 及关联公司可能持有报告中提及标的的多头或空头头寸。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4645152"/>
            <a:ext cx="813816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468172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www.amorainsights.com  |  research@amorainsights.com  |  Data Cut-off: Q1 2026  |  Copyright © 2026 AMORA Insights Ltd.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Humanoid Robot Index 2026</dc:title>
  <dc:subject>Global humanoid robot industry benchmarking - Expanded 22 Slides</dc:subject>
  <dc:creator>AMORA Insights</dc:creator>
  <cp:lastModifiedBy>AMORA Insights</cp:lastModifiedBy>
  <cp:revision>1</cp:revision>
  <dcterms:created xsi:type="dcterms:W3CDTF">2026-04-04T08:53:51Z</dcterms:created>
  <dcterms:modified xsi:type="dcterms:W3CDTF">2026-04-04T08:53:51Z</dcterms:modified>
</cp:coreProperties>
</file>